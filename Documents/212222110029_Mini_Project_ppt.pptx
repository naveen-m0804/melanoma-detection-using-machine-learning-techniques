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74" r:id="rId12"/>
    <p:sldId id="275" r:id="rId13"/>
    <p:sldId id="268" r:id="rId14"/>
    <p:sldId id="276" r:id="rId15"/>
    <p:sldId id="277" r:id="rId16"/>
    <p:sldId id="269" r:id="rId17"/>
    <p:sldId id="270" r:id="rId18"/>
    <p:sldId id="271" r:id="rId19"/>
    <p:sldId id="278" r:id="rId20"/>
    <p:sldId id="279" r:id="rId21"/>
  </p:sldIdLst>
  <p:sldSz cx="9144000" cy="6858000" type="screen4x3"/>
  <p:notesSz cx="6858000" cy="9144000"/>
  <p:embeddedFontLst>
    <p:embeddedFont>
      <p:font typeface="Roboto" panose="020000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MT2rj/4hf2rv55f9XzY/sysSSr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832B3E-6A81-40BD-ACD6-6F8FEF9B99D7}">
  <a:tblStyle styleId="{54832B3E-6A81-40BD-ACD6-6F8FEF9B99D7}"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E7912C61-ADF2-4F9C-BAB7-19EDA43E3A94}" styleName="Table_1">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1594" y="-1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
        <p:nvSpPr>
          <p:cNvPr id="91" name="Google Shape;91;p1:notes"/>
          <p:cNvSpPr>
            <a:spLocks noGrp="1" noRot="1" noChangeAspect="1"/>
          </p:cNvSpPr>
          <p:nvPr>
            <p:ph type="sldImg" idx="2"/>
          </p:nvPr>
        </p:nvSpPr>
        <p:spPr>
          <a:xfrm>
            <a:off x="1168400" y="708025"/>
            <a:ext cx="4535488" cy="34020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 name="Google Shape;92;p1:notes"/>
          <p:cNvSpPr txBox="1">
            <a:spLocks noGrp="1"/>
          </p:cNvSpPr>
          <p:nvPr>
            <p:ph type="body" idx="1"/>
          </p:nvPr>
        </p:nvSpPr>
        <p:spPr>
          <a:xfrm>
            <a:off x="915294" y="4343703"/>
            <a:ext cx="5027414" cy="4098773"/>
          </a:xfrm>
          <a:prstGeom prst="rect">
            <a:avLst/>
          </a:prstGeom>
          <a:noFill/>
          <a:ln>
            <a:noFill/>
          </a:ln>
        </p:spPr>
        <p:txBody>
          <a:bodyPr spcFirstLastPara="1" wrap="square" lIns="89675" tIns="44825" rIns="89675" bIns="44825" anchor="t" anchorCtr="0">
            <a:noAutofit/>
          </a:bodyPr>
          <a:lstStyle/>
          <a:p>
            <a:pPr marL="0" lvl="0" indent="0" algn="l" rtl="0">
              <a:lnSpc>
                <a:spcPct val="100000"/>
              </a:lnSpc>
              <a:spcBef>
                <a:spcPts val="0"/>
              </a:spcBef>
              <a:spcAft>
                <a:spcPts val="0"/>
              </a:spcAft>
              <a:buSzPts val="1400"/>
              <a:buNone/>
            </a:pPr>
            <a:endParaRPr>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 name="Google Shape;124;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 name="Google Shape;13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8" name="Google Shape;14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8" name="Google Shape;14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93954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8" name="Google Shape;148;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389457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085dcfb5c9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g3085dcfb5c9_0_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15"/>
        <p:cNvGrpSpPr/>
        <p:nvPr/>
      </p:nvGrpSpPr>
      <p:grpSpPr>
        <a:xfrm>
          <a:off x="0" y="0"/>
          <a:ext cx="0" cy="0"/>
          <a:chOff x="0" y="0"/>
          <a:chExt cx="0" cy="0"/>
        </a:xfrm>
      </p:grpSpPr>
      <p:sp>
        <p:nvSpPr>
          <p:cNvPr id="16" name="Google Shape;16;p20"/>
          <p:cNvSpPr txBox="1"/>
          <p:nvPr/>
        </p:nvSpPr>
        <p:spPr>
          <a:xfrm>
            <a:off x="1371600" y="6687979"/>
            <a:ext cx="5984875" cy="2462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SEC-  DEPARTMENT OF CSE-</a:t>
            </a:r>
            <a:r>
              <a:rPr lang="en-US" sz="1000">
                <a:solidFill>
                  <a:schemeClr val="dk1"/>
                </a:solidFill>
                <a:latin typeface="Calibri"/>
                <a:ea typeface="Calibri"/>
                <a:cs typeface="Calibri"/>
                <a:sym typeface="Calibri"/>
              </a:rPr>
              <a:t>IOT</a:t>
            </a:r>
            <a:r>
              <a:rPr lang="en-US" sz="1000" b="0" i="0" u="none" strike="noStrike" cap="none">
                <a:solidFill>
                  <a:schemeClr val="dk1"/>
                </a:solidFill>
                <a:latin typeface="Calibri"/>
                <a:ea typeface="Calibri"/>
                <a:cs typeface="Calibri"/>
                <a:sym typeface="Calibri"/>
              </a:rPr>
              <a:t>–  3- 1 – MINIPROJECT– slide# -</a:t>
            </a:r>
            <a:fld id="{00000000-1234-1234-1234-123412341234}" type="slidenum">
              <a:rPr lang="en-US" sz="1000" b="0" i="0" u="none" strike="noStrike" cap="none">
                <a:solidFill>
                  <a:schemeClr val="dk1"/>
                </a:solidFill>
                <a:latin typeface="Calibri"/>
                <a:ea typeface="Calibri"/>
                <a:cs typeface="Calibri"/>
                <a:sym typeface="Calibri"/>
              </a:rPr>
              <a:t>‹#›</a:t>
            </a:fld>
            <a:endParaRPr sz="1000" b="0" i="0" u="none" strike="noStrike" cap="none">
              <a:solidFill>
                <a:schemeClr val="dk1"/>
              </a:solidFill>
              <a:latin typeface="Calibri"/>
              <a:ea typeface="Calibri"/>
              <a:cs typeface="Calibri"/>
              <a:sym typeface="Calibri"/>
            </a:endParaRPr>
          </a:p>
        </p:txBody>
      </p:sp>
      <p:sp>
        <p:nvSpPr>
          <p:cNvPr id="17" name="Google Shape;17;p20"/>
          <p:cNvSpPr txBox="1"/>
          <p:nvPr/>
        </p:nvSpPr>
        <p:spPr>
          <a:xfrm>
            <a:off x="457200" y="274638"/>
            <a:ext cx="8229600" cy="584200"/>
          </a:xfrm>
          <a:prstGeom prst="rect">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3200"/>
              <a:buFont typeface="Calibri"/>
              <a:buNone/>
            </a:pPr>
            <a:endParaRPr sz="3200" b="0" i="0" u="none" strike="noStrike" cap="none">
              <a:solidFill>
                <a:schemeClr val="dk1"/>
              </a:solidFill>
              <a:latin typeface="Calibri"/>
              <a:ea typeface="Calibri"/>
              <a:cs typeface="Calibri"/>
              <a:sym typeface="Calibri"/>
            </a:endParaRPr>
          </a:p>
        </p:txBody>
      </p:sp>
      <p:sp>
        <p:nvSpPr>
          <p:cNvPr id="18" name="Google Shape;18;p20"/>
          <p:cNvSpPr txBox="1"/>
          <p:nvPr/>
        </p:nvSpPr>
        <p:spPr>
          <a:xfrm>
            <a:off x="537725" y="978263"/>
            <a:ext cx="8229600" cy="54024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2800"/>
              <a:buFont typeface="Arial"/>
              <a:buNone/>
            </a:pPr>
            <a:endParaRPr sz="2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3200"/>
              <a:buFont typeface="Arial"/>
              <a:buNone/>
            </a:pPr>
            <a:endParaRPr sz="3200" b="0" i="0" u="none" strike="noStrike" cap="none">
              <a:solidFill>
                <a:schemeClr val="dk1"/>
              </a:solidFill>
              <a:latin typeface="Calibri"/>
              <a:ea typeface="Calibri"/>
              <a:cs typeface="Calibri"/>
              <a:sym typeface="Calibri"/>
            </a:endParaRPr>
          </a:p>
        </p:txBody>
      </p:sp>
      <p:pic>
        <p:nvPicPr>
          <p:cNvPr id="19" name="Google Shape;19;p20" descr="C:\Users\ELCOT\Desktop\Saveetha Logo.png"/>
          <p:cNvPicPr preferRelativeResize="0"/>
          <p:nvPr/>
        </p:nvPicPr>
        <p:blipFill rotWithShape="1">
          <a:blip r:embed="rId2">
            <a:alphaModFix/>
          </a:blip>
          <a:srcRect r="26618" b="28149"/>
          <a:stretch/>
        </p:blipFill>
        <p:spPr>
          <a:xfrm>
            <a:off x="6588225" y="2899"/>
            <a:ext cx="2570075" cy="2717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0"/>
        <p:cNvGrpSpPr/>
        <p:nvPr/>
      </p:nvGrpSpPr>
      <p:grpSpPr>
        <a:xfrm>
          <a:off x="0" y="0"/>
          <a:ext cx="0" cy="0"/>
          <a:chOff x="0" y="0"/>
          <a:chExt cx="0" cy="0"/>
        </a:xfrm>
      </p:grpSpPr>
      <p:sp>
        <p:nvSpPr>
          <p:cNvPr id="21" name="Google Shape;21;p2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3" name="Google Shape;23;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9" name="Google Shape;29;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2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2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5" name="Google Shape;35;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1" name="Google Shape;41;p2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42" name="Google Shape;42;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8" name="Google Shape;48;p2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9" name="Google Shape;49;p2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50" name="Google Shape;50;p2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1" name="Google Shape;51;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2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6" name="Google Shape;66;p2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7" name="Google Shape;67;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2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9"/>
          <p:cNvSpPr>
            <a:spLocks noGrp="1"/>
          </p:cNvSpPr>
          <p:nvPr>
            <p:ph type="pic" idx="2"/>
          </p:nvPr>
        </p:nvSpPr>
        <p:spPr>
          <a:xfrm>
            <a:off x="1792288" y="612775"/>
            <a:ext cx="5486400" cy="4114800"/>
          </a:xfrm>
          <a:prstGeom prst="rect">
            <a:avLst/>
          </a:prstGeom>
          <a:noFill/>
          <a:ln>
            <a:noFill/>
          </a:ln>
        </p:spPr>
      </p:sp>
      <p:sp>
        <p:nvSpPr>
          <p:cNvPr id="73" name="Google Shape;73;p2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74" name="Google Shape;74;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3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0" name="Google Shape;80;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3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6" name="Google Shape;86;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en.wikipedia.org/wiki/Melanoma"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
          <p:cNvSpPr txBox="1"/>
          <p:nvPr/>
        </p:nvSpPr>
        <p:spPr>
          <a:xfrm>
            <a:off x="457200" y="274638"/>
            <a:ext cx="8229600" cy="639762"/>
          </a:xfrm>
          <a:prstGeom prst="rect">
            <a:avLst/>
          </a:prstGeom>
          <a:noFill/>
          <a:ln>
            <a:noFill/>
          </a:ln>
        </p:spPr>
        <p:txBody>
          <a:bodyPr spcFirstLastPara="1" wrap="square" lIns="91425" tIns="45700" rIns="91425" bIns="45700"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4400" b="0" i="0" u="none" strike="noStrike" cap="none">
                <a:solidFill>
                  <a:schemeClr val="dk1"/>
                </a:solidFill>
                <a:latin typeface="Calibri"/>
                <a:ea typeface="Calibri"/>
                <a:cs typeface="Calibri"/>
                <a:sym typeface="Calibri"/>
              </a:rPr>
              <a:t>Mini Project (19AI701) – Review 1</a:t>
            </a:r>
            <a:endParaRPr sz="4400" b="0" i="0" u="none" strike="noStrike" cap="none">
              <a:solidFill>
                <a:schemeClr val="dk1"/>
              </a:solidFill>
              <a:latin typeface="Calibri"/>
              <a:ea typeface="Calibri"/>
              <a:cs typeface="Calibri"/>
              <a:sym typeface="Calibri"/>
            </a:endParaRPr>
          </a:p>
        </p:txBody>
      </p:sp>
      <p:sp>
        <p:nvSpPr>
          <p:cNvPr id="95" name="Google Shape;95;p1"/>
          <p:cNvSpPr txBox="1"/>
          <p:nvPr/>
        </p:nvSpPr>
        <p:spPr>
          <a:xfrm>
            <a:off x="266700" y="800100"/>
            <a:ext cx="8610600" cy="44958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None/>
            </a:pPr>
            <a:r>
              <a:rPr lang="en-US" sz="2600" b="1" i="0" u="sng" strike="noStrike" cap="none" dirty="0">
                <a:solidFill>
                  <a:schemeClr val="dk1"/>
                </a:solidFill>
                <a:latin typeface="Calibri"/>
                <a:ea typeface="Calibri"/>
                <a:cs typeface="Calibri"/>
                <a:sym typeface="Calibri"/>
              </a:rPr>
              <a:t>Melanoma Detection Using Machine Learning Techniques</a:t>
            </a:r>
            <a:br>
              <a:rPr lang="en-US" sz="3000" b="0" i="0" u="none" strike="noStrike" cap="none" dirty="0">
                <a:solidFill>
                  <a:srgbClr val="538CD5"/>
                </a:solidFill>
                <a:latin typeface="Calibri"/>
                <a:ea typeface="Calibri"/>
                <a:cs typeface="Calibri"/>
                <a:sym typeface="Calibri"/>
              </a:rPr>
            </a:br>
            <a:endParaRPr lang="en-US" sz="2800" b="1" i="0" u="none" strike="noStrike" cap="none"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2800" b="1" i="0" u="none" strike="noStrike" cap="none" dirty="0">
                <a:solidFill>
                  <a:schemeClr val="dk1"/>
                </a:solidFill>
                <a:latin typeface="Calibri"/>
                <a:ea typeface="Calibri"/>
                <a:cs typeface="Calibri"/>
                <a:sym typeface="Calibri"/>
              </a:rPr>
              <a:t>Submitted by:</a:t>
            </a:r>
            <a:endParaRPr lang="en-US" sz="2800" b="0" i="0" u="none" strike="noStrike" cap="none"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2800" b="1" i="0" u="none" strike="noStrike" cap="none" dirty="0">
                <a:solidFill>
                  <a:schemeClr val="dk1"/>
                </a:solidFill>
                <a:latin typeface="Calibri"/>
                <a:ea typeface="Calibri"/>
                <a:cs typeface="Calibri"/>
                <a:sym typeface="Calibri"/>
              </a:rPr>
              <a:t>NAVEEN M (212222110029)</a:t>
            </a:r>
            <a:endParaRPr lang="en-US" sz="2800" b="0" i="0" u="none" strike="noStrike" cap="none"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2800" b="0" i="0" u="none" strike="noStrike" cap="none" dirty="0">
                <a:solidFill>
                  <a:schemeClr val="dk1"/>
                </a:solidFill>
                <a:latin typeface="Calibri"/>
                <a:ea typeface="Calibri"/>
                <a:cs typeface="Calibri"/>
                <a:sym typeface="Calibri"/>
              </a:rPr>
              <a:t>2022-2026 Batch</a:t>
            </a:r>
          </a:p>
          <a:p>
            <a:pPr marL="0" marR="0" lvl="0" indent="0" algn="ctr" rtl="0">
              <a:spcBef>
                <a:spcPts val="0"/>
              </a:spcBef>
              <a:spcAft>
                <a:spcPts val="0"/>
              </a:spcAft>
              <a:buNone/>
            </a:pPr>
            <a:r>
              <a:rPr lang="en-US" sz="2800" b="0" i="0" u="none" strike="noStrike" cap="none" dirty="0">
                <a:solidFill>
                  <a:schemeClr val="dk1"/>
                </a:solidFill>
                <a:latin typeface="Calibri"/>
                <a:ea typeface="Calibri"/>
                <a:cs typeface="Calibri"/>
                <a:sym typeface="Calibri"/>
              </a:rPr>
              <a:t> TEAM NO: 152</a:t>
            </a:r>
            <a:endParaRPr lang="en-US" dirty="0"/>
          </a:p>
          <a:p>
            <a:pPr marL="0" marR="0" lvl="0" indent="0" algn="ctr" rtl="0">
              <a:spcBef>
                <a:spcPts val="0"/>
              </a:spcBef>
              <a:spcAft>
                <a:spcPts val="0"/>
              </a:spcAft>
              <a:buNone/>
            </a:pPr>
            <a:r>
              <a:rPr lang="en-US" sz="2800" b="1" i="0" u="none" strike="noStrike" cap="none" dirty="0">
                <a:solidFill>
                  <a:schemeClr val="dk1"/>
                </a:solidFill>
                <a:latin typeface="Calibri"/>
                <a:ea typeface="Calibri"/>
                <a:cs typeface="Calibri"/>
                <a:sym typeface="Calibri"/>
              </a:rPr>
              <a:t>Under the guidance of:</a:t>
            </a:r>
            <a:endParaRPr lang="en-US" sz="2800" b="0" i="0" u="none" strike="noStrike" cap="none" dirty="0">
              <a:solidFill>
                <a:schemeClr val="dk1"/>
              </a:solidFill>
              <a:latin typeface="Calibri"/>
              <a:ea typeface="Calibri"/>
              <a:cs typeface="Calibri"/>
              <a:sym typeface="Calibri"/>
            </a:endParaRPr>
          </a:p>
          <a:p>
            <a:pPr marL="0" marR="0" lvl="0" indent="0" algn="ctr" rtl="0">
              <a:spcBef>
                <a:spcPts val="0"/>
              </a:spcBef>
              <a:spcAft>
                <a:spcPts val="0"/>
              </a:spcAft>
              <a:buNone/>
            </a:pPr>
            <a:r>
              <a:rPr lang="en-US" sz="2800" b="1" i="0" u="none" strike="noStrike" cap="none" dirty="0">
                <a:solidFill>
                  <a:schemeClr val="dk1"/>
                </a:solidFill>
                <a:latin typeface="Calibri"/>
                <a:ea typeface="Calibri"/>
                <a:cs typeface="Calibri"/>
                <a:sym typeface="Calibri"/>
              </a:rPr>
              <a:t> </a:t>
            </a:r>
            <a:r>
              <a:rPr lang="en-US" sz="2800" b="1" i="0" u="none" strike="noStrike" cap="none" dirty="0" err="1">
                <a:solidFill>
                  <a:schemeClr val="dk1"/>
                </a:solidFill>
                <a:latin typeface="Calibri"/>
                <a:ea typeface="Calibri"/>
                <a:cs typeface="Calibri"/>
                <a:sym typeface="Calibri"/>
              </a:rPr>
              <a:t>Dr.S.SELLAKUMAR</a:t>
            </a:r>
            <a:endParaRPr lang="en-US" sz="2800" b="0" i="0" u="none" strike="noStrike" cap="none" dirty="0">
              <a:solidFill>
                <a:schemeClr val="dk1"/>
              </a:solidFill>
              <a:latin typeface="Calibri"/>
              <a:ea typeface="Calibri"/>
              <a:cs typeface="Calibri"/>
              <a:sym typeface="Calibri"/>
            </a:endParaRPr>
          </a:p>
          <a:p>
            <a:pPr marL="742950" marR="0" lvl="1" indent="-134619" algn="ctr" rtl="0">
              <a:lnSpc>
                <a:spcPct val="100000"/>
              </a:lnSpc>
              <a:spcBef>
                <a:spcPts val="476"/>
              </a:spcBef>
              <a:spcAft>
                <a:spcPts val="0"/>
              </a:spcAft>
              <a:buClr>
                <a:schemeClr val="dk1"/>
              </a:buClr>
              <a:buSzPct val="100000"/>
              <a:buFont typeface="Arial"/>
              <a:buNone/>
            </a:pPr>
            <a:r>
              <a:rPr lang="en-US" sz="2800" b="0" i="0" u="none" strike="noStrike" cap="none" dirty="0">
                <a:solidFill>
                  <a:schemeClr val="dk1"/>
                </a:solidFill>
                <a:latin typeface="Calibri"/>
                <a:ea typeface="Calibri"/>
                <a:cs typeface="Calibri"/>
                <a:sym typeface="Calibri"/>
              </a:rPr>
              <a:t>Assistant </a:t>
            </a:r>
            <a:r>
              <a:rPr lang="en-US" sz="2800" b="0" i="0" u="none" strike="noStrike" cap="none" dirty="0" err="1">
                <a:solidFill>
                  <a:schemeClr val="dk1"/>
                </a:solidFill>
                <a:latin typeface="Calibri"/>
                <a:ea typeface="Calibri"/>
                <a:cs typeface="Calibri"/>
                <a:sym typeface="Calibri"/>
              </a:rPr>
              <a:t>ProfessorDepartment</a:t>
            </a:r>
            <a:r>
              <a:rPr lang="en-US" sz="2800" b="0" i="0" u="none" strike="noStrike" cap="none" dirty="0">
                <a:solidFill>
                  <a:schemeClr val="dk1"/>
                </a:solidFill>
                <a:latin typeface="Calibri"/>
                <a:ea typeface="Calibri"/>
                <a:cs typeface="Calibri"/>
                <a:sym typeface="Calibri"/>
              </a:rPr>
              <a:t> of Mechanical Engineering (SCOFT)</a:t>
            </a:r>
          </a:p>
        </p:txBody>
      </p:sp>
      <p:sp>
        <p:nvSpPr>
          <p:cNvPr id="96" name="Google Shape;96;p1"/>
          <p:cNvSpPr txBox="1"/>
          <p:nvPr/>
        </p:nvSpPr>
        <p:spPr>
          <a:xfrm>
            <a:off x="-304800" y="5486400"/>
            <a:ext cx="9829800" cy="1295400"/>
          </a:xfrm>
          <a:prstGeom prst="rect">
            <a:avLst/>
          </a:prstGeom>
          <a:noFill/>
          <a:ln>
            <a:noFill/>
          </a:ln>
        </p:spPr>
        <p:txBody>
          <a:bodyPr spcFirstLastPara="1" wrap="square" lIns="91425" tIns="45700" rIns="91425" bIns="45700" anchor="t" anchorCtr="0">
            <a:normAutofit fontScale="475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ct val="100000"/>
              <a:buFont typeface="Arial"/>
              <a:buNone/>
            </a:pPr>
            <a:r>
              <a:rPr lang="en-US" sz="24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ct val="100000"/>
              <a:buFont typeface="Arial"/>
              <a:buNone/>
            </a:pPr>
            <a:r>
              <a:rPr lang="en-US" sz="2400" b="1" i="0" u="none" strike="noStrike" cap="none">
                <a:solidFill>
                  <a:schemeClr val="dk1"/>
                </a:solidFill>
                <a:latin typeface="Calibri"/>
                <a:ea typeface="Calibri"/>
                <a:cs typeface="Calibri"/>
                <a:sym typeface="Calibri"/>
              </a:rPr>
              <a:t>  </a:t>
            </a:r>
            <a:r>
              <a:rPr lang="en-US" sz="3500" b="1" i="0" u="none" strike="noStrike" cap="none">
                <a:solidFill>
                  <a:schemeClr val="dk1"/>
                </a:solidFill>
                <a:latin typeface="Calibri"/>
                <a:ea typeface="Calibri"/>
                <a:cs typeface="Calibri"/>
                <a:sym typeface="Calibri"/>
              </a:rPr>
              <a:t>DEPARTMENT OF COMPUTER SCIENCE AND ENGINEERING - </a:t>
            </a:r>
            <a:r>
              <a:rPr lang="en-US" sz="3500" b="1">
                <a:solidFill>
                  <a:schemeClr val="dk1"/>
                </a:solidFill>
                <a:latin typeface="Calibri"/>
                <a:ea typeface="Calibri"/>
                <a:cs typeface="Calibri"/>
                <a:sym typeface="Calibri"/>
              </a:rPr>
              <a:t>IOT</a:t>
            </a:r>
            <a:endParaRPr sz="35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ct val="100000"/>
              <a:buFont typeface="Arial"/>
              <a:buNone/>
            </a:pPr>
            <a:r>
              <a:rPr lang="en-US" sz="2400" b="1" i="0" u="none" strike="noStrike" cap="none">
                <a:solidFill>
                  <a:schemeClr val="dk1"/>
                </a:solidFill>
                <a:latin typeface="Calibri"/>
                <a:ea typeface="Calibri"/>
                <a:cs typeface="Calibri"/>
                <a:sym typeface="Calibri"/>
              </a:rPr>
              <a:t>  </a:t>
            </a:r>
            <a:r>
              <a:rPr lang="en-US" sz="5100" b="1" i="0" u="none" strike="noStrike" cap="none">
                <a:solidFill>
                  <a:schemeClr val="dk1"/>
                </a:solidFill>
                <a:latin typeface="Calibri"/>
                <a:ea typeface="Calibri"/>
                <a:cs typeface="Calibri"/>
                <a:sym typeface="Calibri"/>
              </a:rPr>
              <a:t>SAVEETHA ENGINEERING COLLEGE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ct val="100000"/>
              <a:buFont typeface="Arial"/>
              <a:buNone/>
            </a:pPr>
            <a:r>
              <a:rPr lang="en-US" sz="2400" b="1" i="0" u="none" strike="noStrike" cap="none">
                <a:solidFill>
                  <a:schemeClr val="dk1"/>
                </a:solidFill>
                <a:latin typeface="Calibri"/>
                <a:ea typeface="Calibri"/>
                <a:cs typeface="Calibri"/>
                <a:sym typeface="Calibri"/>
              </a:rPr>
              <a:t>(Autonomous Institution – UGC, Govt. of India)</a:t>
            </a:r>
            <a:endParaRPr sz="2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ct val="100000"/>
              <a:buFont typeface="Arial"/>
              <a:buNone/>
            </a:pPr>
            <a:r>
              <a:rPr lang="en-US" sz="2400" b="0" i="0" u="none" strike="noStrike" cap="none">
                <a:solidFill>
                  <a:schemeClr val="dk1"/>
                </a:solidFill>
                <a:latin typeface="Calibri"/>
                <a:ea typeface="Calibri"/>
                <a:cs typeface="Calibri"/>
                <a:sym typeface="Calibri"/>
              </a:rPr>
              <a:t> (Affiliated to Anna University, Approved by AICTE - Accredited by NBA &amp; NAAC – ‘A’ Grade - ISO 9001:2015 Certified)</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ct val="100000"/>
              <a:buFont typeface="Arial"/>
              <a:buNone/>
            </a:pPr>
            <a:r>
              <a:rPr lang="en-US" sz="2400" b="0" i="0" u="none" strike="noStrike" cap="none">
                <a:solidFill>
                  <a:schemeClr val="dk1"/>
                </a:solidFill>
                <a:latin typeface="Calibri"/>
                <a:ea typeface="Calibri"/>
                <a:cs typeface="Calibri"/>
                <a:sym typeface="Calibri"/>
              </a:rPr>
              <a:t>Saveetha Nagar, Thandalam, Chennai-602 105, TamilNadu, INDIA.</a:t>
            </a:r>
            <a:endParaRPr sz="2800" b="0" i="0" u="none" strike="noStrike" cap="none">
              <a:solidFill>
                <a:schemeClr val="dk1"/>
              </a:solidFill>
              <a:latin typeface="Calibri"/>
              <a:ea typeface="Calibri"/>
              <a:cs typeface="Calibri"/>
              <a:sym typeface="Calibri"/>
            </a:endParaRPr>
          </a:p>
          <a:p>
            <a:pPr marL="742950" marR="0" lvl="1" indent="-201294" algn="l" rtl="0">
              <a:lnSpc>
                <a:spcPct val="100000"/>
              </a:lnSpc>
              <a:spcBef>
                <a:spcPts val="266"/>
              </a:spcBef>
              <a:spcAft>
                <a:spcPts val="0"/>
              </a:spcAft>
              <a:buClr>
                <a:schemeClr val="dk1"/>
              </a:buClr>
              <a:buSzPct val="100000"/>
              <a:buFont typeface="Arial"/>
              <a:buNone/>
            </a:pPr>
            <a:endParaRPr sz="2800" b="0" i="0" u="none" strike="noStrike" cap="none">
              <a:solidFill>
                <a:schemeClr val="dk1"/>
              </a:solidFill>
              <a:latin typeface="Calibri"/>
              <a:ea typeface="Calibri"/>
              <a:cs typeface="Calibri"/>
              <a:sym typeface="Calibri"/>
            </a:endParaRPr>
          </a:p>
        </p:txBody>
      </p:sp>
      <p:pic>
        <p:nvPicPr>
          <p:cNvPr id="97" name="Google Shape;97;p1"/>
          <p:cNvPicPr preferRelativeResize="0"/>
          <p:nvPr/>
        </p:nvPicPr>
        <p:blipFill rotWithShape="1">
          <a:blip r:embed="rId3">
            <a:alphaModFix/>
          </a:blip>
          <a:srcRect/>
          <a:stretch/>
        </p:blipFill>
        <p:spPr>
          <a:xfrm>
            <a:off x="4191000" y="5105400"/>
            <a:ext cx="685800" cy="666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Agenda</a:t>
            </a:r>
            <a:endParaRPr/>
          </a:p>
        </p:txBody>
      </p:sp>
      <p:sp>
        <p:nvSpPr>
          <p:cNvPr id="103" name="Google Shape;103;p2"/>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92500" lnSpcReduction="10000"/>
          </a:bodyPr>
          <a:lstStyle/>
          <a:p>
            <a:pPr marL="514350" lvl="0" indent="-468630" algn="l" rtl="0">
              <a:spcBef>
                <a:spcPts val="0"/>
              </a:spcBef>
              <a:spcAft>
                <a:spcPts val="0"/>
              </a:spcAft>
              <a:buClr>
                <a:schemeClr val="dk1"/>
              </a:buClr>
              <a:buSzPct val="100000"/>
              <a:buFont typeface="Calibri"/>
              <a:buAutoNum type="arabicPeriod"/>
            </a:pPr>
            <a:r>
              <a:rPr lang="en-US" dirty="0"/>
              <a:t>Introduction</a:t>
            </a:r>
          </a:p>
          <a:p>
            <a:pPr marL="514350" lvl="0" indent="-468630" algn="l" rtl="0">
              <a:spcBef>
                <a:spcPts val="640"/>
              </a:spcBef>
              <a:spcAft>
                <a:spcPts val="0"/>
              </a:spcAft>
              <a:buClr>
                <a:schemeClr val="dk1"/>
              </a:buClr>
              <a:buSzPct val="100000"/>
              <a:buFont typeface="Calibri"/>
              <a:buAutoNum type="arabicPeriod"/>
            </a:pPr>
            <a:r>
              <a:rPr lang="en-US" dirty="0"/>
              <a:t>Statement of the Problem</a:t>
            </a:r>
          </a:p>
          <a:p>
            <a:pPr marL="514350" lvl="0" indent="-468630" algn="l" rtl="0">
              <a:spcBef>
                <a:spcPts val="640"/>
              </a:spcBef>
              <a:spcAft>
                <a:spcPts val="0"/>
              </a:spcAft>
              <a:buClr>
                <a:schemeClr val="dk1"/>
              </a:buClr>
              <a:buSzPct val="100000"/>
              <a:buFont typeface="Calibri"/>
              <a:buAutoNum type="arabicPeriod"/>
            </a:pPr>
            <a:r>
              <a:rPr lang="en-US" dirty="0"/>
              <a:t>Purpose of your project</a:t>
            </a:r>
          </a:p>
          <a:p>
            <a:pPr marL="628650" lvl="0" indent="-525780" algn="l" rtl="0">
              <a:spcBef>
                <a:spcPts val="640"/>
              </a:spcBef>
              <a:spcAft>
                <a:spcPts val="0"/>
              </a:spcAft>
              <a:buClr>
                <a:schemeClr val="dk1"/>
              </a:buClr>
              <a:buSzPct val="100000"/>
              <a:buFont typeface="Calibri"/>
              <a:buAutoNum type="arabicPeriod"/>
            </a:pPr>
            <a:r>
              <a:rPr lang="en-US" dirty="0"/>
              <a:t>Proposed Methodology </a:t>
            </a:r>
          </a:p>
          <a:p>
            <a:pPr marL="628650" lvl="0" indent="-525780" algn="l" rtl="0">
              <a:spcBef>
                <a:spcPts val="640"/>
              </a:spcBef>
              <a:spcAft>
                <a:spcPts val="0"/>
              </a:spcAft>
              <a:buClr>
                <a:schemeClr val="dk1"/>
              </a:buClr>
              <a:buSzPct val="100000"/>
              <a:buFont typeface="Calibri"/>
              <a:buAutoNum type="arabicPeriod"/>
            </a:pPr>
            <a:r>
              <a:rPr lang="en-US" dirty="0"/>
              <a:t>Expected results and its Implications</a:t>
            </a:r>
          </a:p>
          <a:p>
            <a:pPr marL="628650" lvl="0" indent="-525780" algn="l" rtl="0">
              <a:spcBef>
                <a:spcPts val="640"/>
              </a:spcBef>
              <a:spcAft>
                <a:spcPts val="0"/>
              </a:spcAft>
              <a:buSzPct val="100000"/>
              <a:buAutoNum type="arabicPeriod"/>
            </a:pPr>
            <a:r>
              <a:rPr lang="en-US" dirty="0"/>
              <a:t>Literature review</a:t>
            </a:r>
          </a:p>
          <a:p>
            <a:pPr marL="742950" lvl="1" indent="-245744" algn="l" rtl="0">
              <a:spcBef>
                <a:spcPts val="640"/>
              </a:spcBef>
              <a:spcAft>
                <a:spcPts val="0"/>
              </a:spcAft>
              <a:buSzPct val="100000"/>
              <a:buAutoNum type="romanLcPeriod"/>
            </a:pPr>
            <a:r>
              <a:rPr lang="en-US" dirty="0"/>
              <a:t>Summary and Outcome</a:t>
            </a:r>
          </a:p>
          <a:p>
            <a:pPr marL="342900" lvl="0" indent="-297180" algn="l" rtl="0">
              <a:spcBef>
                <a:spcPts val="640"/>
              </a:spcBef>
              <a:spcAft>
                <a:spcPts val="0"/>
              </a:spcAft>
              <a:buSzPct val="100000"/>
              <a:buAutoNum type="arabicPeriod"/>
            </a:pPr>
            <a:r>
              <a:rPr lang="en-US" dirty="0"/>
              <a:t>  Project Plan</a:t>
            </a:r>
          </a:p>
          <a:p>
            <a:pPr marL="342900" lvl="0" indent="-297180" algn="l" rtl="0">
              <a:spcBef>
                <a:spcPts val="640"/>
              </a:spcBef>
              <a:spcAft>
                <a:spcPts val="0"/>
              </a:spcAft>
              <a:buSzPct val="100000"/>
              <a:buAutoNum type="arabicPeriod"/>
            </a:pPr>
            <a:r>
              <a:rPr lang="en-US" dirty="0"/>
              <a:t>  Conclusion</a:t>
            </a:r>
          </a:p>
          <a:p>
            <a:pPr marL="514350" lvl="0" indent="-468630" algn="l" rtl="0">
              <a:spcBef>
                <a:spcPts val="640"/>
              </a:spcBef>
              <a:spcAft>
                <a:spcPts val="0"/>
              </a:spcAft>
              <a:buClr>
                <a:schemeClr val="dk1"/>
              </a:buClr>
              <a:buSzPct val="100000"/>
              <a:buFont typeface="Calibri"/>
              <a:buAutoNum type="arabicPeriod"/>
            </a:pPr>
            <a:r>
              <a:rPr lang="en-US" dirty="0"/>
              <a:t>References</a:t>
            </a:r>
          </a:p>
          <a:p>
            <a:pPr marL="342900" lvl="0" indent="-342900" algn="l" rtl="0">
              <a:spcBef>
                <a:spcPts val="640"/>
              </a:spcBef>
              <a:spcAft>
                <a:spcPts val="0"/>
              </a:spcAft>
              <a:buClr>
                <a:schemeClr val="dk1"/>
              </a:buClr>
              <a:buSzPct val="10000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Introduction</a:t>
            </a:r>
            <a:endParaRPr/>
          </a:p>
        </p:txBody>
      </p:sp>
      <p:sp>
        <p:nvSpPr>
          <p:cNvPr id="109" name="Google Shape;109;p3"/>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514350" indent="-514350">
              <a:spcBef>
                <a:spcPts val="518"/>
              </a:spcBef>
            </a:pPr>
            <a:r>
              <a:rPr lang="en-US" sz="2800" dirty="0"/>
              <a:t>Melanoma Disease Detection </a:t>
            </a:r>
          </a:p>
          <a:p>
            <a:pPr marL="0" indent="0">
              <a:spcBef>
                <a:spcPts val="518"/>
              </a:spcBef>
              <a:buNone/>
            </a:pPr>
            <a:endParaRPr lang="en-US" sz="2800" dirty="0"/>
          </a:p>
          <a:p>
            <a:pPr marL="971550" lvl="1" indent="-514350">
              <a:spcBef>
                <a:spcPts val="518"/>
              </a:spcBef>
            </a:pPr>
            <a:r>
              <a:rPr lang="en-US" sz="2400" dirty="0"/>
              <a:t>Melanoma is the most dangerous form of skin cancer, characterized by the uncontrolled growth of pigment-producing cells. Early detection is crucial for reducing mortality rates, and machine learning offers the potential for automated, accurate diagnosis through image analysis.			</a:t>
            </a:r>
          </a:p>
          <a:p>
            <a:pPr marL="457200" lvl="1" indent="0">
              <a:spcBef>
                <a:spcPts val="518"/>
              </a:spcBef>
              <a:buNone/>
            </a:pP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4"/>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Statement of the Problem</a:t>
            </a:r>
            <a:endParaRPr/>
          </a:p>
        </p:txBody>
      </p:sp>
      <p:sp>
        <p:nvSpPr>
          <p:cNvPr id="115" name="Google Shape;115;p4"/>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l" rtl="0">
              <a:spcBef>
                <a:spcPts val="518"/>
              </a:spcBef>
              <a:spcAft>
                <a:spcPts val="0"/>
              </a:spcAft>
              <a:buSzPts val="3200"/>
              <a:buChar char="•"/>
            </a:pPr>
            <a:r>
              <a:rPr lang="en-US" sz="2800" dirty="0"/>
              <a:t>Melanoma Disease Detection </a:t>
            </a:r>
          </a:p>
          <a:p>
            <a:pPr marL="0" lvl="0" indent="0" algn="l" rtl="0">
              <a:spcBef>
                <a:spcPts val="518"/>
              </a:spcBef>
              <a:spcAft>
                <a:spcPts val="0"/>
              </a:spcAft>
              <a:buSzPts val="3200"/>
              <a:buNone/>
            </a:pPr>
            <a:endParaRPr lang="en-US" sz="2800" dirty="0"/>
          </a:p>
          <a:p>
            <a:pPr marL="742950" lvl="1" indent="-285750" algn="l" rtl="0">
              <a:spcBef>
                <a:spcPts val="518"/>
              </a:spcBef>
              <a:spcAft>
                <a:spcPts val="0"/>
              </a:spcAft>
              <a:buSzPts val="2800"/>
              <a:buChar char="–"/>
            </a:pPr>
            <a:r>
              <a:rPr lang="en-US" dirty="0"/>
              <a:t>The challenge is the accurate detection and classification of melanoma through </a:t>
            </a:r>
            <a:r>
              <a:rPr lang="en-US" dirty="0" err="1"/>
              <a:t>dermoscopic</a:t>
            </a:r>
            <a:r>
              <a:rPr lang="en-US" dirty="0"/>
              <a:t> images. Manual analysis is prone to human error and time-consuming, making it difficult for dermatologists to handle large-scale screenings efficiently.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5"/>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Purpose of the project</a:t>
            </a:r>
            <a:endParaRPr/>
          </a:p>
        </p:txBody>
      </p:sp>
      <p:sp>
        <p:nvSpPr>
          <p:cNvPr id="121" name="Google Shape;121;p5"/>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l" rtl="0">
              <a:spcBef>
                <a:spcPts val="518"/>
              </a:spcBef>
              <a:spcAft>
                <a:spcPts val="0"/>
              </a:spcAft>
              <a:buSzPts val="3200"/>
              <a:buChar char="•"/>
            </a:pPr>
            <a:r>
              <a:rPr lang="en-US" sz="3200" dirty="0"/>
              <a:t>Why Classification of Melanoma Disease</a:t>
            </a:r>
          </a:p>
          <a:p>
            <a:pPr marL="0" lvl="0" indent="0" algn="l" rtl="0">
              <a:spcBef>
                <a:spcPts val="518"/>
              </a:spcBef>
              <a:spcAft>
                <a:spcPts val="0"/>
              </a:spcAft>
              <a:buSzPts val="3200"/>
              <a:buNone/>
            </a:pPr>
            <a:r>
              <a:rPr lang="en-US" sz="3200" dirty="0"/>
              <a:t>            </a:t>
            </a:r>
          </a:p>
          <a:p>
            <a:pPr marL="0" lvl="0" indent="0" algn="l" rtl="0">
              <a:spcBef>
                <a:spcPts val="518"/>
              </a:spcBef>
              <a:spcAft>
                <a:spcPts val="0"/>
              </a:spcAft>
              <a:buSzPts val="3200"/>
              <a:buNone/>
            </a:pPr>
            <a:r>
              <a:rPr lang="en-US" sz="3200" dirty="0"/>
              <a:t>              </a:t>
            </a:r>
            <a:r>
              <a:rPr lang="en-US" sz="3200" b="1" dirty="0"/>
              <a:t>- </a:t>
            </a:r>
            <a:r>
              <a:rPr lang="en-US" sz="2800" dirty="0"/>
              <a:t>The project aims to leverage machine learning models, especially Convolutional Neural Networks (CNN), for the automatic detection of melanoma from </a:t>
            </a:r>
            <a:r>
              <a:rPr lang="en-US" sz="2800" dirty="0" err="1"/>
              <a:t>dermoscopic</a:t>
            </a:r>
            <a:r>
              <a:rPr lang="en-US" sz="2800" dirty="0"/>
              <a:t> images, ensuring:</a:t>
            </a:r>
          </a:p>
          <a:p>
            <a:pPr marL="0" lvl="0" indent="0" algn="l" rtl="0">
              <a:spcBef>
                <a:spcPts val="518"/>
              </a:spcBef>
              <a:spcAft>
                <a:spcPts val="0"/>
              </a:spcAft>
              <a:buSzPts val="3200"/>
              <a:buNone/>
            </a:pPr>
            <a:r>
              <a:rPr lang="en-US" sz="2800" dirty="0"/>
              <a:t>           </a:t>
            </a:r>
            <a:r>
              <a:rPr lang="en-US" sz="2800" dirty="0" err="1"/>
              <a:t>i</a:t>
            </a:r>
            <a:r>
              <a:rPr lang="en-US" sz="2800" dirty="0"/>
              <a:t>)   Early and accurate diagnosis.</a:t>
            </a:r>
          </a:p>
          <a:p>
            <a:pPr marL="0" lvl="0" indent="0" algn="l" rtl="0">
              <a:spcBef>
                <a:spcPts val="518"/>
              </a:spcBef>
              <a:spcAft>
                <a:spcPts val="0"/>
              </a:spcAft>
              <a:buSzPts val="3200"/>
              <a:buNone/>
            </a:pPr>
            <a:r>
              <a:rPr lang="en-US" sz="2800" dirty="0"/>
              <a:t>           ii)  Increased efficiency in the healthcare workflow.</a:t>
            </a:r>
          </a:p>
          <a:p>
            <a:pPr marL="0" lvl="0" indent="0" algn="l" rtl="0">
              <a:spcBef>
                <a:spcPts val="518"/>
              </a:spcBef>
              <a:spcAft>
                <a:spcPts val="0"/>
              </a:spcAft>
              <a:buSzPts val="3200"/>
              <a:buNone/>
            </a:pPr>
            <a:r>
              <a:rPr lang="en-US" sz="2800" dirty="0"/>
              <a:t>           iii) Reduced dependency on expert dermatologists.</a:t>
            </a:r>
            <a:r>
              <a:rPr lang="en-US" sz="3200" dirty="0"/>
              <a:t>  </a:t>
            </a:r>
          </a:p>
          <a:p>
            <a:pPr marL="342900" lvl="0" indent="-342900" algn="l" rtl="0">
              <a:spcBef>
                <a:spcPts val="518"/>
              </a:spcBef>
              <a:spcAft>
                <a:spcPts val="0"/>
              </a:spcAft>
              <a:buSzPts val="3200"/>
              <a:buChar char="•"/>
            </a:pPr>
            <a:endParaRPr lang="en-IN"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Proposed Methodology</a:t>
            </a:r>
            <a:endParaRPr/>
          </a:p>
        </p:txBody>
      </p:sp>
      <p:sp>
        <p:nvSpPr>
          <p:cNvPr id="127" name="Google Shape;127;p6"/>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l" rtl="0">
              <a:spcBef>
                <a:spcPts val="518"/>
              </a:spcBef>
              <a:spcAft>
                <a:spcPts val="0"/>
              </a:spcAft>
              <a:buSzPts val="3200"/>
              <a:buChar char="•"/>
            </a:pPr>
            <a:r>
              <a:rPr lang="en-US" sz="2800" dirty="0"/>
              <a:t>Methodology for - Classification of Melanoma Disease</a:t>
            </a:r>
            <a:endParaRPr lang="en-US" dirty="0"/>
          </a:p>
          <a:p>
            <a:pPr marL="742950" lvl="1" indent="-285750" algn="l" rtl="0">
              <a:spcBef>
                <a:spcPts val="518"/>
              </a:spcBef>
              <a:spcAft>
                <a:spcPts val="0"/>
              </a:spcAft>
              <a:buSzPts val="2800"/>
              <a:buChar char="–"/>
            </a:pPr>
            <a:r>
              <a:rPr lang="en-US" sz="2400" dirty="0"/>
              <a:t>1. </a:t>
            </a:r>
            <a:r>
              <a:rPr lang="en-IN" sz="2400" b="1" dirty="0"/>
              <a:t>Data Collection:</a:t>
            </a:r>
            <a:r>
              <a:rPr lang="en-IN" sz="2400" dirty="0"/>
              <a:t> Acquire </a:t>
            </a:r>
            <a:r>
              <a:rPr lang="en-IN" sz="2400" dirty="0" err="1"/>
              <a:t>dermoscopic</a:t>
            </a:r>
            <a:r>
              <a:rPr lang="en-IN" sz="2400" dirty="0"/>
              <a:t> image datasets.</a:t>
            </a:r>
          </a:p>
          <a:p>
            <a:pPr marL="742950" lvl="1" indent="-285750" algn="l" rtl="0">
              <a:spcBef>
                <a:spcPts val="518"/>
              </a:spcBef>
              <a:spcAft>
                <a:spcPts val="0"/>
              </a:spcAft>
              <a:buSzPts val="2800"/>
              <a:buChar char="–"/>
            </a:pPr>
            <a:r>
              <a:rPr lang="en-US" sz="2400" dirty="0"/>
              <a:t>2. </a:t>
            </a:r>
            <a:r>
              <a:rPr lang="en-IN" sz="2400" b="1" dirty="0"/>
              <a:t>Data Preprocessing:</a:t>
            </a:r>
            <a:r>
              <a:rPr lang="en-IN" sz="2400" dirty="0"/>
              <a:t> Resize images, perform data augmentation.</a:t>
            </a:r>
            <a:endParaRPr lang="en-US" sz="2400" dirty="0"/>
          </a:p>
          <a:p>
            <a:pPr marL="742950" lvl="1" indent="-285750" algn="l" rtl="0">
              <a:spcBef>
                <a:spcPts val="518"/>
              </a:spcBef>
              <a:spcAft>
                <a:spcPts val="0"/>
              </a:spcAft>
              <a:buSzPts val="2800"/>
              <a:buChar char="–"/>
            </a:pPr>
            <a:r>
              <a:rPr lang="en-US" sz="2400" dirty="0"/>
              <a:t>3. </a:t>
            </a:r>
            <a:r>
              <a:rPr lang="en-US" sz="2400" b="1" dirty="0"/>
              <a:t>Model Development:</a:t>
            </a:r>
            <a:r>
              <a:rPr lang="en-US" sz="2400" dirty="0"/>
              <a:t> Implement CNN to classify melanoma.</a:t>
            </a:r>
          </a:p>
          <a:p>
            <a:pPr marL="742950" lvl="1" indent="-285750" algn="l" rtl="0">
              <a:spcBef>
                <a:spcPts val="518"/>
              </a:spcBef>
              <a:spcAft>
                <a:spcPts val="0"/>
              </a:spcAft>
              <a:buSzPts val="2800"/>
              <a:buChar char="–"/>
            </a:pPr>
            <a:r>
              <a:rPr lang="en-US" sz="2400" dirty="0"/>
              <a:t>4. </a:t>
            </a:r>
            <a:r>
              <a:rPr lang="en-US" sz="2400" b="1" dirty="0"/>
              <a:t>Web Application Development:</a:t>
            </a:r>
            <a:r>
              <a:rPr lang="en-US" sz="2400" dirty="0"/>
              <a:t> Create a user-friendly app for real-time melanoma detection.</a:t>
            </a:r>
          </a:p>
          <a:p>
            <a:pPr marL="742950" lvl="1" indent="-285750" algn="l" rtl="0">
              <a:spcBef>
                <a:spcPts val="518"/>
              </a:spcBef>
              <a:spcAft>
                <a:spcPts val="0"/>
              </a:spcAft>
              <a:buSzPts val="2800"/>
              <a:buChar char="–"/>
            </a:pPr>
            <a:r>
              <a:rPr lang="en-US" sz="2400" dirty="0"/>
              <a:t>5. </a:t>
            </a:r>
            <a:r>
              <a:rPr lang="en-US" sz="2400" b="1" dirty="0"/>
              <a:t>Testing &amp; Integration:</a:t>
            </a:r>
            <a:r>
              <a:rPr lang="en-US" sz="2400" dirty="0"/>
              <a:t> Validate the model on test data, integrate it into the app.</a:t>
            </a:r>
          </a:p>
          <a:p>
            <a:pPr marL="742950" lvl="1" indent="-285750" algn="l" rtl="0">
              <a:spcBef>
                <a:spcPts val="518"/>
              </a:spcBef>
              <a:spcAft>
                <a:spcPts val="0"/>
              </a:spcAft>
              <a:buSzPts val="2800"/>
              <a:buChar char="–"/>
            </a:pPr>
            <a:r>
              <a:rPr lang="en-US" sz="2400" dirty="0"/>
              <a:t>6. </a:t>
            </a:r>
            <a:r>
              <a:rPr lang="en-US" sz="2400" b="1" dirty="0"/>
              <a:t>Deployment:</a:t>
            </a:r>
            <a:r>
              <a:rPr lang="en-US" sz="2400" dirty="0"/>
              <a:t> Deploy the app for end-users.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Expected Results and Implications</a:t>
            </a:r>
            <a:endParaRPr/>
          </a:p>
        </p:txBody>
      </p:sp>
      <p:sp>
        <p:nvSpPr>
          <p:cNvPr id="133" name="Google Shape;133;p7"/>
          <p:cNvSpPr txBox="1">
            <a:spLocks noGrp="1"/>
          </p:cNvSpPr>
          <p:nvPr>
            <p:ph type="body" idx="4294967295"/>
          </p:nvPr>
        </p:nvSpPr>
        <p:spPr>
          <a:xfrm>
            <a:off x="1186180" y="1874520"/>
            <a:ext cx="8458200" cy="2438400"/>
          </a:xfrm>
          <a:prstGeom prst="rect">
            <a:avLst/>
          </a:prstGeom>
          <a:noFill/>
          <a:ln>
            <a:noFill/>
          </a:ln>
        </p:spPr>
        <p:txBody>
          <a:bodyPr spcFirstLastPara="1" wrap="square" lIns="91425" tIns="45700" rIns="91425" bIns="45700" anchor="t" anchorCtr="0">
            <a:normAutofit/>
          </a:bodyPr>
          <a:lstStyle/>
          <a:p>
            <a:pPr marL="0" marR="0" lvl="0" indent="0" algn="l" defTabSz="914400" rtl="0" eaLnBrk="0" fontAlgn="base" latinLnBrk="0" hangingPunct="0">
              <a:lnSpc>
                <a:spcPct val="100000"/>
              </a:lnSpc>
              <a:spcBef>
                <a:spcPct val="0"/>
              </a:spcBef>
              <a:spcAft>
                <a:spcPct val="0"/>
              </a:spcAft>
              <a:buClrTx/>
              <a:buSzTx/>
              <a:buFont typeface="Arial"/>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endParaRP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High accuracy in melanoma detection.</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Faster diagnosis processes.</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Improved patient survival rates due to early detection.</a:t>
            </a:r>
          </a:p>
          <a:p>
            <a:pPr marL="0" marR="0" lvl="0" indent="0" algn="l" defTabSz="914400" rtl="0" eaLnBrk="0" fontAlgn="base" latinLnBrk="0" hangingPunct="0">
              <a:lnSpc>
                <a:spcPct val="100000"/>
              </a:lnSpc>
              <a:spcBef>
                <a:spcPct val="0"/>
              </a:spcBef>
              <a:spcAft>
                <a:spcPct val="0"/>
              </a:spcAft>
              <a:buClrTx/>
              <a:buSzTx/>
              <a:buFontTx/>
              <a:buChar char="•"/>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Arial"/>
              </a:rPr>
              <a:t>Reduced healthcare costs due to automation. </a:t>
            </a:r>
          </a:p>
        </p:txBody>
      </p:sp>
      <p:sp>
        <p:nvSpPr>
          <p:cNvPr id="13" name="TextBox 12">
            <a:extLst>
              <a:ext uri="{FF2B5EF4-FFF2-40B4-BE49-F238E27FC236}">
                <a16:creationId xmlns:a16="http://schemas.microsoft.com/office/drawing/2014/main" id="{53D7EDA3-5C4A-35F7-69BF-62E18E75C450}"/>
              </a:ext>
            </a:extLst>
          </p:cNvPr>
          <p:cNvSpPr txBox="1"/>
          <p:nvPr/>
        </p:nvSpPr>
        <p:spPr>
          <a:xfrm>
            <a:off x="457200" y="1223243"/>
            <a:ext cx="4958080" cy="895117"/>
          </a:xfrm>
          <a:prstGeom prst="rect">
            <a:avLst/>
          </a:prstGeom>
          <a:noFill/>
        </p:spPr>
        <p:txBody>
          <a:bodyPr wrap="square">
            <a:spAutoFit/>
          </a:bodyPr>
          <a:lstStyle/>
          <a:p>
            <a:pPr marL="342900" lvl="0" indent="-358140" algn="l" rtl="0">
              <a:spcBef>
                <a:spcPts val="0"/>
              </a:spcBef>
              <a:spcAft>
                <a:spcPts val="0"/>
              </a:spcAft>
              <a:buClr>
                <a:schemeClr val="dk1"/>
              </a:buClr>
              <a:buSzPts val="3200"/>
              <a:buChar char="•"/>
            </a:pPr>
            <a:r>
              <a:rPr lang="en-US" sz="2400" b="1" dirty="0">
                <a:latin typeface="Calibri" panose="020F0502020204030204" pitchFamily="34" charset="0"/>
                <a:ea typeface="Calibri" panose="020F0502020204030204" pitchFamily="34" charset="0"/>
                <a:cs typeface="Calibri" panose="020F0502020204030204" pitchFamily="34" charset="0"/>
              </a:rPr>
              <a:t>What can be accomplished?</a:t>
            </a:r>
          </a:p>
          <a:p>
            <a:pPr marL="742950" lvl="0" indent="0" algn="l" rtl="0">
              <a:spcBef>
                <a:spcPts val="518"/>
              </a:spcBef>
              <a:spcAft>
                <a:spcPts val="0"/>
              </a:spcAft>
              <a:buNone/>
            </a:pPr>
            <a:endParaRPr lang="en-US" sz="2400"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Literature Review-Reference Paper 1</a:t>
            </a:r>
            <a:endParaRPr/>
          </a:p>
        </p:txBody>
      </p:sp>
      <p:sp>
        <p:nvSpPr>
          <p:cNvPr id="139" name="Google Shape;139;p8"/>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00000"/>
              </a:lnSpc>
              <a:spcBef>
                <a:spcPts val="0"/>
              </a:spcBef>
              <a:spcAft>
                <a:spcPts val="0"/>
              </a:spcAft>
              <a:buClr>
                <a:schemeClr val="dk1"/>
              </a:buClr>
              <a:buSzPts val="3200"/>
              <a:buChar char="•"/>
            </a:pPr>
            <a:r>
              <a:rPr lang="en-US" dirty="0"/>
              <a:t>Paper Title</a:t>
            </a:r>
            <a:endParaRPr dirty="0"/>
          </a:p>
          <a:p>
            <a:pPr marL="742950" lvl="1" indent="-299085" algn="l" rtl="0">
              <a:lnSpc>
                <a:spcPct val="100000"/>
              </a:lnSpc>
              <a:spcBef>
                <a:spcPts val="518"/>
              </a:spcBef>
              <a:spcAft>
                <a:spcPts val="0"/>
              </a:spcAft>
              <a:buClr>
                <a:schemeClr val="dk1"/>
              </a:buClr>
              <a:buSzPts val="2800"/>
              <a:buChar char="–"/>
            </a:pPr>
            <a:r>
              <a:rPr lang="en-US" dirty="0"/>
              <a:t>Deep Learning in Melanoma Diagnosis: Challenges and Opportunities </a:t>
            </a:r>
          </a:p>
          <a:p>
            <a:pPr marL="342900" lvl="0" indent="-317500" algn="l" rtl="0">
              <a:lnSpc>
                <a:spcPct val="100000"/>
              </a:lnSpc>
              <a:spcBef>
                <a:spcPts val="518"/>
              </a:spcBef>
              <a:spcAft>
                <a:spcPts val="0"/>
              </a:spcAft>
              <a:buClr>
                <a:schemeClr val="dk1"/>
              </a:buClr>
              <a:buSzPts val="2800"/>
              <a:buChar char="•"/>
            </a:pPr>
            <a:r>
              <a:rPr lang="en-US" dirty="0"/>
              <a:t>Problem statement:</a:t>
            </a:r>
            <a:endParaRPr dirty="0"/>
          </a:p>
          <a:p>
            <a:pPr marL="742950" lvl="1" indent="-299085" algn="l" rtl="0">
              <a:lnSpc>
                <a:spcPct val="100000"/>
              </a:lnSpc>
              <a:spcBef>
                <a:spcPts val="518"/>
              </a:spcBef>
              <a:spcAft>
                <a:spcPts val="0"/>
              </a:spcAft>
              <a:buClr>
                <a:schemeClr val="dk1"/>
              </a:buClr>
              <a:buSzPts val="2800"/>
              <a:buChar char="–"/>
            </a:pPr>
            <a:r>
              <a:rPr lang="en-US" dirty="0"/>
              <a:t>Lack of reliable automated diagnosis tools.</a:t>
            </a:r>
            <a:endParaRPr dirty="0"/>
          </a:p>
          <a:p>
            <a:pPr marL="342900" lvl="0" indent="-317500" algn="l" rtl="0">
              <a:lnSpc>
                <a:spcPct val="100000"/>
              </a:lnSpc>
              <a:spcBef>
                <a:spcPts val="518"/>
              </a:spcBef>
              <a:spcAft>
                <a:spcPts val="0"/>
              </a:spcAft>
              <a:buClr>
                <a:schemeClr val="dk1"/>
              </a:buClr>
              <a:buSzPts val="2800"/>
              <a:buChar char="•"/>
            </a:pPr>
            <a:r>
              <a:rPr lang="en-US" dirty="0"/>
              <a:t>Problem approach</a:t>
            </a:r>
            <a:endParaRPr dirty="0"/>
          </a:p>
          <a:p>
            <a:pPr marL="742950" lvl="1" indent="-299085" algn="l" rtl="0">
              <a:lnSpc>
                <a:spcPct val="100000"/>
              </a:lnSpc>
              <a:spcBef>
                <a:spcPts val="518"/>
              </a:spcBef>
              <a:spcAft>
                <a:spcPts val="0"/>
              </a:spcAft>
              <a:buClr>
                <a:schemeClr val="dk1"/>
              </a:buClr>
              <a:buSzPts val="2800"/>
              <a:buChar char="–"/>
            </a:pPr>
            <a:r>
              <a:rPr lang="en-US" dirty="0"/>
              <a:t>Use of CNNs to analyze </a:t>
            </a:r>
            <a:r>
              <a:rPr lang="en-US" dirty="0" err="1"/>
              <a:t>dermoscopic</a:t>
            </a:r>
            <a:r>
              <a:rPr lang="en-US" dirty="0"/>
              <a:t> images.</a:t>
            </a:r>
          </a:p>
          <a:p>
            <a:pPr marL="342900" lvl="0" indent="-317500" algn="l" rtl="0">
              <a:lnSpc>
                <a:spcPct val="100000"/>
              </a:lnSpc>
              <a:spcBef>
                <a:spcPts val="518"/>
              </a:spcBef>
              <a:spcAft>
                <a:spcPts val="0"/>
              </a:spcAft>
              <a:buClr>
                <a:schemeClr val="dk1"/>
              </a:buClr>
              <a:buSzPts val="2800"/>
              <a:buChar char="•"/>
            </a:pPr>
            <a:r>
              <a:rPr lang="en-US" dirty="0"/>
              <a:t>Advantages: </a:t>
            </a:r>
            <a:r>
              <a:rPr lang="en-IN" sz="2800" dirty="0"/>
              <a:t>Improved diagnostic accuracy.</a:t>
            </a:r>
            <a:endParaRPr lang="en-US" sz="2800" dirty="0"/>
          </a:p>
          <a:p>
            <a:pPr marL="342900" lvl="0" indent="-342900" algn="l" rtl="0">
              <a:lnSpc>
                <a:spcPct val="100000"/>
              </a:lnSpc>
              <a:spcBef>
                <a:spcPts val="518"/>
              </a:spcBef>
              <a:spcAft>
                <a:spcPts val="0"/>
              </a:spcAft>
              <a:buSzPts val="3200"/>
              <a:buChar char="•"/>
            </a:pPr>
            <a:r>
              <a:rPr lang="en-US" dirty="0"/>
              <a:t>Drawbacks: </a:t>
            </a:r>
            <a:r>
              <a:rPr lang="en-IN" sz="2800" dirty="0"/>
              <a:t>Requires large datasets</a:t>
            </a:r>
            <a:endParaRPr sz="2800" dirty="0"/>
          </a:p>
          <a:p>
            <a:pPr marL="342900" lvl="0" indent="-342900" algn="l" rtl="0">
              <a:lnSpc>
                <a:spcPct val="100000"/>
              </a:lnSpc>
              <a:spcBef>
                <a:spcPts val="518"/>
              </a:spcBef>
              <a:spcAft>
                <a:spcPts val="0"/>
              </a:spcAft>
              <a:buSzPts val="3200"/>
              <a:buChar char="•"/>
            </a:pPr>
            <a:r>
              <a:rPr lang="en-US" dirty="0"/>
              <a:t>Future Scope: </a:t>
            </a:r>
            <a:r>
              <a:rPr lang="en-US" sz="2800" dirty="0"/>
              <a:t>Better generalization with diverse data sources.</a:t>
            </a:r>
            <a:endParaRPr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9"/>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Literature Review-Reference Paper 2</a:t>
            </a:r>
            <a:endParaRPr/>
          </a:p>
        </p:txBody>
      </p:sp>
      <p:sp>
        <p:nvSpPr>
          <p:cNvPr id="145" name="Google Shape;145;p9"/>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00000"/>
              </a:lnSpc>
              <a:spcBef>
                <a:spcPts val="0"/>
              </a:spcBef>
              <a:spcAft>
                <a:spcPts val="0"/>
              </a:spcAft>
              <a:buClr>
                <a:schemeClr val="dk1"/>
              </a:buClr>
              <a:buSzPts val="3200"/>
              <a:buChar char="•"/>
            </a:pPr>
            <a:r>
              <a:rPr lang="en-US" sz="2800" dirty="0"/>
              <a:t>Paper Title</a:t>
            </a:r>
            <a:endParaRPr dirty="0"/>
          </a:p>
          <a:p>
            <a:pPr marL="742950" lvl="1" indent="-299085" algn="l" rtl="0">
              <a:lnSpc>
                <a:spcPct val="100000"/>
              </a:lnSpc>
              <a:spcBef>
                <a:spcPts val="518"/>
              </a:spcBef>
              <a:spcAft>
                <a:spcPts val="0"/>
              </a:spcAft>
              <a:buClr>
                <a:schemeClr val="dk1"/>
              </a:buClr>
              <a:buSzPts val="2800"/>
              <a:buChar char="–"/>
            </a:pPr>
            <a:r>
              <a:rPr lang="en-US" dirty="0"/>
              <a:t>Melanoma Treatment and Drug Resistance Mechanisms.</a:t>
            </a:r>
            <a:endParaRPr dirty="0"/>
          </a:p>
          <a:p>
            <a:pPr marL="342900" lvl="0" indent="-317500" algn="l" rtl="0">
              <a:lnSpc>
                <a:spcPct val="100000"/>
              </a:lnSpc>
              <a:spcBef>
                <a:spcPts val="518"/>
              </a:spcBef>
              <a:spcAft>
                <a:spcPts val="0"/>
              </a:spcAft>
              <a:buClr>
                <a:schemeClr val="dk1"/>
              </a:buClr>
              <a:buSzPts val="2800"/>
              <a:buChar char="•"/>
            </a:pPr>
            <a:r>
              <a:rPr lang="en-US" sz="2800" dirty="0"/>
              <a:t>Problem statement:</a:t>
            </a:r>
            <a:endParaRPr sz="2800" dirty="0"/>
          </a:p>
          <a:p>
            <a:pPr marL="742950" lvl="1" indent="-299085" algn="l" rtl="0">
              <a:lnSpc>
                <a:spcPct val="100000"/>
              </a:lnSpc>
              <a:spcBef>
                <a:spcPts val="518"/>
              </a:spcBef>
              <a:spcAft>
                <a:spcPts val="0"/>
              </a:spcAft>
              <a:buClr>
                <a:schemeClr val="dk1"/>
              </a:buClr>
              <a:buSzPts val="2800"/>
              <a:buChar char="–"/>
            </a:pPr>
            <a:r>
              <a:rPr lang="en-US" dirty="0"/>
              <a:t>High resistance to standard melanoma treatments.</a:t>
            </a:r>
            <a:endParaRPr dirty="0"/>
          </a:p>
          <a:p>
            <a:pPr marL="342900" lvl="0" indent="-317500" algn="l" rtl="0">
              <a:lnSpc>
                <a:spcPct val="100000"/>
              </a:lnSpc>
              <a:spcBef>
                <a:spcPts val="518"/>
              </a:spcBef>
              <a:spcAft>
                <a:spcPts val="0"/>
              </a:spcAft>
              <a:buClr>
                <a:schemeClr val="dk1"/>
              </a:buClr>
              <a:buSzPts val="2800"/>
              <a:buChar char="•"/>
            </a:pPr>
            <a:r>
              <a:rPr lang="en-US" sz="2800" dirty="0"/>
              <a:t>Problem approach</a:t>
            </a:r>
            <a:endParaRPr sz="2800" dirty="0"/>
          </a:p>
          <a:p>
            <a:pPr marL="742950" lvl="1" indent="-299085" algn="l" rtl="0">
              <a:lnSpc>
                <a:spcPct val="100000"/>
              </a:lnSpc>
              <a:spcBef>
                <a:spcPts val="518"/>
              </a:spcBef>
              <a:spcAft>
                <a:spcPts val="0"/>
              </a:spcAft>
              <a:buClr>
                <a:schemeClr val="dk1"/>
              </a:buClr>
              <a:buSzPts val="2800"/>
              <a:buChar char="–"/>
            </a:pPr>
            <a:r>
              <a:rPr lang="en-IN" dirty="0"/>
              <a:t>Exploration of combination therapies.</a:t>
            </a:r>
            <a:endParaRPr dirty="0"/>
          </a:p>
          <a:p>
            <a:pPr marL="342900" lvl="0" indent="-317500" algn="l" rtl="0">
              <a:lnSpc>
                <a:spcPct val="100000"/>
              </a:lnSpc>
              <a:spcBef>
                <a:spcPts val="518"/>
              </a:spcBef>
              <a:spcAft>
                <a:spcPts val="0"/>
              </a:spcAft>
              <a:buClr>
                <a:schemeClr val="dk1"/>
              </a:buClr>
              <a:buSzPts val="2800"/>
              <a:buChar char="•"/>
            </a:pPr>
            <a:r>
              <a:rPr lang="en-US" sz="2800" dirty="0"/>
              <a:t>Advantages: Potential for higher treatment efficacy.</a:t>
            </a:r>
            <a:endParaRPr sz="2800" dirty="0"/>
          </a:p>
          <a:p>
            <a:pPr marL="342900" lvl="0" indent="-342900" algn="l" rtl="0">
              <a:lnSpc>
                <a:spcPct val="100000"/>
              </a:lnSpc>
              <a:spcBef>
                <a:spcPts val="518"/>
              </a:spcBef>
              <a:spcAft>
                <a:spcPts val="0"/>
              </a:spcAft>
              <a:buSzPts val="3200"/>
              <a:buChar char="•"/>
            </a:pPr>
            <a:r>
              <a:rPr lang="en-US" sz="2800" dirty="0"/>
              <a:t>Drawbacks: Toxicity and side effects.</a:t>
            </a:r>
            <a:endParaRPr dirty="0"/>
          </a:p>
          <a:p>
            <a:pPr marL="342900" lvl="0" indent="-342900" algn="l" rtl="0">
              <a:lnSpc>
                <a:spcPct val="100000"/>
              </a:lnSpc>
              <a:spcBef>
                <a:spcPts val="518"/>
              </a:spcBef>
              <a:spcAft>
                <a:spcPts val="0"/>
              </a:spcAft>
              <a:buSzPts val="3200"/>
              <a:buChar char="•"/>
            </a:pPr>
            <a:r>
              <a:rPr lang="en-US" sz="2800" dirty="0"/>
              <a:t>Future Scope:</a:t>
            </a:r>
            <a:r>
              <a:rPr lang="en-US" dirty="0"/>
              <a:t> </a:t>
            </a:r>
            <a:r>
              <a:rPr lang="en-US" sz="2800" dirty="0"/>
              <a:t>Personalized medicine to reduce resistance</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0"/>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Literature Review-Reference Paper 3</a:t>
            </a:r>
            <a:endParaRPr/>
          </a:p>
        </p:txBody>
      </p:sp>
      <p:sp>
        <p:nvSpPr>
          <p:cNvPr id="151" name="Google Shape;151;p10"/>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US" dirty="0"/>
              <a:t>Paper Title</a:t>
            </a:r>
            <a:endParaRPr dirty="0"/>
          </a:p>
          <a:p>
            <a:pPr marL="742950" lvl="1" indent="-299085" algn="l" rtl="0">
              <a:lnSpc>
                <a:spcPct val="100000"/>
              </a:lnSpc>
              <a:spcBef>
                <a:spcPts val="518"/>
              </a:spcBef>
              <a:spcAft>
                <a:spcPts val="0"/>
              </a:spcAft>
              <a:buClr>
                <a:schemeClr val="dk1"/>
              </a:buClr>
              <a:buSzPts val="2800"/>
              <a:buChar char="–"/>
            </a:pPr>
            <a:r>
              <a:rPr lang="en-IN" dirty="0"/>
              <a:t>Molecular Pathways in Melanoma Metastasis</a:t>
            </a:r>
            <a:endParaRPr dirty="0"/>
          </a:p>
          <a:p>
            <a:pPr marL="342900" lvl="0" indent="-317500" algn="l" rtl="0">
              <a:lnSpc>
                <a:spcPct val="100000"/>
              </a:lnSpc>
              <a:spcBef>
                <a:spcPts val="518"/>
              </a:spcBef>
              <a:spcAft>
                <a:spcPts val="0"/>
              </a:spcAft>
              <a:buClr>
                <a:schemeClr val="dk1"/>
              </a:buClr>
              <a:buSzPts val="2800"/>
              <a:buChar char="•"/>
            </a:pPr>
            <a:r>
              <a:rPr lang="en-US" dirty="0"/>
              <a:t>Problem statement:</a:t>
            </a:r>
            <a:endParaRPr dirty="0"/>
          </a:p>
          <a:p>
            <a:pPr marL="742950" lvl="1" indent="-299085" algn="l" rtl="0">
              <a:lnSpc>
                <a:spcPct val="100000"/>
              </a:lnSpc>
              <a:spcBef>
                <a:spcPts val="518"/>
              </a:spcBef>
              <a:spcAft>
                <a:spcPts val="0"/>
              </a:spcAft>
              <a:buClr>
                <a:schemeClr val="dk1"/>
              </a:buClr>
              <a:buSzPts val="2800"/>
              <a:buChar char="–"/>
            </a:pPr>
            <a:r>
              <a:rPr lang="en-US" dirty="0"/>
              <a:t>Limited understanding of metastatic mechanisms.</a:t>
            </a:r>
            <a:endParaRPr dirty="0"/>
          </a:p>
          <a:p>
            <a:pPr marL="342900" lvl="0" indent="-317500" algn="l" rtl="0">
              <a:lnSpc>
                <a:spcPct val="100000"/>
              </a:lnSpc>
              <a:spcBef>
                <a:spcPts val="518"/>
              </a:spcBef>
              <a:spcAft>
                <a:spcPts val="0"/>
              </a:spcAft>
              <a:buClr>
                <a:schemeClr val="dk1"/>
              </a:buClr>
              <a:buSzPts val="2800"/>
              <a:buChar char="•"/>
            </a:pPr>
            <a:r>
              <a:rPr lang="en-US" dirty="0"/>
              <a:t>Problem approach</a:t>
            </a:r>
            <a:endParaRPr dirty="0"/>
          </a:p>
          <a:p>
            <a:pPr marL="742950" lvl="1" indent="-299085" algn="l" rtl="0">
              <a:lnSpc>
                <a:spcPct val="100000"/>
              </a:lnSpc>
              <a:spcBef>
                <a:spcPts val="518"/>
              </a:spcBef>
              <a:spcAft>
                <a:spcPts val="0"/>
              </a:spcAft>
              <a:buClr>
                <a:schemeClr val="dk1"/>
              </a:buClr>
              <a:buSzPts val="2800"/>
              <a:buChar char="–"/>
            </a:pPr>
            <a:r>
              <a:rPr lang="en-US" dirty="0"/>
              <a:t>Study of molecular pathways like MAPK.</a:t>
            </a:r>
          </a:p>
          <a:p>
            <a:pPr marL="342900" lvl="0" indent="-317500" algn="l" rtl="0">
              <a:lnSpc>
                <a:spcPct val="100000"/>
              </a:lnSpc>
              <a:spcBef>
                <a:spcPts val="518"/>
              </a:spcBef>
              <a:spcAft>
                <a:spcPts val="0"/>
              </a:spcAft>
              <a:buClr>
                <a:schemeClr val="dk1"/>
              </a:buClr>
              <a:buSzPts val="2800"/>
              <a:buChar char="•"/>
            </a:pPr>
            <a:r>
              <a:rPr lang="en-US" dirty="0"/>
              <a:t>Advantages: </a:t>
            </a:r>
            <a:r>
              <a:rPr lang="en-US" sz="2800" dirty="0"/>
              <a:t>Identification of key drug targets</a:t>
            </a:r>
            <a:endParaRPr dirty="0"/>
          </a:p>
          <a:p>
            <a:pPr marL="342900" lvl="0" indent="-342900" algn="l" rtl="0">
              <a:lnSpc>
                <a:spcPct val="100000"/>
              </a:lnSpc>
              <a:spcBef>
                <a:spcPts val="518"/>
              </a:spcBef>
              <a:spcAft>
                <a:spcPts val="0"/>
              </a:spcAft>
              <a:buSzPts val="3200"/>
              <a:buChar char="•"/>
            </a:pPr>
            <a:r>
              <a:rPr lang="en-US" dirty="0"/>
              <a:t>Drawbacks: </a:t>
            </a:r>
            <a:r>
              <a:rPr lang="en-IN" sz="2800" dirty="0"/>
              <a:t>Complexity of pathway interactions</a:t>
            </a:r>
            <a:endParaRPr dirty="0"/>
          </a:p>
          <a:p>
            <a:pPr marL="342900" lvl="0" indent="-342900" algn="l" rtl="0">
              <a:lnSpc>
                <a:spcPct val="100000"/>
              </a:lnSpc>
              <a:spcBef>
                <a:spcPts val="518"/>
              </a:spcBef>
              <a:spcAft>
                <a:spcPts val="0"/>
              </a:spcAft>
              <a:buSzPts val="3200"/>
              <a:buChar char="•"/>
            </a:pPr>
            <a:r>
              <a:rPr lang="en-US" dirty="0"/>
              <a:t>Future Scope: </a:t>
            </a:r>
            <a:r>
              <a:rPr lang="en-US" sz="2800" dirty="0"/>
              <a:t>Targeted therapies to inhibit metastasis</a:t>
            </a:r>
            <a:endParaRPr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0"/>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dirty="0"/>
              <a:t>Literature Review-Reference Paper 4</a:t>
            </a:r>
            <a:endParaRPr dirty="0"/>
          </a:p>
        </p:txBody>
      </p:sp>
      <p:sp>
        <p:nvSpPr>
          <p:cNvPr id="151" name="Google Shape;151;p10"/>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00000"/>
              </a:lnSpc>
              <a:spcBef>
                <a:spcPts val="0"/>
              </a:spcBef>
              <a:spcAft>
                <a:spcPts val="0"/>
              </a:spcAft>
              <a:buClr>
                <a:schemeClr val="dk1"/>
              </a:buClr>
              <a:buSzPts val="3200"/>
              <a:buChar char="•"/>
            </a:pPr>
            <a:r>
              <a:rPr lang="en-US" dirty="0"/>
              <a:t>Paper Title</a:t>
            </a:r>
            <a:endParaRPr dirty="0"/>
          </a:p>
          <a:p>
            <a:pPr marL="742950" lvl="1" indent="-299085" algn="l" rtl="0">
              <a:lnSpc>
                <a:spcPct val="100000"/>
              </a:lnSpc>
              <a:spcBef>
                <a:spcPts val="518"/>
              </a:spcBef>
              <a:spcAft>
                <a:spcPts val="0"/>
              </a:spcAft>
              <a:buClr>
                <a:schemeClr val="dk1"/>
              </a:buClr>
              <a:buSzPts val="2800"/>
              <a:buChar char="–"/>
            </a:pPr>
            <a:r>
              <a:rPr lang="en-US" dirty="0"/>
              <a:t>Immunotherapy for Advanced Melanoma: A Review</a:t>
            </a:r>
            <a:endParaRPr dirty="0"/>
          </a:p>
          <a:p>
            <a:pPr marL="342900" lvl="0" indent="-317500" algn="l" rtl="0">
              <a:lnSpc>
                <a:spcPct val="100000"/>
              </a:lnSpc>
              <a:spcBef>
                <a:spcPts val="518"/>
              </a:spcBef>
              <a:spcAft>
                <a:spcPts val="0"/>
              </a:spcAft>
              <a:buClr>
                <a:schemeClr val="dk1"/>
              </a:buClr>
              <a:buSzPts val="2800"/>
              <a:buChar char="•"/>
            </a:pPr>
            <a:r>
              <a:rPr lang="en-US" dirty="0"/>
              <a:t>Problem statement:</a:t>
            </a:r>
            <a:endParaRPr dirty="0"/>
          </a:p>
          <a:p>
            <a:pPr marL="742950" lvl="1" indent="-299085" algn="l" rtl="0">
              <a:lnSpc>
                <a:spcPct val="100000"/>
              </a:lnSpc>
              <a:spcBef>
                <a:spcPts val="518"/>
              </a:spcBef>
              <a:spcAft>
                <a:spcPts val="0"/>
              </a:spcAft>
              <a:buClr>
                <a:schemeClr val="dk1"/>
              </a:buClr>
              <a:buSzPts val="2800"/>
              <a:buChar char="–"/>
            </a:pPr>
            <a:r>
              <a:rPr lang="en-US" dirty="0"/>
              <a:t>Limited success of traditional therapies in advanced melanoma</a:t>
            </a:r>
            <a:endParaRPr dirty="0"/>
          </a:p>
          <a:p>
            <a:pPr marL="342900" lvl="0" indent="-317500" algn="l" rtl="0">
              <a:lnSpc>
                <a:spcPct val="100000"/>
              </a:lnSpc>
              <a:spcBef>
                <a:spcPts val="518"/>
              </a:spcBef>
              <a:spcAft>
                <a:spcPts val="0"/>
              </a:spcAft>
              <a:buClr>
                <a:schemeClr val="dk1"/>
              </a:buClr>
              <a:buSzPts val="2800"/>
              <a:buChar char="•"/>
            </a:pPr>
            <a:r>
              <a:rPr lang="en-US" dirty="0"/>
              <a:t>Problem approach</a:t>
            </a:r>
            <a:endParaRPr dirty="0"/>
          </a:p>
          <a:p>
            <a:pPr marL="742950" lvl="1" indent="-299085" algn="l" rtl="0">
              <a:lnSpc>
                <a:spcPct val="100000"/>
              </a:lnSpc>
              <a:spcBef>
                <a:spcPts val="518"/>
              </a:spcBef>
              <a:spcAft>
                <a:spcPts val="0"/>
              </a:spcAft>
              <a:buClr>
                <a:schemeClr val="dk1"/>
              </a:buClr>
              <a:buSzPts val="2800"/>
              <a:buChar char="–"/>
            </a:pPr>
            <a:r>
              <a:rPr lang="en-US" dirty="0"/>
              <a:t>Use of immune checkpoint inhibitors</a:t>
            </a:r>
          </a:p>
          <a:p>
            <a:pPr marL="342900" lvl="0" indent="-317500" algn="l" rtl="0">
              <a:lnSpc>
                <a:spcPct val="100000"/>
              </a:lnSpc>
              <a:spcBef>
                <a:spcPts val="518"/>
              </a:spcBef>
              <a:spcAft>
                <a:spcPts val="0"/>
              </a:spcAft>
              <a:buClr>
                <a:schemeClr val="dk1"/>
              </a:buClr>
              <a:buSzPts val="2800"/>
              <a:buChar char="•"/>
            </a:pPr>
            <a:r>
              <a:rPr lang="en-US" dirty="0"/>
              <a:t>Advantages: </a:t>
            </a:r>
            <a:r>
              <a:rPr lang="en-US" sz="2800" dirty="0"/>
              <a:t>Identification of key drug targets</a:t>
            </a:r>
            <a:endParaRPr dirty="0"/>
          </a:p>
          <a:p>
            <a:pPr marL="342900" lvl="0" indent="-342900" algn="l" rtl="0">
              <a:lnSpc>
                <a:spcPct val="100000"/>
              </a:lnSpc>
              <a:spcBef>
                <a:spcPts val="518"/>
              </a:spcBef>
              <a:spcAft>
                <a:spcPts val="0"/>
              </a:spcAft>
              <a:buSzPts val="3200"/>
              <a:buChar char="•"/>
            </a:pPr>
            <a:r>
              <a:rPr lang="en-US" dirty="0"/>
              <a:t>Drawbacks: </a:t>
            </a:r>
            <a:r>
              <a:rPr lang="en-IN" sz="2800" dirty="0"/>
              <a:t>Complexity of pathway interactions</a:t>
            </a:r>
            <a:endParaRPr dirty="0"/>
          </a:p>
          <a:p>
            <a:pPr marL="342900" lvl="0" indent="-342900" algn="l" rtl="0">
              <a:lnSpc>
                <a:spcPct val="100000"/>
              </a:lnSpc>
              <a:spcBef>
                <a:spcPts val="518"/>
              </a:spcBef>
              <a:spcAft>
                <a:spcPts val="0"/>
              </a:spcAft>
              <a:buSzPts val="3200"/>
              <a:buChar char="•"/>
            </a:pPr>
            <a:r>
              <a:rPr lang="en-US" dirty="0"/>
              <a:t>Future Scope: </a:t>
            </a:r>
            <a:r>
              <a:rPr lang="en-US" sz="2800" dirty="0"/>
              <a:t>Development of biomarkers for better patient selection.</a:t>
            </a:r>
            <a:endParaRPr sz="2400" dirty="0"/>
          </a:p>
        </p:txBody>
      </p:sp>
    </p:spTree>
    <p:extLst>
      <p:ext uri="{BB962C8B-B14F-4D97-AF65-F5344CB8AC3E}">
        <p14:creationId xmlns:p14="http://schemas.microsoft.com/office/powerpoint/2010/main" val="850680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0"/>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dirty="0"/>
              <a:t>Literature Review-Reference Paper 5</a:t>
            </a:r>
            <a:endParaRPr dirty="0"/>
          </a:p>
        </p:txBody>
      </p:sp>
      <p:sp>
        <p:nvSpPr>
          <p:cNvPr id="151" name="Google Shape;151;p10"/>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lnSpc>
                <a:spcPct val="100000"/>
              </a:lnSpc>
              <a:spcBef>
                <a:spcPts val="0"/>
              </a:spcBef>
              <a:spcAft>
                <a:spcPts val="0"/>
              </a:spcAft>
              <a:buClr>
                <a:schemeClr val="dk1"/>
              </a:buClr>
              <a:buSzPts val="3200"/>
              <a:buChar char="•"/>
            </a:pPr>
            <a:r>
              <a:rPr lang="en-US" sz="3000" dirty="0"/>
              <a:t>Paper Title:</a:t>
            </a:r>
            <a:endParaRPr sz="3000" dirty="0"/>
          </a:p>
          <a:p>
            <a:pPr marL="742950" lvl="1" indent="-299085" algn="l" rtl="0">
              <a:lnSpc>
                <a:spcPct val="100000"/>
              </a:lnSpc>
              <a:spcBef>
                <a:spcPts val="518"/>
              </a:spcBef>
              <a:spcAft>
                <a:spcPts val="0"/>
              </a:spcAft>
              <a:buClr>
                <a:schemeClr val="dk1"/>
              </a:buClr>
              <a:buSzPts val="2800"/>
              <a:buChar char="–"/>
            </a:pPr>
            <a:r>
              <a:rPr lang="en-US" dirty="0"/>
              <a:t>Machine Learning Models for Melanoma Survival Prediction</a:t>
            </a:r>
            <a:endParaRPr dirty="0"/>
          </a:p>
          <a:p>
            <a:pPr marL="342900" lvl="0" indent="-317500" algn="l" rtl="0">
              <a:lnSpc>
                <a:spcPct val="100000"/>
              </a:lnSpc>
              <a:spcBef>
                <a:spcPts val="518"/>
              </a:spcBef>
              <a:spcAft>
                <a:spcPts val="0"/>
              </a:spcAft>
              <a:buClr>
                <a:schemeClr val="dk1"/>
              </a:buClr>
              <a:buSzPts val="2800"/>
              <a:buChar char="•"/>
            </a:pPr>
            <a:r>
              <a:rPr lang="en-US" sz="3000" dirty="0"/>
              <a:t>Problem statement:</a:t>
            </a:r>
            <a:endParaRPr sz="3000" dirty="0"/>
          </a:p>
          <a:p>
            <a:pPr marL="742950" lvl="1" indent="-299085" algn="l" rtl="0">
              <a:lnSpc>
                <a:spcPct val="100000"/>
              </a:lnSpc>
              <a:spcBef>
                <a:spcPts val="518"/>
              </a:spcBef>
              <a:spcAft>
                <a:spcPts val="0"/>
              </a:spcAft>
              <a:buClr>
                <a:schemeClr val="dk1"/>
              </a:buClr>
              <a:buSzPts val="2800"/>
              <a:buChar char="–"/>
            </a:pPr>
            <a:r>
              <a:rPr lang="en-US" dirty="0"/>
              <a:t>Difficulty in predicting survival outcomes</a:t>
            </a:r>
            <a:endParaRPr dirty="0"/>
          </a:p>
          <a:p>
            <a:pPr marL="342900" lvl="0" indent="-317500" algn="l" rtl="0">
              <a:lnSpc>
                <a:spcPct val="100000"/>
              </a:lnSpc>
              <a:spcBef>
                <a:spcPts val="518"/>
              </a:spcBef>
              <a:spcAft>
                <a:spcPts val="0"/>
              </a:spcAft>
              <a:buClr>
                <a:schemeClr val="dk1"/>
              </a:buClr>
              <a:buSzPts val="2800"/>
              <a:buChar char="•"/>
            </a:pPr>
            <a:r>
              <a:rPr lang="en-US" sz="3000" dirty="0"/>
              <a:t>Problem approach:</a:t>
            </a:r>
            <a:endParaRPr sz="3000" dirty="0"/>
          </a:p>
          <a:p>
            <a:pPr marL="742950" lvl="1" indent="-299085" algn="l" rtl="0">
              <a:lnSpc>
                <a:spcPct val="100000"/>
              </a:lnSpc>
              <a:spcBef>
                <a:spcPts val="518"/>
              </a:spcBef>
              <a:spcAft>
                <a:spcPts val="0"/>
              </a:spcAft>
              <a:buClr>
                <a:schemeClr val="dk1"/>
              </a:buClr>
              <a:buSzPts val="2800"/>
              <a:buChar char="–"/>
            </a:pPr>
            <a:r>
              <a:rPr lang="en-US" dirty="0"/>
              <a:t>Integration of clinical data with machine learning models.</a:t>
            </a:r>
          </a:p>
          <a:p>
            <a:pPr marL="342900" lvl="0" indent="-317500" algn="l" rtl="0">
              <a:lnSpc>
                <a:spcPct val="100000"/>
              </a:lnSpc>
              <a:spcBef>
                <a:spcPts val="518"/>
              </a:spcBef>
              <a:spcAft>
                <a:spcPts val="0"/>
              </a:spcAft>
              <a:buClr>
                <a:schemeClr val="dk1"/>
              </a:buClr>
              <a:buSzPts val="2800"/>
              <a:buChar char="•"/>
            </a:pPr>
            <a:r>
              <a:rPr lang="en-US" sz="3000" dirty="0"/>
              <a:t>Advantages: Personalized survival predictions</a:t>
            </a:r>
            <a:endParaRPr dirty="0"/>
          </a:p>
          <a:p>
            <a:pPr marL="342900" lvl="0" indent="-342900" algn="l" rtl="0">
              <a:lnSpc>
                <a:spcPct val="100000"/>
              </a:lnSpc>
              <a:spcBef>
                <a:spcPts val="518"/>
              </a:spcBef>
              <a:spcAft>
                <a:spcPts val="0"/>
              </a:spcAft>
              <a:buSzPts val="3200"/>
              <a:buChar char="•"/>
            </a:pPr>
            <a:r>
              <a:rPr lang="en-US" sz="3000" dirty="0"/>
              <a:t>Drawbacks:</a:t>
            </a:r>
            <a:r>
              <a:rPr lang="en-US" dirty="0"/>
              <a:t> </a:t>
            </a:r>
            <a:r>
              <a:rPr lang="en-US" sz="3000" dirty="0"/>
              <a:t>Model accuracy depends on input data quality</a:t>
            </a:r>
            <a:endParaRPr sz="3000" dirty="0"/>
          </a:p>
          <a:p>
            <a:pPr marL="342900" lvl="0" indent="-342900" algn="l" rtl="0">
              <a:lnSpc>
                <a:spcPct val="100000"/>
              </a:lnSpc>
              <a:spcBef>
                <a:spcPts val="518"/>
              </a:spcBef>
              <a:spcAft>
                <a:spcPts val="0"/>
              </a:spcAft>
              <a:buSzPts val="3200"/>
              <a:buChar char="•"/>
            </a:pPr>
            <a:r>
              <a:rPr lang="en-US" sz="3000" dirty="0"/>
              <a:t>Future Scope: More robust models with better feature selection.</a:t>
            </a:r>
            <a:endParaRPr sz="2600" dirty="0"/>
          </a:p>
        </p:txBody>
      </p:sp>
    </p:spTree>
    <p:extLst>
      <p:ext uri="{BB962C8B-B14F-4D97-AF65-F5344CB8AC3E}">
        <p14:creationId xmlns:p14="http://schemas.microsoft.com/office/powerpoint/2010/main" val="1315340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6"/>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Summary of Literature Review</a:t>
            </a:r>
            <a:endParaRPr/>
          </a:p>
        </p:txBody>
      </p:sp>
      <p:graphicFrame>
        <p:nvGraphicFramePr>
          <p:cNvPr id="170" name="Google Shape;170;p26"/>
          <p:cNvGraphicFramePr/>
          <p:nvPr/>
        </p:nvGraphicFramePr>
        <p:xfrm>
          <a:off x="184275" y="1184675"/>
          <a:ext cx="8421450" cy="5455850"/>
        </p:xfrm>
        <a:graphic>
          <a:graphicData uri="http://schemas.openxmlformats.org/drawingml/2006/table">
            <a:tbl>
              <a:tblPr>
                <a:noFill/>
              </a:tblPr>
              <a:tblGrid>
                <a:gridCol w="1403575">
                  <a:extLst>
                    <a:ext uri="{9D8B030D-6E8A-4147-A177-3AD203B41FA5}">
                      <a16:colId xmlns:a16="http://schemas.microsoft.com/office/drawing/2014/main" val="20000"/>
                    </a:ext>
                  </a:extLst>
                </a:gridCol>
                <a:gridCol w="1403575">
                  <a:extLst>
                    <a:ext uri="{9D8B030D-6E8A-4147-A177-3AD203B41FA5}">
                      <a16:colId xmlns:a16="http://schemas.microsoft.com/office/drawing/2014/main" val="20001"/>
                    </a:ext>
                  </a:extLst>
                </a:gridCol>
                <a:gridCol w="1403575">
                  <a:extLst>
                    <a:ext uri="{9D8B030D-6E8A-4147-A177-3AD203B41FA5}">
                      <a16:colId xmlns:a16="http://schemas.microsoft.com/office/drawing/2014/main" val="20002"/>
                    </a:ext>
                  </a:extLst>
                </a:gridCol>
                <a:gridCol w="1403575">
                  <a:extLst>
                    <a:ext uri="{9D8B030D-6E8A-4147-A177-3AD203B41FA5}">
                      <a16:colId xmlns:a16="http://schemas.microsoft.com/office/drawing/2014/main" val="20003"/>
                    </a:ext>
                  </a:extLst>
                </a:gridCol>
                <a:gridCol w="1403575">
                  <a:extLst>
                    <a:ext uri="{9D8B030D-6E8A-4147-A177-3AD203B41FA5}">
                      <a16:colId xmlns:a16="http://schemas.microsoft.com/office/drawing/2014/main" val="20004"/>
                    </a:ext>
                  </a:extLst>
                </a:gridCol>
                <a:gridCol w="1403575">
                  <a:extLst>
                    <a:ext uri="{9D8B030D-6E8A-4147-A177-3AD203B41FA5}">
                      <a16:colId xmlns:a16="http://schemas.microsoft.com/office/drawing/2014/main" val="20005"/>
                    </a:ext>
                  </a:extLst>
                </a:gridCol>
              </a:tblGrid>
              <a:tr h="736050">
                <a:tc>
                  <a:txBody>
                    <a:bodyPr/>
                    <a:lstStyle/>
                    <a:p>
                      <a:pPr marL="0" marR="0" lvl="0" indent="0" algn="ctr" rtl="0">
                        <a:lnSpc>
                          <a:spcPct val="115000"/>
                        </a:lnSpc>
                        <a:spcBef>
                          <a:spcPts val="0"/>
                        </a:spcBef>
                        <a:spcAft>
                          <a:spcPts val="0"/>
                        </a:spcAft>
                        <a:buClr>
                          <a:srgbClr val="000000"/>
                        </a:buClr>
                        <a:buSzPts val="1100"/>
                        <a:buFont typeface="Arial"/>
                        <a:buNone/>
                      </a:pPr>
                      <a:r>
                        <a:rPr lang="en-US" sz="1300" b="1" u="none" strike="noStrike" cap="none" dirty="0">
                          <a:latin typeface="Calibri" panose="020F0502020204030204" pitchFamily="34" charset="0"/>
                          <a:ea typeface="Calibri" panose="020F0502020204030204" pitchFamily="34" charset="0"/>
                          <a:cs typeface="Calibri" panose="020F0502020204030204" pitchFamily="34" charset="0"/>
                        </a:rPr>
                        <a:t>Research</a:t>
                      </a:r>
                      <a:endParaRPr sz="1300" b="1" u="none" strike="noStrike" cap="none" dirty="0">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solidFill>
                      <a:srgbClr val="CCCCCC"/>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300" b="1" u="none" strike="noStrike" cap="none">
                          <a:latin typeface="Calibri" panose="020F0502020204030204" pitchFamily="34" charset="0"/>
                          <a:ea typeface="Calibri" panose="020F0502020204030204" pitchFamily="34" charset="0"/>
                          <a:cs typeface="Calibri" panose="020F0502020204030204" pitchFamily="34" charset="0"/>
                        </a:rPr>
                        <a:t>Technique</a:t>
                      </a:r>
                      <a:endParaRPr sz="1300" b="1" u="none" strike="noStrike" cap="none">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solidFill>
                      <a:srgbClr val="CCCCCC"/>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300" b="1" u="none" strike="noStrike" cap="none">
                          <a:latin typeface="Calibri" panose="020F0502020204030204" pitchFamily="34" charset="0"/>
                          <a:ea typeface="Calibri" panose="020F0502020204030204" pitchFamily="34" charset="0"/>
                          <a:cs typeface="Calibri" panose="020F0502020204030204" pitchFamily="34" charset="0"/>
                        </a:rPr>
                        <a:t>Features Used</a:t>
                      </a:r>
                      <a:endParaRPr sz="1300" b="1" u="none" strike="noStrike" cap="none">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solidFill>
                      <a:srgbClr val="CCCCCC"/>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300" b="1" u="none" strike="noStrike" cap="none">
                          <a:latin typeface="Calibri" panose="020F0502020204030204" pitchFamily="34" charset="0"/>
                          <a:ea typeface="Calibri" panose="020F0502020204030204" pitchFamily="34" charset="0"/>
                          <a:cs typeface="Calibri" panose="020F0502020204030204" pitchFamily="34" charset="0"/>
                        </a:rPr>
                        <a:t>Domain</a:t>
                      </a:r>
                      <a:endParaRPr sz="1300" b="1" u="none" strike="noStrike" cap="none">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solidFill>
                      <a:srgbClr val="CCCCCC"/>
                    </a:solidFill>
                  </a:tcPr>
                </a:tc>
                <a:tc>
                  <a:txBody>
                    <a:bodyPr/>
                    <a:lstStyle/>
                    <a:p>
                      <a:pPr marL="228600" marR="0" lvl="0" indent="0" algn="ctr" rtl="0">
                        <a:lnSpc>
                          <a:spcPct val="115000"/>
                        </a:lnSpc>
                        <a:spcBef>
                          <a:spcPts val="0"/>
                        </a:spcBef>
                        <a:spcAft>
                          <a:spcPts val="0"/>
                        </a:spcAft>
                        <a:buClr>
                          <a:srgbClr val="000000"/>
                        </a:buClr>
                        <a:buSzPts val="1100"/>
                        <a:buFont typeface="Arial"/>
                        <a:buNone/>
                      </a:pPr>
                      <a:r>
                        <a:rPr lang="en-US" sz="1300" b="1" u="none" strike="noStrike" cap="none">
                          <a:latin typeface="Calibri" panose="020F0502020204030204" pitchFamily="34" charset="0"/>
                          <a:ea typeface="Calibri" panose="020F0502020204030204" pitchFamily="34" charset="0"/>
                          <a:cs typeface="Calibri" panose="020F0502020204030204" pitchFamily="34" charset="0"/>
                        </a:rPr>
                        <a:t>Disadvantage / Advantage</a:t>
                      </a:r>
                      <a:endParaRPr sz="1300" b="1" u="none" strike="noStrike" cap="none">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solidFill>
                      <a:srgbClr val="CCCCCC"/>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300" b="1" u="none" strike="noStrike" cap="none" dirty="0">
                          <a:latin typeface="Calibri" panose="020F0502020204030204" pitchFamily="34" charset="0"/>
                          <a:ea typeface="Calibri" panose="020F0502020204030204" pitchFamily="34" charset="0"/>
                          <a:cs typeface="Calibri" panose="020F0502020204030204" pitchFamily="34" charset="0"/>
                        </a:rPr>
                        <a:t>Future Direction</a:t>
                      </a:r>
                      <a:endParaRPr sz="1300" b="1" u="none" strike="noStrike" cap="none" dirty="0">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solidFill>
                      <a:srgbClr val="CCCCCC"/>
                    </a:solidFill>
                  </a:tcPr>
                </a:tc>
                <a:extLst>
                  <a:ext uri="{0D108BD9-81ED-4DB2-BD59-A6C34878D82A}">
                    <a16:rowId xmlns:a16="http://schemas.microsoft.com/office/drawing/2014/main" val="10000"/>
                  </a:ext>
                </a:extLst>
              </a:tr>
              <a:tr h="4719800">
                <a:tc>
                  <a:txBody>
                    <a:bodyPr/>
                    <a:lstStyle/>
                    <a:p>
                      <a:pPr marL="0" marR="0" lvl="0" indent="0" algn="l" rtl="0">
                        <a:lnSpc>
                          <a:spcPct val="115000"/>
                        </a:lnSpc>
                        <a:spcBef>
                          <a:spcPts val="0"/>
                        </a:spcBef>
                        <a:spcAft>
                          <a:spcPts val="0"/>
                        </a:spcAft>
                        <a:buClr>
                          <a:srgbClr val="000000"/>
                        </a:buClr>
                        <a:buSzPts val="1100"/>
                        <a:buFont typeface="Arial"/>
                        <a:buNone/>
                      </a:pPr>
                      <a:r>
                        <a:rPr lang="en-US" sz="1300" dirty="0">
                          <a:latin typeface="Calibri" panose="020F0502020204030204" pitchFamily="34" charset="0"/>
                          <a:ea typeface="Calibri" panose="020F0502020204030204" pitchFamily="34" charset="0"/>
                          <a:cs typeface="Calibri" panose="020F0502020204030204" pitchFamily="34" charset="0"/>
                          <a:sym typeface="Times New Roman"/>
                        </a:rPr>
                        <a:t>Automated Melanoma Detection Using Deep Learning Models</a:t>
                      </a:r>
                      <a:endParaRPr sz="1300" dirty="0">
                        <a:latin typeface="Calibri" panose="020F0502020204030204" pitchFamily="34" charset="0"/>
                        <a:ea typeface="Calibri" panose="020F0502020204030204" pitchFamily="34" charset="0"/>
                        <a:cs typeface="Calibri" panose="020F0502020204030204" pitchFamily="34" charset="0"/>
                        <a:sym typeface="Times New Roman"/>
                      </a:endParaRPr>
                    </a:p>
                    <a:p>
                      <a:pPr marL="0" marR="0" lvl="0" indent="0" algn="l" rtl="0">
                        <a:lnSpc>
                          <a:spcPct val="115000"/>
                        </a:lnSpc>
                        <a:spcBef>
                          <a:spcPts val="0"/>
                        </a:spcBef>
                        <a:spcAft>
                          <a:spcPts val="0"/>
                        </a:spcAft>
                        <a:buClr>
                          <a:srgbClr val="000000"/>
                        </a:buClr>
                        <a:buSzPts val="1100"/>
                        <a:buFont typeface="Arial"/>
                        <a:buNone/>
                      </a:pPr>
                      <a:endParaRPr sz="1300" dirty="0">
                        <a:latin typeface="Calibri" panose="020F0502020204030204" pitchFamily="34" charset="0"/>
                        <a:ea typeface="Calibri" panose="020F0502020204030204" pitchFamily="34" charset="0"/>
                        <a:cs typeface="Calibri" panose="020F0502020204030204" pitchFamily="34" charset="0"/>
                        <a:sym typeface="Times New Roman"/>
                      </a:endParaRPr>
                    </a:p>
                    <a:p>
                      <a:pPr marL="0" marR="0" lvl="0" indent="0" algn="l" rtl="0">
                        <a:lnSpc>
                          <a:spcPct val="115000"/>
                        </a:lnSpc>
                        <a:spcBef>
                          <a:spcPts val="0"/>
                        </a:spcBef>
                        <a:spcAft>
                          <a:spcPts val="0"/>
                        </a:spcAft>
                        <a:buClr>
                          <a:srgbClr val="000000"/>
                        </a:buClr>
                        <a:buSzPts val="1100"/>
                        <a:buFont typeface="Arial"/>
                        <a:buNone/>
                      </a:pPr>
                      <a:endParaRPr lang="en-IN" sz="1300" dirty="0">
                        <a:latin typeface="Calibri" panose="020F0502020204030204" pitchFamily="34" charset="0"/>
                        <a:ea typeface="Calibri" panose="020F0502020204030204" pitchFamily="34" charset="0"/>
                        <a:cs typeface="Calibri" panose="020F0502020204030204" pitchFamily="34" charset="0"/>
                        <a:sym typeface="Times New Roman"/>
                      </a:endParaRPr>
                    </a:p>
                    <a:p>
                      <a:pPr marL="0" marR="0" lvl="0" indent="0" algn="l" rtl="0">
                        <a:lnSpc>
                          <a:spcPct val="115000"/>
                        </a:lnSpc>
                        <a:spcBef>
                          <a:spcPts val="0"/>
                        </a:spcBef>
                        <a:spcAft>
                          <a:spcPts val="0"/>
                        </a:spcAft>
                        <a:buClr>
                          <a:srgbClr val="000000"/>
                        </a:buClr>
                        <a:buSzPts val="1100"/>
                        <a:buFont typeface="Arial"/>
                        <a:buNone/>
                      </a:pPr>
                      <a:endParaRPr sz="1300" dirty="0">
                        <a:latin typeface="Calibri" panose="020F0502020204030204" pitchFamily="34" charset="0"/>
                        <a:ea typeface="Calibri" panose="020F0502020204030204" pitchFamily="34" charset="0"/>
                        <a:cs typeface="Calibri" panose="020F0502020204030204" pitchFamily="34" charset="0"/>
                        <a:sym typeface="Times New Roman"/>
                      </a:endParaRPr>
                    </a:p>
                    <a:p>
                      <a:pPr marL="0" marR="0" lvl="0" indent="0" algn="l" rtl="0">
                        <a:lnSpc>
                          <a:spcPct val="115000"/>
                        </a:lnSpc>
                        <a:spcBef>
                          <a:spcPts val="0"/>
                        </a:spcBef>
                        <a:spcAft>
                          <a:spcPts val="0"/>
                        </a:spcAft>
                        <a:buClr>
                          <a:srgbClr val="000000"/>
                        </a:buClr>
                        <a:buSzPts val="1100"/>
                        <a:buFont typeface="Arial"/>
                        <a:buNone/>
                      </a:pPr>
                      <a:endParaRPr sz="1300" dirty="0">
                        <a:latin typeface="Calibri" panose="020F0502020204030204" pitchFamily="34" charset="0"/>
                        <a:ea typeface="Calibri" panose="020F0502020204030204" pitchFamily="34" charset="0"/>
                        <a:cs typeface="Calibri" panose="020F0502020204030204" pitchFamily="34" charset="0"/>
                        <a:sym typeface="Times New Roman"/>
                      </a:endParaRPr>
                    </a:p>
                    <a:p>
                      <a:pPr marL="0" lvl="0" indent="0" algn="l" rtl="0">
                        <a:lnSpc>
                          <a:spcPct val="115000"/>
                        </a:lnSpc>
                        <a:spcBef>
                          <a:spcPts val="0"/>
                        </a:spcBef>
                        <a:spcAft>
                          <a:spcPts val="0"/>
                        </a:spcAft>
                        <a:buClr>
                          <a:schemeClr val="dk1"/>
                        </a:buClr>
                        <a:buSzPts val="1400"/>
                        <a:buFont typeface="Arial"/>
                        <a:buNone/>
                      </a:pPr>
                      <a:r>
                        <a:rPr lang="en-US" sz="1300" dirty="0">
                          <a:solidFill>
                            <a:schemeClr val="dk1"/>
                          </a:solidFill>
                          <a:latin typeface="Calibri" panose="020F0502020204030204" pitchFamily="34" charset="0"/>
                          <a:ea typeface="Calibri" panose="020F0502020204030204" pitchFamily="34" charset="0"/>
                          <a:cs typeface="Calibri" panose="020F0502020204030204" pitchFamily="34" charset="0"/>
                        </a:rPr>
                        <a:t>A Comparative Study of Machine Learning Techniques for Melanoma Classification</a:t>
                      </a:r>
                      <a:endParaRPr sz="13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100"/>
                        <a:buFont typeface="Arial"/>
                        <a:buNone/>
                      </a:pPr>
                      <a:endParaRPr sz="1300" dirty="0">
                        <a:latin typeface="Calibri" panose="020F0502020204030204" pitchFamily="34" charset="0"/>
                        <a:ea typeface="Calibri" panose="020F0502020204030204" pitchFamily="34" charset="0"/>
                        <a:cs typeface="Calibri" panose="020F0502020204030204" pitchFamily="34" charset="0"/>
                        <a:sym typeface="Times New Roman"/>
                      </a:endParaRPr>
                    </a:p>
                  </a:txBody>
                  <a:tcPr marL="68575" marR="68575" marT="91425" marB="91425"/>
                </a:tc>
                <a:tc>
                  <a:txBody>
                    <a:bodyPr/>
                    <a:lstStyle/>
                    <a:p>
                      <a:pPr marL="0" marR="0" lvl="0" indent="0" algn="l" rtl="0">
                        <a:lnSpc>
                          <a:spcPct val="115000"/>
                        </a:lnSpc>
                        <a:spcBef>
                          <a:spcPts val="1200"/>
                        </a:spcBef>
                        <a:spcAft>
                          <a:spcPts val="0"/>
                        </a:spcAft>
                        <a:buClr>
                          <a:srgbClr val="000000"/>
                        </a:buClr>
                        <a:buSzPts val="1400"/>
                        <a:buFont typeface="Arial"/>
                        <a:buNone/>
                      </a:pPr>
                      <a:r>
                        <a:rPr lang="en-US" sz="1300" dirty="0">
                          <a:latin typeface="Calibri" panose="020F0502020204030204" pitchFamily="34" charset="0"/>
                          <a:ea typeface="Calibri" panose="020F0502020204030204" pitchFamily="34" charset="0"/>
                          <a:cs typeface="Calibri" panose="020F0502020204030204" pitchFamily="34" charset="0"/>
                        </a:rPr>
                        <a:t>Convolutional Neural Networks (CNNs)</a:t>
                      </a:r>
                      <a:endParaRPr sz="13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1200"/>
                        </a:spcBef>
                        <a:spcAft>
                          <a:spcPts val="0"/>
                        </a:spcAft>
                        <a:buClr>
                          <a:srgbClr val="000000"/>
                        </a:buClr>
                        <a:buSzPts val="1400"/>
                        <a:buFont typeface="Arial"/>
                        <a:buNone/>
                      </a:pPr>
                      <a:endParaRPr sz="13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1200"/>
                        </a:spcBef>
                        <a:spcAft>
                          <a:spcPts val="0"/>
                        </a:spcAft>
                        <a:buClr>
                          <a:srgbClr val="000000"/>
                        </a:buClr>
                        <a:buSzPts val="1400"/>
                        <a:buFont typeface="Arial"/>
                        <a:buNone/>
                      </a:pPr>
                      <a:endParaRPr sz="1300" dirty="0">
                        <a:latin typeface="Calibri" panose="020F0502020204030204" pitchFamily="34" charset="0"/>
                        <a:ea typeface="Calibri" panose="020F0502020204030204" pitchFamily="34" charset="0"/>
                        <a:cs typeface="Calibri" panose="020F0502020204030204" pitchFamily="34" charset="0"/>
                      </a:endParaRPr>
                    </a:p>
                    <a:p>
                      <a:pPr marL="0" lvl="0" indent="0" algn="l" rtl="0">
                        <a:lnSpc>
                          <a:spcPct val="115000"/>
                        </a:lnSpc>
                        <a:spcBef>
                          <a:spcPts val="1200"/>
                        </a:spcBef>
                        <a:spcAft>
                          <a:spcPts val="0"/>
                        </a:spcAft>
                        <a:buClr>
                          <a:schemeClr val="dk1"/>
                        </a:buClr>
                        <a:buSzPts val="1400"/>
                        <a:buFont typeface="Arial"/>
                        <a:buNone/>
                      </a:pPr>
                      <a:endParaRPr sz="1300" dirty="0">
                        <a:latin typeface="Calibri" panose="020F0502020204030204" pitchFamily="34" charset="0"/>
                        <a:ea typeface="Calibri" panose="020F0502020204030204" pitchFamily="34" charset="0"/>
                        <a:cs typeface="Calibri" panose="020F0502020204030204" pitchFamily="34" charset="0"/>
                      </a:endParaRPr>
                    </a:p>
                    <a:p>
                      <a:pPr marL="0" lvl="0" indent="0" algn="l" rtl="0">
                        <a:lnSpc>
                          <a:spcPct val="115000"/>
                        </a:lnSpc>
                        <a:spcBef>
                          <a:spcPts val="1200"/>
                        </a:spcBef>
                        <a:spcAft>
                          <a:spcPts val="0"/>
                        </a:spcAft>
                        <a:buClr>
                          <a:schemeClr val="dk1"/>
                        </a:buClr>
                        <a:buSzPts val="1400"/>
                        <a:buFont typeface="Arial"/>
                        <a:buNone/>
                      </a:pPr>
                      <a:r>
                        <a:rPr lang="en-US" sz="1300" dirty="0">
                          <a:solidFill>
                            <a:schemeClr val="dk1"/>
                          </a:solidFill>
                          <a:latin typeface="Calibri" panose="020F0502020204030204" pitchFamily="34" charset="0"/>
                          <a:ea typeface="Calibri" panose="020F0502020204030204" pitchFamily="34" charset="0"/>
                          <a:cs typeface="Calibri" panose="020F0502020204030204" pitchFamily="34" charset="0"/>
                        </a:rPr>
                        <a:t>CNN, SVM, Random Forest</a:t>
                      </a:r>
                      <a:endParaRPr sz="13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1200"/>
                        </a:spcBef>
                        <a:spcAft>
                          <a:spcPts val="0"/>
                        </a:spcAft>
                        <a:buClr>
                          <a:srgbClr val="000000"/>
                        </a:buClr>
                        <a:buSzPts val="1400"/>
                        <a:buFont typeface="Arial"/>
                        <a:buNone/>
                      </a:pPr>
                      <a:endParaRPr sz="1300" dirty="0">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US" sz="1300" dirty="0" err="1">
                          <a:latin typeface="Calibri" panose="020F0502020204030204" pitchFamily="34" charset="0"/>
                          <a:ea typeface="Calibri" panose="020F0502020204030204" pitchFamily="34" charset="0"/>
                          <a:cs typeface="Calibri" panose="020F0502020204030204" pitchFamily="34" charset="0"/>
                        </a:rPr>
                        <a:t>Dermoscopic</a:t>
                      </a:r>
                      <a:r>
                        <a:rPr lang="en-US" sz="1300" dirty="0">
                          <a:latin typeface="Calibri" panose="020F0502020204030204" pitchFamily="34" charset="0"/>
                          <a:ea typeface="Calibri" panose="020F0502020204030204" pitchFamily="34" charset="0"/>
                          <a:cs typeface="Calibri" panose="020F0502020204030204" pitchFamily="34" charset="0"/>
                        </a:rPr>
                        <a:t> Image Data</a:t>
                      </a:r>
                      <a:endParaRPr sz="13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3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3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3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3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3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lang="en-IN" sz="13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300" dirty="0">
                        <a:latin typeface="Calibri" panose="020F0502020204030204" pitchFamily="34" charset="0"/>
                        <a:ea typeface="Calibri" panose="020F0502020204030204" pitchFamily="34" charset="0"/>
                        <a:cs typeface="Calibri" panose="020F0502020204030204" pitchFamily="34" charset="0"/>
                      </a:endParaRPr>
                    </a:p>
                    <a:p>
                      <a:pPr marL="0" lvl="0" indent="0" algn="l" rtl="0">
                        <a:lnSpc>
                          <a:spcPct val="115000"/>
                        </a:lnSpc>
                        <a:spcBef>
                          <a:spcPts val="0"/>
                        </a:spcBef>
                        <a:spcAft>
                          <a:spcPts val="0"/>
                        </a:spcAft>
                        <a:buClr>
                          <a:schemeClr val="dk1"/>
                        </a:buClr>
                        <a:buSzPts val="1400"/>
                        <a:buFont typeface="Arial"/>
                        <a:buNone/>
                      </a:pPr>
                      <a:r>
                        <a:rPr lang="en-US" sz="1300" dirty="0" err="1">
                          <a:solidFill>
                            <a:schemeClr val="dk1"/>
                          </a:solidFill>
                          <a:latin typeface="Calibri" panose="020F0502020204030204" pitchFamily="34" charset="0"/>
                          <a:ea typeface="Calibri" panose="020F0502020204030204" pitchFamily="34" charset="0"/>
                          <a:cs typeface="Calibri" panose="020F0502020204030204" pitchFamily="34" charset="0"/>
                        </a:rPr>
                        <a:t>Dermoscopic</a:t>
                      </a:r>
                      <a:r>
                        <a:rPr lang="en-US" sz="1300" dirty="0">
                          <a:solidFill>
                            <a:schemeClr val="dk1"/>
                          </a:solidFill>
                          <a:latin typeface="Calibri" panose="020F0502020204030204" pitchFamily="34" charset="0"/>
                          <a:ea typeface="Calibri" panose="020F0502020204030204" pitchFamily="34" charset="0"/>
                          <a:cs typeface="Calibri" panose="020F0502020204030204" pitchFamily="34" charset="0"/>
                        </a:rPr>
                        <a:t> Image Data</a:t>
                      </a:r>
                      <a:endParaRPr sz="13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300" dirty="0">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tc>
                <a:tc>
                  <a:txBody>
                    <a:bodyPr/>
                    <a:lstStyle/>
                    <a:p>
                      <a:pPr marL="0" marR="0" lvl="0" indent="0" algn="l" rtl="0">
                        <a:lnSpc>
                          <a:spcPct val="115000"/>
                        </a:lnSpc>
                        <a:spcBef>
                          <a:spcPts val="1200"/>
                        </a:spcBef>
                        <a:spcAft>
                          <a:spcPts val="0"/>
                        </a:spcAft>
                        <a:buClr>
                          <a:srgbClr val="000000"/>
                        </a:buClr>
                        <a:buSzPts val="1400"/>
                        <a:buFont typeface="Arial"/>
                        <a:buNone/>
                      </a:pPr>
                      <a:r>
                        <a:rPr lang="en-US" sz="1300" dirty="0">
                          <a:latin typeface="Calibri" panose="020F0502020204030204" pitchFamily="34" charset="0"/>
                          <a:ea typeface="Calibri" panose="020F0502020204030204" pitchFamily="34" charset="0"/>
                          <a:cs typeface="Calibri" panose="020F0502020204030204" pitchFamily="34" charset="0"/>
                        </a:rPr>
                        <a:t>Skin Cancer Detection</a:t>
                      </a:r>
                      <a:endParaRPr sz="13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1200"/>
                        </a:spcBef>
                        <a:spcAft>
                          <a:spcPts val="0"/>
                        </a:spcAft>
                        <a:buClr>
                          <a:srgbClr val="000000"/>
                        </a:buClr>
                        <a:buSzPts val="1400"/>
                        <a:buFont typeface="Arial"/>
                        <a:buNone/>
                      </a:pPr>
                      <a:endParaRPr sz="13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1200"/>
                        </a:spcBef>
                        <a:spcAft>
                          <a:spcPts val="0"/>
                        </a:spcAft>
                        <a:buClr>
                          <a:srgbClr val="000000"/>
                        </a:buClr>
                        <a:buSzPts val="1400"/>
                        <a:buFont typeface="Arial"/>
                        <a:buNone/>
                      </a:pPr>
                      <a:endParaRPr sz="13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1200"/>
                        </a:spcBef>
                        <a:spcAft>
                          <a:spcPts val="0"/>
                        </a:spcAft>
                        <a:buClr>
                          <a:srgbClr val="000000"/>
                        </a:buClr>
                        <a:buSzPts val="1400"/>
                        <a:buFont typeface="Arial"/>
                        <a:buNone/>
                      </a:pPr>
                      <a:endParaRPr sz="1300" dirty="0">
                        <a:latin typeface="Calibri" panose="020F0502020204030204" pitchFamily="34" charset="0"/>
                        <a:ea typeface="Calibri" panose="020F0502020204030204" pitchFamily="34" charset="0"/>
                        <a:cs typeface="Calibri" panose="020F0502020204030204" pitchFamily="34" charset="0"/>
                      </a:endParaRPr>
                    </a:p>
                    <a:p>
                      <a:pPr marL="0" lvl="0" indent="0" algn="l" rtl="0">
                        <a:lnSpc>
                          <a:spcPct val="115000"/>
                        </a:lnSpc>
                        <a:spcBef>
                          <a:spcPts val="0"/>
                        </a:spcBef>
                        <a:spcAft>
                          <a:spcPts val="0"/>
                        </a:spcAft>
                        <a:buClr>
                          <a:schemeClr val="dk1"/>
                        </a:buClr>
                        <a:buSzPts val="1400"/>
                        <a:buFont typeface="Arial"/>
                        <a:buNone/>
                      </a:pPr>
                      <a:endParaRPr lang="en-IN" sz="13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lvl="0" indent="0" algn="l" rtl="0">
                        <a:lnSpc>
                          <a:spcPct val="115000"/>
                        </a:lnSpc>
                        <a:spcBef>
                          <a:spcPts val="0"/>
                        </a:spcBef>
                        <a:spcAft>
                          <a:spcPts val="0"/>
                        </a:spcAft>
                        <a:buClr>
                          <a:schemeClr val="dk1"/>
                        </a:buClr>
                        <a:buSzPts val="1400"/>
                        <a:buFont typeface="Arial"/>
                        <a:buNone/>
                      </a:pPr>
                      <a:endParaRPr sz="13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lvl="0" indent="0" algn="l" rtl="0">
                        <a:lnSpc>
                          <a:spcPct val="115000"/>
                        </a:lnSpc>
                        <a:spcBef>
                          <a:spcPts val="0"/>
                        </a:spcBef>
                        <a:spcAft>
                          <a:spcPts val="0"/>
                        </a:spcAft>
                        <a:buClr>
                          <a:schemeClr val="dk1"/>
                        </a:buClr>
                        <a:buSzPts val="1400"/>
                        <a:buFont typeface="Arial"/>
                        <a:buNone/>
                      </a:pPr>
                      <a:r>
                        <a:rPr lang="en-US" sz="1300" dirty="0">
                          <a:solidFill>
                            <a:schemeClr val="dk1"/>
                          </a:solidFill>
                          <a:latin typeface="Calibri" panose="020F0502020204030204" pitchFamily="34" charset="0"/>
                          <a:ea typeface="Calibri" panose="020F0502020204030204" pitchFamily="34" charset="0"/>
                          <a:cs typeface="Calibri" panose="020F0502020204030204" pitchFamily="34" charset="0"/>
                        </a:rPr>
                        <a:t>Skin Cancer Detection</a:t>
                      </a:r>
                      <a:endParaRPr sz="13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1200"/>
                        </a:spcBef>
                        <a:spcAft>
                          <a:spcPts val="0"/>
                        </a:spcAft>
                        <a:buClr>
                          <a:srgbClr val="000000"/>
                        </a:buClr>
                        <a:buSzPts val="1400"/>
                        <a:buFont typeface="Arial"/>
                        <a:buNone/>
                      </a:pPr>
                      <a:endParaRPr sz="1300" dirty="0">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tc>
                <a:tc>
                  <a:txBody>
                    <a:bodyPr/>
                    <a:lstStyle/>
                    <a:p>
                      <a:pPr marL="0" lvl="0" indent="0" algn="l" rtl="0">
                        <a:spcBef>
                          <a:spcPts val="0"/>
                        </a:spcBef>
                        <a:spcAft>
                          <a:spcPts val="0"/>
                        </a:spcAft>
                        <a:buNone/>
                      </a:pPr>
                      <a:r>
                        <a:rPr lang="en-US" sz="1300" b="1" dirty="0">
                          <a:latin typeface="Calibri" panose="020F0502020204030204" pitchFamily="34" charset="0"/>
                          <a:ea typeface="Calibri" panose="020F0502020204030204" pitchFamily="34" charset="0"/>
                          <a:cs typeface="Calibri" panose="020F0502020204030204" pitchFamily="34" charset="0"/>
                        </a:rPr>
                        <a:t>Advantage:</a:t>
                      </a:r>
                      <a:r>
                        <a:rPr lang="en-US" sz="1300" dirty="0">
                          <a:latin typeface="Calibri" panose="020F0502020204030204" pitchFamily="34" charset="0"/>
                          <a:ea typeface="Calibri" panose="020F0502020204030204" pitchFamily="34" charset="0"/>
                          <a:cs typeface="Calibri" panose="020F0502020204030204" pitchFamily="34" charset="0"/>
                        </a:rPr>
                        <a:t> Higher accuracy and reduced false positives.</a:t>
                      </a:r>
                      <a:endParaRPr sz="1300" dirty="0">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300" b="1" dirty="0">
                          <a:latin typeface="Calibri" panose="020F0502020204030204" pitchFamily="34" charset="0"/>
                          <a:ea typeface="Calibri" panose="020F0502020204030204" pitchFamily="34" charset="0"/>
                          <a:cs typeface="Calibri" panose="020F0502020204030204" pitchFamily="34" charset="0"/>
                        </a:rPr>
                        <a:t>Disadvantage:</a:t>
                      </a:r>
                      <a:r>
                        <a:rPr lang="en-US" sz="1300" dirty="0">
                          <a:latin typeface="Calibri" panose="020F0502020204030204" pitchFamily="34" charset="0"/>
                          <a:ea typeface="Calibri" panose="020F0502020204030204" pitchFamily="34" charset="0"/>
                          <a:cs typeface="Calibri" panose="020F0502020204030204" pitchFamily="34" charset="0"/>
                        </a:rPr>
                        <a:t> Limited by small, imbalanced datasets.</a:t>
                      </a:r>
                      <a:endParaRPr sz="1300" dirty="0">
                        <a:latin typeface="Calibri" panose="020F0502020204030204" pitchFamily="34" charset="0"/>
                        <a:ea typeface="Calibri" panose="020F0502020204030204" pitchFamily="34" charset="0"/>
                        <a:cs typeface="Calibri" panose="020F0502020204030204" pitchFamily="34" charset="0"/>
                      </a:endParaRPr>
                    </a:p>
                    <a:p>
                      <a:pPr marL="0" lvl="0" indent="0" algn="just" rtl="0">
                        <a:lnSpc>
                          <a:spcPct val="115000"/>
                        </a:lnSpc>
                        <a:spcBef>
                          <a:spcPts val="0"/>
                        </a:spcBef>
                        <a:spcAft>
                          <a:spcPts val="0"/>
                        </a:spcAft>
                        <a:buClr>
                          <a:schemeClr val="dk1"/>
                        </a:buClr>
                        <a:buSzPts val="1100"/>
                        <a:buFont typeface="Arial"/>
                        <a:buNone/>
                      </a:pPr>
                      <a:r>
                        <a:rPr lang="en-US" sz="1300" b="1" dirty="0">
                          <a:solidFill>
                            <a:schemeClr val="dk1"/>
                          </a:solidFill>
                          <a:latin typeface="Calibri" panose="020F0502020204030204" pitchFamily="34" charset="0"/>
                          <a:ea typeface="Calibri" panose="020F0502020204030204" pitchFamily="34" charset="0"/>
                          <a:cs typeface="Calibri" panose="020F0502020204030204" pitchFamily="34" charset="0"/>
                        </a:rPr>
                        <a:t>Advantage:</a:t>
                      </a:r>
                      <a:r>
                        <a:rPr lang="en-US" sz="1300" dirty="0">
                          <a:solidFill>
                            <a:schemeClr val="dk1"/>
                          </a:solidFill>
                          <a:latin typeface="Calibri" panose="020F0502020204030204" pitchFamily="34" charset="0"/>
                          <a:ea typeface="Calibri" panose="020F0502020204030204" pitchFamily="34" charset="0"/>
                          <a:cs typeface="Calibri" panose="020F0502020204030204" pitchFamily="34" charset="0"/>
                        </a:rPr>
                        <a:t> CNN achieved higher precision and recall.</a:t>
                      </a:r>
                      <a:endParaRPr sz="13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lvl="0" indent="0" algn="just" rtl="0">
                        <a:lnSpc>
                          <a:spcPct val="115000"/>
                        </a:lnSpc>
                        <a:spcBef>
                          <a:spcPts val="0"/>
                        </a:spcBef>
                        <a:spcAft>
                          <a:spcPts val="0"/>
                        </a:spcAft>
                        <a:buClr>
                          <a:schemeClr val="dk1"/>
                        </a:buClr>
                        <a:buSzPts val="1400"/>
                        <a:buFont typeface="Arial"/>
                        <a:buNone/>
                      </a:pPr>
                      <a:r>
                        <a:rPr lang="en-US" sz="1300" b="1" dirty="0">
                          <a:solidFill>
                            <a:schemeClr val="dk1"/>
                          </a:solidFill>
                          <a:latin typeface="Calibri" panose="020F0502020204030204" pitchFamily="34" charset="0"/>
                          <a:ea typeface="Calibri" panose="020F0502020204030204" pitchFamily="34" charset="0"/>
                          <a:cs typeface="Calibri" panose="020F0502020204030204" pitchFamily="34" charset="0"/>
                        </a:rPr>
                        <a:t>Disadvantage:</a:t>
                      </a:r>
                      <a:r>
                        <a:rPr lang="en-US" sz="1300" dirty="0">
                          <a:solidFill>
                            <a:schemeClr val="dk1"/>
                          </a:solidFill>
                          <a:latin typeface="Calibri" panose="020F0502020204030204" pitchFamily="34" charset="0"/>
                          <a:ea typeface="Calibri" panose="020F0502020204030204" pitchFamily="34" charset="0"/>
                          <a:cs typeface="Calibri" panose="020F0502020204030204" pitchFamily="34" charset="0"/>
                        </a:rPr>
                        <a:t> High computational cost for CNN, SVM underperformed on large datasets.</a:t>
                      </a:r>
                      <a:endParaRPr sz="13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300" dirty="0">
                        <a:latin typeface="Calibri" panose="020F0502020204030204" pitchFamily="34" charset="0"/>
                        <a:ea typeface="Calibri" panose="020F0502020204030204" pitchFamily="34" charset="0"/>
                        <a:cs typeface="Calibri" panose="020F0502020204030204" pitchFamily="34" charset="0"/>
                      </a:endParaRPr>
                    </a:p>
                  </a:txBody>
                  <a:tcPr marL="91425" marR="91425" marT="91425" marB="91425"/>
                </a:tc>
                <a:tc>
                  <a:txBody>
                    <a:bodyPr/>
                    <a:lstStyle/>
                    <a:p>
                      <a:pPr marL="0" lvl="0" indent="0" algn="l" rtl="0">
                        <a:spcBef>
                          <a:spcPts val="0"/>
                        </a:spcBef>
                        <a:spcAft>
                          <a:spcPts val="0"/>
                        </a:spcAft>
                        <a:buNone/>
                      </a:pPr>
                      <a:r>
                        <a:rPr lang="en-US" sz="1300" dirty="0">
                          <a:latin typeface="Calibri" panose="020F0502020204030204" pitchFamily="34" charset="0"/>
                          <a:ea typeface="Calibri" panose="020F0502020204030204" pitchFamily="34" charset="0"/>
                          <a:cs typeface="Calibri" panose="020F0502020204030204" pitchFamily="34" charset="0"/>
                        </a:rPr>
                        <a:t>Incorporate </a:t>
                      </a:r>
                      <a:r>
                        <a:rPr lang="en-US" sz="1300" b="1" dirty="0">
                          <a:latin typeface="Calibri" panose="020F0502020204030204" pitchFamily="34" charset="0"/>
                          <a:ea typeface="Calibri" panose="020F0502020204030204" pitchFamily="34" charset="0"/>
                          <a:cs typeface="Calibri" panose="020F0502020204030204" pitchFamily="34" charset="0"/>
                        </a:rPr>
                        <a:t>transfer learning</a:t>
                      </a:r>
                      <a:r>
                        <a:rPr lang="en-US" sz="1300" dirty="0">
                          <a:latin typeface="Calibri" panose="020F0502020204030204" pitchFamily="34" charset="0"/>
                          <a:ea typeface="Calibri" panose="020F0502020204030204" pitchFamily="34" charset="0"/>
                          <a:cs typeface="Calibri" panose="020F0502020204030204" pitchFamily="34" charset="0"/>
                        </a:rPr>
                        <a:t> to improve performance with smaller datasets</a:t>
                      </a:r>
                      <a:endParaRPr sz="1300" dirty="0">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300" dirty="0">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300" dirty="0">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300" dirty="0">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300" dirty="0">
                        <a:latin typeface="Calibri" panose="020F0502020204030204" pitchFamily="34" charset="0"/>
                        <a:ea typeface="Calibri" panose="020F0502020204030204" pitchFamily="34" charset="0"/>
                        <a:cs typeface="Calibri" panose="020F0502020204030204" pitchFamily="34" charset="0"/>
                      </a:endParaRPr>
                    </a:p>
                    <a:p>
                      <a:pPr marL="0" lvl="0" indent="0" algn="just" rtl="0">
                        <a:lnSpc>
                          <a:spcPct val="115000"/>
                        </a:lnSpc>
                        <a:spcBef>
                          <a:spcPts val="0"/>
                        </a:spcBef>
                        <a:spcAft>
                          <a:spcPts val="0"/>
                        </a:spcAft>
                        <a:buClr>
                          <a:schemeClr val="dk1"/>
                        </a:buClr>
                        <a:buSzPts val="1400"/>
                        <a:buFont typeface="Arial"/>
                        <a:buNone/>
                      </a:pPr>
                      <a:r>
                        <a:rPr lang="en-US" sz="1300" dirty="0">
                          <a:solidFill>
                            <a:schemeClr val="dk1"/>
                          </a:solidFill>
                          <a:latin typeface="Calibri" panose="020F0502020204030204" pitchFamily="34" charset="0"/>
                          <a:ea typeface="Calibri" panose="020F0502020204030204" pitchFamily="34" charset="0"/>
                          <a:cs typeface="Calibri" panose="020F0502020204030204" pitchFamily="34" charset="0"/>
                        </a:rPr>
                        <a:t> Develop </a:t>
                      </a:r>
                      <a:r>
                        <a:rPr lang="en-US" sz="1300" b="1" dirty="0">
                          <a:solidFill>
                            <a:schemeClr val="dk1"/>
                          </a:solidFill>
                          <a:latin typeface="Calibri" panose="020F0502020204030204" pitchFamily="34" charset="0"/>
                          <a:ea typeface="Calibri" panose="020F0502020204030204" pitchFamily="34" charset="0"/>
                          <a:cs typeface="Calibri" panose="020F0502020204030204" pitchFamily="34" charset="0"/>
                        </a:rPr>
                        <a:t>hybrid models</a:t>
                      </a:r>
                      <a:r>
                        <a:rPr lang="en-US" sz="1300" dirty="0">
                          <a:solidFill>
                            <a:schemeClr val="dk1"/>
                          </a:solidFill>
                          <a:latin typeface="Calibri" panose="020F0502020204030204" pitchFamily="34" charset="0"/>
                          <a:ea typeface="Calibri" panose="020F0502020204030204" pitchFamily="34" charset="0"/>
                          <a:cs typeface="Calibri" panose="020F0502020204030204" pitchFamily="34" charset="0"/>
                        </a:rPr>
                        <a:t> combining CNN with feature extraction techniques to improve accuracy.</a:t>
                      </a:r>
                      <a:endParaRPr sz="13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300" dirty="0">
                          <a:latin typeface="Calibri" panose="020F0502020204030204" pitchFamily="34" charset="0"/>
                          <a:ea typeface="Calibri" panose="020F0502020204030204" pitchFamily="34" charset="0"/>
                          <a:cs typeface="Calibri" panose="020F0502020204030204" pitchFamily="34" charset="0"/>
                        </a:rPr>
                        <a:t>.</a:t>
                      </a:r>
                      <a:endParaRPr sz="1300" dirty="0">
                        <a:latin typeface="Calibri" panose="020F0502020204030204" pitchFamily="34" charset="0"/>
                        <a:ea typeface="Calibri" panose="020F0502020204030204" pitchFamily="34" charset="0"/>
                        <a:cs typeface="Calibri" panose="020F0502020204030204" pitchFamily="34" charset="0"/>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7"/>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Summary of Literature Review</a:t>
            </a:r>
            <a:endParaRPr/>
          </a:p>
        </p:txBody>
      </p:sp>
      <p:graphicFrame>
        <p:nvGraphicFramePr>
          <p:cNvPr id="176" name="Google Shape;176;p27"/>
          <p:cNvGraphicFramePr/>
          <p:nvPr/>
        </p:nvGraphicFramePr>
        <p:xfrm>
          <a:off x="184275" y="1184675"/>
          <a:ext cx="8421450" cy="5628232"/>
        </p:xfrm>
        <a:graphic>
          <a:graphicData uri="http://schemas.openxmlformats.org/drawingml/2006/table">
            <a:tbl>
              <a:tblPr>
                <a:noFill/>
              </a:tblPr>
              <a:tblGrid>
                <a:gridCol w="1403575">
                  <a:extLst>
                    <a:ext uri="{9D8B030D-6E8A-4147-A177-3AD203B41FA5}">
                      <a16:colId xmlns:a16="http://schemas.microsoft.com/office/drawing/2014/main" val="20000"/>
                    </a:ext>
                  </a:extLst>
                </a:gridCol>
                <a:gridCol w="1403575">
                  <a:extLst>
                    <a:ext uri="{9D8B030D-6E8A-4147-A177-3AD203B41FA5}">
                      <a16:colId xmlns:a16="http://schemas.microsoft.com/office/drawing/2014/main" val="20001"/>
                    </a:ext>
                  </a:extLst>
                </a:gridCol>
                <a:gridCol w="1403575">
                  <a:extLst>
                    <a:ext uri="{9D8B030D-6E8A-4147-A177-3AD203B41FA5}">
                      <a16:colId xmlns:a16="http://schemas.microsoft.com/office/drawing/2014/main" val="20002"/>
                    </a:ext>
                  </a:extLst>
                </a:gridCol>
                <a:gridCol w="1403575">
                  <a:extLst>
                    <a:ext uri="{9D8B030D-6E8A-4147-A177-3AD203B41FA5}">
                      <a16:colId xmlns:a16="http://schemas.microsoft.com/office/drawing/2014/main" val="20003"/>
                    </a:ext>
                  </a:extLst>
                </a:gridCol>
                <a:gridCol w="1403575">
                  <a:extLst>
                    <a:ext uri="{9D8B030D-6E8A-4147-A177-3AD203B41FA5}">
                      <a16:colId xmlns:a16="http://schemas.microsoft.com/office/drawing/2014/main" val="20004"/>
                    </a:ext>
                  </a:extLst>
                </a:gridCol>
                <a:gridCol w="1403575">
                  <a:extLst>
                    <a:ext uri="{9D8B030D-6E8A-4147-A177-3AD203B41FA5}">
                      <a16:colId xmlns:a16="http://schemas.microsoft.com/office/drawing/2014/main" val="20005"/>
                    </a:ext>
                  </a:extLst>
                </a:gridCol>
              </a:tblGrid>
              <a:tr h="620525">
                <a:tc>
                  <a:txBody>
                    <a:bodyPr/>
                    <a:lstStyle/>
                    <a:p>
                      <a:pPr marL="0" marR="0" lvl="0" indent="0" algn="ctr" rtl="0">
                        <a:lnSpc>
                          <a:spcPct val="115000"/>
                        </a:lnSpc>
                        <a:spcBef>
                          <a:spcPts val="0"/>
                        </a:spcBef>
                        <a:spcAft>
                          <a:spcPts val="0"/>
                        </a:spcAft>
                        <a:buClr>
                          <a:srgbClr val="000000"/>
                        </a:buClr>
                        <a:buSzPts val="1100"/>
                        <a:buFont typeface="Arial"/>
                        <a:buNone/>
                      </a:pPr>
                      <a:r>
                        <a:rPr lang="en-US" sz="1200" b="1" u="none" strike="noStrike" cap="none">
                          <a:latin typeface="Calibri" panose="020F0502020204030204" pitchFamily="34" charset="0"/>
                          <a:ea typeface="Calibri" panose="020F0502020204030204" pitchFamily="34" charset="0"/>
                          <a:cs typeface="Calibri" panose="020F0502020204030204" pitchFamily="34" charset="0"/>
                        </a:rPr>
                        <a:t>Research</a:t>
                      </a:r>
                      <a:endParaRPr sz="1200" b="1" u="none" strike="noStrike" cap="none">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solidFill>
                      <a:srgbClr val="CCCCCC"/>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200" b="1" u="none" strike="noStrike" cap="none">
                          <a:latin typeface="Calibri" panose="020F0502020204030204" pitchFamily="34" charset="0"/>
                          <a:ea typeface="Calibri" panose="020F0502020204030204" pitchFamily="34" charset="0"/>
                          <a:cs typeface="Calibri" panose="020F0502020204030204" pitchFamily="34" charset="0"/>
                        </a:rPr>
                        <a:t>Technique</a:t>
                      </a:r>
                      <a:endParaRPr sz="1200" b="1" u="none" strike="noStrike" cap="none">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solidFill>
                      <a:srgbClr val="CCCCCC"/>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200" b="1" u="none" strike="noStrike" cap="none">
                          <a:latin typeface="Calibri" panose="020F0502020204030204" pitchFamily="34" charset="0"/>
                          <a:ea typeface="Calibri" panose="020F0502020204030204" pitchFamily="34" charset="0"/>
                          <a:cs typeface="Calibri" panose="020F0502020204030204" pitchFamily="34" charset="0"/>
                        </a:rPr>
                        <a:t>Features Used</a:t>
                      </a:r>
                      <a:endParaRPr sz="1200" b="1" u="none" strike="noStrike" cap="none">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solidFill>
                      <a:srgbClr val="CCCCCC"/>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200" b="1" u="none" strike="noStrike" cap="none">
                          <a:latin typeface="Calibri" panose="020F0502020204030204" pitchFamily="34" charset="0"/>
                          <a:ea typeface="Calibri" panose="020F0502020204030204" pitchFamily="34" charset="0"/>
                          <a:cs typeface="Calibri" panose="020F0502020204030204" pitchFamily="34" charset="0"/>
                        </a:rPr>
                        <a:t>Domain</a:t>
                      </a:r>
                      <a:endParaRPr sz="1200" b="1" u="none" strike="noStrike" cap="none">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solidFill>
                      <a:srgbClr val="CCCCCC"/>
                    </a:solidFill>
                  </a:tcPr>
                </a:tc>
                <a:tc>
                  <a:txBody>
                    <a:bodyPr/>
                    <a:lstStyle/>
                    <a:p>
                      <a:pPr marL="228600" marR="0" lvl="0" indent="0" algn="ctr" rtl="0">
                        <a:lnSpc>
                          <a:spcPct val="115000"/>
                        </a:lnSpc>
                        <a:spcBef>
                          <a:spcPts val="0"/>
                        </a:spcBef>
                        <a:spcAft>
                          <a:spcPts val="0"/>
                        </a:spcAft>
                        <a:buClr>
                          <a:srgbClr val="000000"/>
                        </a:buClr>
                        <a:buSzPts val="1100"/>
                        <a:buFont typeface="Arial"/>
                        <a:buNone/>
                      </a:pPr>
                      <a:r>
                        <a:rPr lang="en-US" sz="1200" b="1" u="none" strike="noStrike" cap="none">
                          <a:latin typeface="Calibri" panose="020F0502020204030204" pitchFamily="34" charset="0"/>
                          <a:ea typeface="Calibri" panose="020F0502020204030204" pitchFamily="34" charset="0"/>
                          <a:cs typeface="Calibri" panose="020F0502020204030204" pitchFamily="34" charset="0"/>
                        </a:rPr>
                        <a:t>Disadvantage / Advantage</a:t>
                      </a:r>
                      <a:endParaRPr sz="1200" b="1" u="none" strike="noStrike" cap="none">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solidFill>
                      <a:srgbClr val="CCCCCC"/>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200" b="1" u="none" strike="noStrike" cap="none">
                          <a:latin typeface="Calibri" panose="020F0502020204030204" pitchFamily="34" charset="0"/>
                          <a:ea typeface="Calibri" panose="020F0502020204030204" pitchFamily="34" charset="0"/>
                          <a:cs typeface="Calibri" panose="020F0502020204030204" pitchFamily="34" charset="0"/>
                        </a:rPr>
                        <a:t>Future Direction</a:t>
                      </a:r>
                      <a:endParaRPr sz="1200" b="1" u="none" strike="noStrike" cap="none">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solidFill>
                      <a:srgbClr val="CCCCCC"/>
                    </a:solidFill>
                  </a:tcPr>
                </a:tc>
                <a:extLst>
                  <a:ext uri="{0D108BD9-81ED-4DB2-BD59-A6C34878D82A}">
                    <a16:rowId xmlns:a16="http://schemas.microsoft.com/office/drawing/2014/main" val="10000"/>
                  </a:ext>
                </a:extLst>
              </a:tr>
              <a:tr h="4778162">
                <a:tc>
                  <a:txBody>
                    <a:bodyPr/>
                    <a:lstStyle/>
                    <a:p>
                      <a:pPr marL="0" marR="0" lvl="0" indent="0" algn="l" rtl="0">
                        <a:lnSpc>
                          <a:spcPct val="115000"/>
                        </a:lnSpc>
                        <a:spcBef>
                          <a:spcPts val="0"/>
                        </a:spcBef>
                        <a:spcAft>
                          <a:spcPts val="0"/>
                        </a:spcAft>
                        <a:buClr>
                          <a:srgbClr val="000000"/>
                        </a:buClr>
                        <a:buSzPts val="1400"/>
                        <a:buFont typeface="Arial"/>
                        <a:buNone/>
                      </a:pPr>
                      <a:r>
                        <a:rPr lang="en-US" sz="1200" dirty="0">
                          <a:latin typeface="Calibri" panose="020F0502020204030204" pitchFamily="34" charset="0"/>
                          <a:ea typeface="Calibri" panose="020F0502020204030204" pitchFamily="34" charset="0"/>
                          <a:cs typeface="Calibri" panose="020F0502020204030204" pitchFamily="34" charset="0"/>
                        </a:rPr>
                        <a:t>Enhancing Melanoma Detection with Data Augmentation and Transfer Learning</a:t>
                      </a: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lang="en-IN"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lang="en-IN"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r>
                        <a:rPr lang="en-US" sz="1200" dirty="0">
                          <a:latin typeface="Calibri" panose="020F0502020204030204" pitchFamily="34" charset="0"/>
                          <a:ea typeface="Calibri" panose="020F0502020204030204" pitchFamily="34" charset="0"/>
                          <a:cs typeface="Calibri" panose="020F0502020204030204" pitchFamily="34" charset="0"/>
                        </a:rPr>
                        <a:t>Melanoma Detection Using Transfer Learning and Pre-trained CNNs</a:t>
                      </a:r>
                      <a:endParaRPr sz="1200" dirty="0">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tc>
                <a:tc>
                  <a:txBody>
                    <a:bodyPr/>
                    <a:lstStyle/>
                    <a:p>
                      <a:pPr marL="0" marR="0" lvl="0" indent="0" algn="l" rtl="0">
                        <a:lnSpc>
                          <a:spcPct val="115000"/>
                        </a:lnSpc>
                        <a:spcBef>
                          <a:spcPts val="1200"/>
                        </a:spcBef>
                        <a:spcAft>
                          <a:spcPts val="0"/>
                        </a:spcAft>
                        <a:buClr>
                          <a:srgbClr val="000000"/>
                        </a:buClr>
                        <a:buSzPts val="1400"/>
                        <a:buFont typeface="Arial"/>
                        <a:buNone/>
                      </a:pPr>
                      <a:r>
                        <a:rPr lang="en-US" sz="1200" dirty="0">
                          <a:latin typeface="Calibri" panose="020F0502020204030204" pitchFamily="34" charset="0"/>
                          <a:ea typeface="Calibri" panose="020F0502020204030204" pitchFamily="34" charset="0"/>
                          <a:cs typeface="Calibri" panose="020F0502020204030204" pitchFamily="34" charset="0"/>
                        </a:rPr>
                        <a:t>Data Augmentation, Transfer Learning</a:t>
                      </a: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120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120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120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1200"/>
                        </a:spcBef>
                        <a:spcAft>
                          <a:spcPts val="0"/>
                        </a:spcAft>
                        <a:buClr>
                          <a:srgbClr val="000000"/>
                        </a:buClr>
                        <a:buSzPts val="1400"/>
                        <a:buFont typeface="Arial"/>
                        <a:buNone/>
                      </a:pPr>
                      <a:endParaRPr lang="en-IN"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120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1200"/>
                        </a:spcBef>
                        <a:spcAft>
                          <a:spcPts val="0"/>
                        </a:spcAft>
                        <a:buClr>
                          <a:srgbClr val="000000"/>
                        </a:buClr>
                        <a:buSzPts val="1400"/>
                        <a:buFont typeface="Arial"/>
                        <a:buNone/>
                      </a:pPr>
                      <a:r>
                        <a:rPr lang="en-US" sz="1200" dirty="0">
                          <a:latin typeface="Calibri" panose="020F0502020204030204" pitchFamily="34" charset="0"/>
                          <a:ea typeface="Calibri" panose="020F0502020204030204" pitchFamily="34" charset="0"/>
                          <a:cs typeface="Calibri" panose="020F0502020204030204" pitchFamily="34" charset="0"/>
                        </a:rPr>
                        <a:t>Transfer Learning, Pre-trained CNNs (e.g., VGG16, ResNet50)</a:t>
                      </a:r>
                      <a:endParaRPr sz="1200" dirty="0">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US" sz="1200" dirty="0" err="1">
                          <a:latin typeface="Calibri" panose="020F0502020204030204" pitchFamily="34" charset="0"/>
                          <a:ea typeface="Calibri" panose="020F0502020204030204" pitchFamily="34" charset="0"/>
                          <a:cs typeface="Calibri" panose="020F0502020204030204" pitchFamily="34" charset="0"/>
                        </a:rPr>
                        <a:t>Dermoscopic</a:t>
                      </a:r>
                      <a:r>
                        <a:rPr lang="en-US" sz="1200" dirty="0">
                          <a:latin typeface="Calibri" panose="020F0502020204030204" pitchFamily="34" charset="0"/>
                          <a:ea typeface="Calibri" panose="020F0502020204030204" pitchFamily="34" charset="0"/>
                          <a:cs typeface="Calibri" panose="020F0502020204030204" pitchFamily="34" charset="0"/>
                        </a:rPr>
                        <a:t> Image Data</a:t>
                      </a: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lang="en-IN"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r>
                        <a:rPr lang="en-US" sz="1200" dirty="0" err="1">
                          <a:latin typeface="Calibri" panose="020F0502020204030204" pitchFamily="34" charset="0"/>
                          <a:ea typeface="Calibri" panose="020F0502020204030204" pitchFamily="34" charset="0"/>
                          <a:cs typeface="Calibri" panose="020F0502020204030204" pitchFamily="34" charset="0"/>
                        </a:rPr>
                        <a:t>Dermoscopic</a:t>
                      </a:r>
                      <a:r>
                        <a:rPr lang="en-US" sz="1200" dirty="0">
                          <a:latin typeface="Calibri" panose="020F0502020204030204" pitchFamily="34" charset="0"/>
                          <a:ea typeface="Calibri" panose="020F0502020204030204" pitchFamily="34" charset="0"/>
                          <a:cs typeface="Calibri" panose="020F0502020204030204" pitchFamily="34" charset="0"/>
                        </a:rPr>
                        <a:t> Image Data</a:t>
                      </a:r>
                      <a:endParaRPr sz="1200" dirty="0">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US" sz="1200" dirty="0">
                          <a:latin typeface="Calibri" panose="020F0502020204030204" pitchFamily="34" charset="0"/>
                          <a:ea typeface="Calibri" panose="020F0502020204030204" pitchFamily="34" charset="0"/>
                          <a:cs typeface="Calibri" panose="020F0502020204030204" pitchFamily="34" charset="0"/>
                        </a:rPr>
                        <a:t>Skin Cancer Detection</a:t>
                      </a: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lang="en-IN"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endParaRPr sz="12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15000"/>
                        </a:lnSpc>
                        <a:spcBef>
                          <a:spcPts val="0"/>
                        </a:spcBef>
                        <a:spcAft>
                          <a:spcPts val="0"/>
                        </a:spcAft>
                        <a:buClr>
                          <a:srgbClr val="000000"/>
                        </a:buClr>
                        <a:buSzPts val="1400"/>
                        <a:buFont typeface="Arial"/>
                        <a:buNone/>
                      </a:pPr>
                      <a:r>
                        <a:rPr lang="en-US" sz="1200" dirty="0">
                          <a:latin typeface="Calibri" panose="020F0502020204030204" pitchFamily="34" charset="0"/>
                          <a:ea typeface="Calibri" panose="020F0502020204030204" pitchFamily="34" charset="0"/>
                          <a:cs typeface="Calibri" panose="020F0502020204030204" pitchFamily="34" charset="0"/>
                        </a:rPr>
                        <a:t>Skin Cancer Detection</a:t>
                      </a:r>
                      <a:endParaRPr sz="1200" dirty="0">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tc>
                <a:tc>
                  <a:txBody>
                    <a:bodyPr/>
                    <a:lstStyle/>
                    <a:p>
                      <a:pPr marL="0" lvl="0" indent="0" algn="just" rtl="0">
                        <a:lnSpc>
                          <a:spcPct val="115000"/>
                        </a:lnSpc>
                        <a:spcBef>
                          <a:spcPts val="0"/>
                        </a:spcBef>
                        <a:spcAft>
                          <a:spcPts val="0"/>
                        </a:spcAft>
                        <a:buClr>
                          <a:schemeClr val="dk1"/>
                        </a:buClr>
                        <a:buSzPts val="1100"/>
                        <a:buFont typeface="Arial"/>
                        <a:buNone/>
                      </a:pPr>
                      <a:r>
                        <a:rPr lang="en-US" sz="1200" b="1" dirty="0">
                          <a:solidFill>
                            <a:schemeClr val="dk1"/>
                          </a:solidFill>
                          <a:latin typeface="Calibri" panose="020F0502020204030204" pitchFamily="34" charset="0"/>
                          <a:ea typeface="Calibri" panose="020F0502020204030204" pitchFamily="34" charset="0"/>
                          <a:cs typeface="Calibri" panose="020F0502020204030204" pitchFamily="34" charset="0"/>
                        </a:rPr>
                        <a:t>Advantage:</a:t>
                      </a:r>
                      <a:r>
                        <a:rPr lang="en-US" sz="1200" dirty="0">
                          <a:solidFill>
                            <a:schemeClr val="dk1"/>
                          </a:solidFill>
                          <a:latin typeface="Calibri" panose="020F0502020204030204" pitchFamily="34" charset="0"/>
                          <a:ea typeface="Calibri" panose="020F0502020204030204" pitchFamily="34" charset="0"/>
                          <a:cs typeface="Calibri" panose="020F0502020204030204" pitchFamily="34" charset="0"/>
                        </a:rPr>
                        <a:t> Data augmentation improved generalization, transfer learning accelerated model convergence.</a:t>
                      </a:r>
                      <a:endParaRPr sz="12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marR="0" lvl="0" indent="0" algn="just" rtl="0">
                        <a:lnSpc>
                          <a:spcPct val="115000"/>
                        </a:lnSpc>
                        <a:spcBef>
                          <a:spcPts val="0"/>
                        </a:spcBef>
                        <a:spcAft>
                          <a:spcPts val="0"/>
                        </a:spcAft>
                        <a:buClr>
                          <a:srgbClr val="000000"/>
                        </a:buClr>
                        <a:buSzPts val="1400"/>
                        <a:buFont typeface="Arial"/>
                        <a:buNone/>
                      </a:pPr>
                      <a:r>
                        <a:rPr lang="en-US" sz="1200" b="1" dirty="0">
                          <a:solidFill>
                            <a:schemeClr val="dk1"/>
                          </a:solidFill>
                          <a:latin typeface="Calibri" panose="020F0502020204030204" pitchFamily="34" charset="0"/>
                          <a:ea typeface="Calibri" panose="020F0502020204030204" pitchFamily="34" charset="0"/>
                          <a:cs typeface="Calibri" panose="020F0502020204030204" pitchFamily="34" charset="0"/>
                        </a:rPr>
                        <a:t>Disadvantage:</a:t>
                      </a:r>
                      <a:r>
                        <a:rPr lang="en-US" sz="1200" dirty="0">
                          <a:solidFill>
                            <a:schemeClr val="dk1"/>
                          </a:solidFill>
                          <a:latin typeface="Calibri" panose="020F0502020204030204" pitchFamily="34" charset="0"/>
                          <a:ea typeface="Calibri" panose="020F0502020204030204" pitchFamily="34" charset="0"/>
                          <a:cs typeface="Calibri" panose="020F0502020204030204" pitchFamily="34" charset="0"/>
                        </a:rPr>
                        <a:t> High computational resource requirement.</a:t>
                      </a:r>
                      <a:endParaRPr lang="en-IN" sz="12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marR="0" lvl="0" indent="0" algn="just" rtl="0">
                        <a:lnSpc>
                          <a:spcPct val="115000"/>
                        </a:lnSpc>
                        <a:spcBef>
                          <a:spcPts val="0"/>
                        </a:spcBef>
                        <a:spcAft>
                          <a:spcPts val="0"/>
                        </a:spcAft>
                        <a:buClr>
                          <a:srgbClr val="000000"/>
                        </a:buClr>
                        <a:buSzPts val="1400"/>
                        <a:buFont typeface="Arial"/>
                        <a:buNone/>
                      </a:pPr>
                      <a:endParaRPr lang="en-IN" sz="12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lvl="0" indent="0" algn="just" rtl="0">
                        <a:lnSpc>
                          <a:spcPct val="115000"/>
                        </a:lnSpc>
                        <a:spcBef>
                          <a:spcPts val="0"/>
                        </a:spcBef>
                        <a:spcAft>
                          <a:spcPts val="0"/>
                        </a:spcAft>
                        <a:buClr>
                          <a:schemeClr val="dk1"/>
                        </a:buClr>
                        <a:buSzPts val="1100"/>
                        <a:buFont typeface="Arial"/>
                        <a:buNone/>
                      </a:pPr>
                      <a:r>
                        <a:rPr lang="en-US" sz="1200" b="1" dirty="0">
                          <a:solidFill>
                            <a:schemeClr val="dk1"/>
                          </a:solidFill>
                          <a:latin typeface="Calibri" panose="020F0502020204030204" pitchFamily="34" charset="0"/>
                          <a:ea typeface="Calibri" panose="020F0502020204030204" pitchFamily="34" charset="0"/>
                          <a:cs typeface="Calibri" panose="020F0502020204030204" pitchFamily="34" charset="0"/>
                        </a:rPr>
                        <a:t>Advantage:</a:t>
                      </a:r>
                      <a:r>
                        <a:rPr lang="en-US" sz="1200" dirty="0">
                          <a:solidFill>
                            <a:schemeClr val="dk1"/>
                          </a:solidFill>
                          <a:latin typeface="Calibri" panose="020F0502020204030204" pitchFamily="34" charset="0"/>
                          <a:ea typeface="Calibri" panose="020F0502020204030204" pitchFamily="34" charset="0"/>
                          <a:cs typeface="Calibri" panose="020F0502020204030204" pitchFamily="34" charset="0"/>
                        </a:rPr>
                        <a:t> Improved performance on smaller datasets with reduced training time due to transfer learning.</a:t>
                      </a:r>
                      <a:endParaRPr sz="12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marR="0" lvl="0" indent="0" algn="just" rtl="0">
                        <a:lnSpc>
                          <a:spcPct val="115000"/>
                        </a:lnSpc>
                        <a:spcBef>
                          <a:spcPts val="0"/>
                        </a:spcBef>
                        <a:spcAft>
                          <a:spcPts val="0"/>
                        </a:spcAft>
                        <a:buClr>
                          <a:srgbClr val="000000"/>
                        </a:buClr>
                        <a:buSzPts val="1400"/>
                        <a:buFont typeface="Arial"/>
                        <a:buNone/>
                      </a:pPr>
                      <a:r>
                        <a:rPr lang="en-US" sz="1200" b="1" dirty="0">
                          <a:solidFill>
                            <a:schemeClr val="dk1"/>
                          </a:solidFill>
                          <a:latin typeface="Calibri" panose="020F0502020204030204" pitchFamily="34" charset="0"/>
                          <a:ea typeface="Calibri" panose="020F0502020204030204" pitchFamily="34" charset="0"/>
                          <a:cs typeface="Calibri" panose="020F0502020204030204" pitchFamily="34" charset="0"/>
                        </a:rPr>
                        <a:t>Disadvantage:</a:t>
                      </a:r>
                      <a:r>
                        <a:rPr lang="en-US" sz="1200" dirty="0">
                          <a:solidFill>
                            <a:schemeClr val="dk1"/>
                          </a:solidFill>
                          <a:latin typeface="Calibri" panose="020F0502020204030204" pitchFamily="34" charset="0"/>
                          <a:ea typeface="Calibri" panose="020F0502020204030204" pitchFamily="34" charset="0"/>
                          <a:cs typeface="Calibri" panose="020F0502020204030204" pitchFamily="34" charset="0"/>
                        </a:rPr>
                        <a:t> Requires careful fine-tuning to avoid overfitting.</a:t>
                      </a:r>
                      <a:endParaRPr sz="1200" dirty="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tc>
                <a:tc>
                  <a:txBody>
                    <a:bodyPr/>
                    <a:lstStyle/>
                    <a:p>
                      <a:pPr marL="0" marR="0" lvl="0" indent="0" algn="just" rtl="0">
                        <a:lnSpc>
                          <a:spcPct val="115000"/>
                        </a:lnSpc>
                        <a:spcBef>
                          <a:spcPts val="0"/>
                        </a:spcBef>
                        <a:spcAft>
                          <a:spcPts val="0"/>
                        </a:spcAft>
                        <a:buClr>
                          <a:srgbClr val="000000"/>
                        </a:buClr>
                        <a:buSzPts val="1400"/>
                        <a:buFont typeface="Arial"/>
                        <a:buNone/>
                      </a:pPr>
                      <a:r>
                        <a:rPr lang="en-US" sz="1200" dirty="0">
                          <a:solidFill>
                            <a:schemeClr val="dk1"/>
                          </a:solidFill>
                          <a:latin typeface="Calibri" panose="020F0502020204030204" pitchFamily="34" charset="0"/>
                          <a:ea typeface="Calibri" panose="020F0502020204030204" pitchFamily="34" charset="0"/>
                          <a:cs typeface="Calibri" panose="020F0502020204030204" pitchFamily="34" charset="0"/>
                        </a:rPr>
                        <a:t>Optimize </a:t>
                      </a:r>
                      <a:r>
                        <a:rPr lang="en-US" sz="1200" b="1" dirty="0">
                          <a:solidFill>
                            <a:schemeClr val="dk1"/>
                          </a:solidFill>
                          <a:latin typeface="Calibri" panose="020F0502020204030204" pitchFamily="34" charset="0"/>
                          <a:ea typeface="Calibri" panose="020F0502020204030204" pitchFamily="34" charset="0"/>
                          <a:cs typeface="Calibri" panose="020F0502020204030204" pitchFamily="34" charset="0"/>
                        </a:rPr>
                        <a:t>data augmentation</a:t>
                      </a:r>
                      <a:r>
                        <a:rPr lang="en-US" sz="1200" dirty="0">
                          <a:solidFill>
                            <a:schemeClr val="dk1"/>
                          </a:solidFill>
                          <a:latin typeface="Calibri" panose="020F0502020204030204" pitchFamily="34" charset="0"/>
                          <a:ea typeface="Calibri" panose="020F0502020204030204" pitchFamily="34" charset="0"/>
                          <a:cs typeface="Calibri" panose="020F0502020204030204" pitchFamily="34" charset="0"/>
                        </a:rPr>
                        <a:t> techniques for specific </a:t>
                      </a:r>
                      <a:r>
                        <a:rPr lang="en-US" sz="1200" dirty="0" err="1">
                          <a:solidFill>
                            <a:schemeClr val="dk1"/>
                          </a:solidFill>
                          <a:latin typeface="Calibri" panose="020F0502020204030204" pitchFamily="34" charset="0"/>
                          <a:ea typeface="Calibri" panose="020F0502020204030204" pitchFamily="34" charset="0"/>
                          <a:cs typeface="Calibri" panose="020F0502020204030204" pitchFamily="34" charset="0"/>
                        </a:rPr>
                        <a:t>dermoscopic</a:t>
                      </a:r>
                      <a:r>
                        <a:rPr lang="en-US" sz="1200" dirty="0">
                          <a:solidFill>
                            <a:schemeClr val="dk1"/>
                          </a:solidFill>
                          <a:latin typeface="Calibri" panose="020F0502020204030204" pitchFamily="34" charset="0"/>
                          <a:ea typeface="Calibri" panose="020F0502020204030204" pitchFamily="34" charset="0"/>
                          <a:cs typeface="Calibri" panose="020F0502020204030204" pitchFamily="34" charset="0"/>
                        </a:rPr>
                        <a:t> images to enhance performance</a:t>
                      </a:r>
                      <a:endParaRPr sz="12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marR="0" lvl="0" indent="0" algn="just" rtl="0">
                        <a:lnSpc>
                          <a:spcPct val="115000"/>
                        </a:lnSpc>
                        <a:spcBef>
                          <a:spcPts val="0"/>
                        </a:spcBef>
                        <a:spcAft>
                          <a:spcPts val="0"/>
                        </a:spcAft>
                        <a:buClr>
                          <a:srgbClr val="000000"/>
                        </a:buClr>
                        <a:buSzPts val="1400"/>
                        <a:buFont typeface="Arial"/>
                        <a:buNone/>
                      </a:pPr>
                      <a:endParaRPr sz="12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marR="0" lvl="0" indent="0" algn="just" rtl="0">
                        <a:lnSpc>
                          <a:spcPct val="115000"/>
                        </a:lnSpc>
                        <a:spcBef>
                          <a:spcPts val="0"/>
                        </a:spcBef>
                        <a:spcAft>
                          <a:spcPts val="0"/>
                        </a:spcAft>
                        <a:buClr>
                          <a:srgbClr val="000000"/>
                        </a:buClr>
                        <a:buSzPts val="1400"/>
                        <a:buFont typeface="Arial"/>
                        <a:buNone/>
                      </a:pPr>
                      <a:endParaRPr sz="12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marR="0" lvl="0" indent="0" algn="just" rtl="0">
                        <a:lnSpc>
                          <a:spcPct val="115000"/>
                        </a:lnSpc>
                        <a:spcBef>
                          <a:spcPts val="0"/>
                        </a:spcBef>
                        <a:spcAft>
                          <a:spcPts val="0"/>
                        </a:spcAft>
                        <a:buClr>
                          <a:srgbClr val="000000"/>
                        </a:buClr>
                        <a:buSzPts val="1400"/>
                        <a:buFont typeface="Arial"/>
                        <a:buNone/>
                      </a:pPr>
                      <a:endParaRPr sz="12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marR="0" lvl="0" indent="0" algn="just" rtl="0">
                        <a:lnSpc>
                          <a:spcPct val="115000"/>
                        </a:lnSpc>
                        <a:spcBef>
                          <a:spcPts val="0"/>
                        </a:spcBef>
                        <a:spcAft>
                          <a:spcPts val="0"/>
                        </a:spcAft>
                        <a:buClr>
                          <a:srgbClr val="000000"/>
                        </a:buClr>
                        <a:buSzPts val="1400"/>
                        <a:buFont typeface="Arial"/>
                        <a:buNone/>
                      </a:pPr>
                      <a:endParaRPr sz="12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marR="0" lvl="0" indent="0" algn="just" rtl="0">
                        <a:lnSpc>
                          <a:spcPct val="115000"/>
                        </a:lnSpc>
                        <a:spcBef>
                          <a:spcPts val="0"/>
                        </a:spcBef>
                        <a:spcAft>
                          <a:spcPts val="0"/>
                        </a:spcAft>
                        <a:buClr>
                          <a:srgbClr val="000000"/>
                        </a:buClr>
                        <a:buSzPts val="1400"/>
                        <a:buFont typeface="Arial"/>
                        <a:buNone/>
                      </a:pPr>
                      <a:endParaRPr sz="12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marR="0" lvl="0" indent="0" algn="just" rtl="0">
                        <a:lnSpc>
                          <a:spcPct val="115000"/>
                        </a:lnSpc>
                        <a:spcBef>
                          <a:spcPts val="0"/>
                        </a:spcBef>
                        <a:spcAft>
                          <a:spcPts val="0"/>
                        </a:spcAft>
                        <a:buClr>
                          <a:srgbClr val="000000"/>
                        </a:buClr>
                        <a:buSzPts val="1400"/>
                        <a:buFont typeface="Arial"/>
                        <a:buNone/>
                      </a:pPr>
                      <a:r>
                        <a:rPr lang="en-US" sz="1200" dirty="0">
                          <a:solidFill>
                            <a:schemeClr val="dk1"/>
                          </a:solidFill>
                          <a:latin typeface="Calibri" panose="020F0502020204030204" pitchFamily="34" charset="0"/>
                          <a:ea typeface="Calibri" panose="020F0502020204030204" pitchFamily="34" charset="0"/>
                          <a:cs typeface="Calibri" panose="020F0502020204030204" pitchFamily="34" charset="0"/>
                        </a:rPr>
                        <a:t>Explore additional pre-trained models and </a:t>
                      </a:r>
                      <a:r>
                        <a:rPr lang="en-US" sz="1200" b="1" dirty="0">
                          <a:solidFill>
                            <a:schemeClr val="dk1"/>
                          </a:solidFill>
                          <a:latin typeface="Calibri" panose="020F0502020204030204" pitchFamily="34" charset="0"/>
                          <a:ea typeface="Calibri" panose="020F0502020204030204" pitchFamily="34" charset="0"/>
                          <a:cs typeface="Calibri" panose="020F0502020204030204" pitchFamily="34" charset="0"/>
                        </a:rPr>
                        <a:t>fine-tuning techniques</a:t>
                      </a:r>
                      <a:r>
                        <a:rPr lang="en-US" sz="1200" dirty="0">
                          <a:solidFill>
                            <a:schemeClr val="dk1"/>
                          </a:solidFill>
                          <a:latin typeface="Calibri" panose="020F0502020204030204" pitchFamily="34" charset="0"/>
                          <a:ea typeface="Calibri" panose="020F0502020204030204" pitchFamily="34" charset="0"/>
                          <a:cs typeface="Calibri" panose="020F0502020204030204" pitchFamily="34" charset="0"/>
                        </a:rPr>
                        <a:t> for better melanoma detection accuracy..</a:t>
                      </a:r>
                      <a:endParaRPr sz="1200" u="none" strike="noStrike" cap="none" dirty="0">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8"/>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Summary of Literature Review</a:t>
            </a:r>
            <a:endParaRPr/>
          </a:p>
        </p:txBody>
      </p:sp>
      <p:graphicFrame>
        <p:nvGraphicFramePr>
          <p:cNvPr id="182" name="Google Shape;182;p28"/>
          <p:cNvGraphicFramePr/>
          <p:nvPr>
            <p:extLst>
              <p:ext uri="{D42A27DB-BD31-4B8C-83A1-F6EECF244321}">
                <p14:modId xmlns:p14="http://schemas.microsoft.com/office/powerpoint/2010/main" val="702666175"/>
              </p:ext>
            </p:extLst>
          </p:nvPr>
        </p:nvGraphicFramePr>
        <p:xfrm>
          <a:off x="184275" y="1184675"/>
          <a:ext cx="8421450" cy="4934178"/>
        </p:xfrm>
        <a:graphic>
          <a:graphicData uri="http://schemas.openxmlformats.org/drawingml/2006/table">
            <a:tbl>
              <a:tblPr>
                <a:noFill/>
              </a:tblPr>
              <a:tblGrid>
                <a:gridCol w="1403575">
                  <a:extLst>
                    <a:ext uri="{9D8B030D-6E8A-4147-A177-3AD203B41FA5}">
                      <a16:colId xmlns:a16="http://schemas.microsoft.com/office/drawing/2014/main" val="20000"/>
                    </a:ext>
                  </a:extLst>
                </a:gridCol>
                <a:gridCol w="1403575">
                  <a:extLst>
                    <a:ext uri="{9D8B030D-6E8A-4147-A177-3AD203B41FA5}">
                      <a16:colId xmlns:a16="http://schemas.microsoft.com/office/drawing/2014/main" val="20001"/>
                    </a:ext>
                  </a:extLst>
                </a:gridCol>
                <a:gridCol w="1403575">
                  <a:extLst>
                    <a:ext uri="{9D8B030D-6E8A-4147-A177-3AD203B41FA5}">
                      <a16:colId xmlns:a16="http://schemas.microsoft.com/office/drawing/2014/main" val="20002"/>
                    </a:ext>
                  </a:extLst>
                </a:gridCol>
                <a:gridCol w="1403575">
                  <a:extLst>
                    <a:ext uri="{9D8B030D-6E8A-4147-A177-3AD203B41FA5}">
                      <a16:colId xmlns:a16="http://schemas.microsoft.com/office/drawing/2014/main" val="20003"/>
                    </a:ext>
                  </a:extLst>
                </a:gridCol>
                <a:gridCol w="1403575">
                  <a:extLst>
                    <a:ext uri="{9D8B030D-6E8A-4147-A177-3AD203B41FA5}">
                      <a16:colId xmlns:a16="http://schemas.microsoft.com/office/drawing/2014/main" val="20004"/>
                    </a:ext>
                  </a:extLst>
                </a:gridCol>
                <a:gridCol w="1403575">
                  <a:extLst>
                    <a:ext uri="{9D8B030D-6E8A-4147-A177-3AD203B41FA5}">
                      <a16:colId xmlns:a16="http://schemas.microsoft.com/office/drawing/2014/main" val="20005"/>
                    </a:ext>
                  </a:extLst>
                </a:gridCol>
              </a:tblGrid>
              <a:tr h="559603">
                <a:tc>
                  <a:txBody>
                    <a:bodyPr/>
                    <a:lstStyle/>
                    <a:p>
                      <a:pPr marL="0" marR="0" lvl="0" indent="0" algn="ctr" rtl="0">
                        <a:lnSpc>
                          <a:spcPct val="115000"/>
                        </a:lnSpc>
                        <a:spcBef>
                          <a:spcPts val="0"/>
                        </a:spcBef>
                        <a:spcAft>
                          <a:spcPts val="0"/>
                        </a:spcAft>
                        <a:buClr>
                          <a:srgbClr val="000000"/>
                        </a:buClr>
                        <a:buSzPts val="1100"/>
                        <a:buFont typeface="Arial"/>
                        <a:buNone/>
                      </a:pPr>
                      <a:r>
                        <a:rPr lang="en-US" sz="1300" b="1" u="none" strike="noStrike" cap="none" dirty="0">
                          <a:latin typeface="Calibri" panose="020F0502020204030204" pitchFamily="34" charset="0"/>
                          <a:ea typeface="Calibri" panose="020F0502020204030204" pitchFamily="34" charset="0"/>
                          <a:cs typeface="Calibri" panose="020F0502020204030204" pitchFamily="34" charset="0"/>
                        </a:rPr>
                        <a:t>Research</a:t>
                      </a:r>
                    </a:p>
                  </a:txBody>
                  <a:tcPr marL="68575" marR="68575" marT="91425" marB="91425">
                    <a:solidFill>
                      <a:srgbClr val="CCCCCC"/>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300" b="1" u="none" strike="noStrike" cap="none">
                          <a:latin typeface="Calibri" panose="020F0502020204030204" pitchFamily="34" charset="0"/>
                          <a:ea typeface="Calibri" panose="020F0502020204030204" pitchFamily="34" charset="0"/>
                          <a:cs typeface="Calibri" panose="020F0502020204030204" pitchFamily="34" charset="0"/>
                        </a:rPr>
                        <a:t>Technique</a:t>
                      </a:r>
                      <a:endParaRPr sz="1300" b="1" u="none" strike="noStrike" cap="none">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solidFill>
                      <a:srgbClr val="CCCCCC"/>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300" b="1" u="none" strike="noStrike" cap="none">
                          <a:latin typeface="Calibri" panose="020F0502020204030204" pitchFamily="34" charset="0"/>
                          <a:ea typeface="Calibri" panose="020F0502020204030204" pitchFamily="34" charset="0"/>
                          <a:cs typeface="Calibri" panose="020F0502020204030204" pitchFamily="34" charset="0"/>
                        </a:rPr>
                        <a:t>Features Used</a:t>
                      </a:r>
                      <a:endParaRPr sz="1300" b="1" u="none" strike="noStrike" cap="none">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solidFill>
                      <a:srgbClr val="CCCCCC"/>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300" b="1" u="none" strike="noStrike" cap="none">
                          <a:latin typeface="Calibri" panose="020F0502020204030204" pitchFamily="34" charset="0"/>
                          <a:ea typeface="Calibri" panose="020F0502020204030204" pitchFamily="34" charset="0"/>
                          <a:cs typeface="Calibri" panose="020F0502020204030204" pitchFamily="34" charset="0"/>
                        </a:rPr>
                        <a:t>Domain</a:t>
                      </a:r>
                      <a:endParaRPr sz="1300" b="1" u="none" strike="noStrike" cap="none">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solidFill>
                      <a:srgbClr val="CCCCCC"/>
                    </a:solidFill>
                  </a:tcPr>
                </a:tc>
                <a:tc>
                  <a:txBody>
                    <a:bodyPr/>
                    <a:lstStyle/>
                    <a:p>
                      <a:pPr marL="228600" marR="0" lvl="0" indent="0" algn="ctr" rtl="0">
                        <a:lnSpc>
                          <a:spcPct val="115000"/>
                        </a:lnSpc>
                        <a:spcBef>
                          <a:spcPts val="0"/>
                        </a:spcBef>
                        <a:spcAft>
                          <a:spcPts val="0"/>
                        </a:spcAft>
                        <a:buClr>
                          <a:srgbClr val="000000"/>
                        </a:buClr>
                        <a:buSzPts val="1100"/>
                        <a:buFont typeface="Arial"/>
                        <a:buNone/>
                      </a:pPr>
                      <a:r>
                        <a:rPr lang="en-US" sz="1300" b="1" u="none" strike="noStrike" cap="none">
                          <a:latin typeface="Calibri" panose="020F0502020204030204" pitchFamily="34" charset="0"/>
                          <a:ea typeface="Calibri" panose="020F0502020204030204" pitchFamily="34" charset="0"/>
                          <a:cs typeface="Calibri" panose="020F0502020204030204" pitchFamily="34" charset="0"/>
                        </a:rPr>
                        <a:t>Disadvantage / Advantage</a:t>
                      </a:r>
                      <a:endParaRPr sz="1300" b="1" u="none" strike="noStrike" cap="none">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solidFill>
                      <a:srgbClr val="CCCCCC"/>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300" b="1" u="none" strike="noStrike" cap="none">
                          <a:latin typeface="Calibri" panose="020F0502020204030204" pitchFamily="34" charset="0"/>
                          <a:ea typeface="Calibri" panose="020F0502020204030204" pitchFamily="34" charset="0"/>
                          <a:cs typeface="Calibri" panose="020F0502020204030204" pitchFamily="34" charset="0"/>
                        </a:rPr>
                        <a:t>Future Direction</a:t>
                      </a:r>
                      <a:endParaRPr sz="1300" b="1" u="none" strike="noStrike" cap="none">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solidFill>
                      <a:srgbClr val="CCCCCC"/>
                    </a:solidFill>
                  </a:tcPr>
                </a:tc>
                <a:extLst>
                  <a:ext uri="{0D108BD9-81ED-4DB2-BD59-A6C34878D82A}">
                    <a16:rowId xmlns:a16="http://schemas.microsoft.com/office/drawing/2014/main" val="10000"/>
                  </a:ext>
                </a:extLst>
              </a:tr>
              <a:tr h="4309050">
                <a:tc>
                  <a:txBody>
                    <a:bodyPr/>
                    <a:lstStyle/>
                    <a:p>
                      <a:pPr marL="0" marR="0" lvl="0" indent="0" algn="l" rtl="0">
                        <a:lnSpc>
                          <a:spcPct val="115000"/>
                        </a:lnSpc>
                        <a:spcBef>
                          <a:spcPts val="0"/>
                        </a:spcBef>
                        <a:spcAft>
                          <a:spcPts val="0"/>
                        </a:spcAft>
                        <a:buClr>
                          <a:srgbClr val="000000"/>
                        </a:buClr>
                        <a:buSzPts val="1400"/>
                        <a:buFont typeface="Arial"/>
                        <a:buNone/>
                      </a:pPr>
                      <a:r>
                        <a:rPr lang="en-US" sz="1300" dirty="0">
                          <a:latin typeface="Calibri" panose="020F0502020204030204" pitchFamily="34" charset="0"/>
                          <a:ea typeface="Calibri" panose="020F0502020204030204" pitchFamily="34" charset="0"/>
                          <a:cs typeface="Calibri" panose="020F0502020204030204" pitchFamily="34" charset="0"/>
                        </a:rPr>
                        <a:t>Application of Ensemble Learning for Skin Cancer Classification</a:t>
                      </a:r>
                      <a:endParaRPr sz="1300" dirty="0">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tc>
                <a:tc>
                  <a:txBody>
                    <a:bodyPr/>
                    <a:lstStyle/>
                    <a:p>
                      <a:pPr marL="0" marR="0" lvl="0" indent="0" algn="l" rtl="0">
                        <a:lnSpc>
                          <a:spcPct val="115000"/>
                        </a:lnSpc>
                        <a:spcBef>
                          <a:spcPts val="1200"/>
                        </a:spcBef>
                        <a:spcAft>
                          <a:spcPts val="0"/>
                        </a:spcAft>
                        <a:buClr>
                          <a:srgbClr val="000000"/>
                        </a:buClr>
                        <a:buSzPts val="1400"/>
                        <a:buFont typeface="Arial"/>
                        <a:buNone/>
                      </a:pPr>
                      <a:r>
                        <a:rPr lang="en-US" sz="1300">
                          <a:latin typeface="Calibri" panose="020F0502020204030204" pitchFamily="34" charset="0"/>
                          <a:ea typeface="Calibri" panose="020F0502020204030204" pitchFamily="34" charset="0"/>
                          <a:cs typeface="Calibri" panose="020F0502020204030204" pitchFamily="34" charset="0"/>
                        </a:rPr>
                        <a:t>Ensemble Learning (CNN, SVM, Decision Trees)</a:t>
                      </a:r>
                      <a:endParaRPr sz="1300">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US" sz="1300">
                          <a:latin typeface="Calibri" panose="020F0502020204030204" pitchFamily="34" charset="0"/>
                          <a:ea typeface="Calibri" panose="020F0502020204030204" pitchFamily="34" charset="0"/>
                          <a:cs typeface="Calibri" panose="020F0502020204030204" pitchFamily="34" charset="0"/>
                        </a:rPr>
                        <a:t>Dermoscopic Image Data</a:t>
                      </a:r>
                      <a:endParaRPr sz="1300">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US" sz="1300" dirty="0">
                          <a:latin typeface="Calibri" panose="020F0502020204030204" pitchFamily="34" charset="0"/>
                          <a:ea typeface="Calibri" panose="020F0502020204030204" pitchFamily="34" charset="0"/>
                          <a:cs typeface="Calibri" panose="020F0502020204030204" pitchFamily="34" charset="0"/>
                        </a:rPr>
                        <a:t>Skin Cancer Detection</a:t>
                      </a:r>
                      <a:endParaRPr sz="1300" dirty="0">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tc>
                <a:tc>
                  <a:txBody>
                    <a:bodyPr/>
                    <a:lstStyle/>
                    <a:p>
                      <a:pPr marL="0" lvl="0" indent="0" algn="just" rtl="0">
                        <a:lnSpc>
                          <a:spcPct val="115000"/>
                        </a:lnSpc>
                        <a:spcBef>
                          <a:spcPts val="0"/>
                        </a:spcBef>
                        <a:spcAft>
                          <a:spcPts val="0"/>
                        </a:spcAft>
                        <a:buClr>
                          <a:schemeClr val="dk1"/>
                        </a:buClr>
                        <a:buSzPts val="1100"/>
                        <a:buFont typeface="Arial"/>
                        <a:buNone/>
                      </a:pPr>
                      <a:r>
                        <a:rPr lang="en-US" sz="1300" b="1" dirty="0">
                          <a:solidFill>
                            <a:schemeClr val="dk1"/>
                          </a:solidFill>
                          <a:latin typeface="Calibri" panose="020F0502020204030204" pitchFamily="34" charset="0"/>
                          <a:ea typeface="Calibri" panose="020F0502020204030204" pitchFamily="34" charset="0"/>
                          <a:cs typeface="Calibri" panose="020F0502020204030204" pitchFamily="34" charset="0"/>
                        </a:rPr>
                        <a:t>Advantage:</a:t>
                      </a:r>
                      <a:r>
                        <a:rPr lang="en-US" sz="1300" dirty="0">
                          <a:solidFill>
                            <a:schemeClr val="dk1"/>
                          </a:solidFill>
                          <a:latin typeface="Calibri" panose="020F0502020204030204" pitchFamily="34" charset="0"/>
                          <a:ea typeface="Calibri" panose="020F0502020204030204" pitchFamily="34" charset="0"/>
                          <a:cs typeface="Calibri" panose="020F0502020204030204" pitchFamily="34" charset="0"/>
                        </a:rPr>
                        <a:t> Reduced variance and improved accuracy by leveraging strengths of different models.</a:t>
                      </a:r>
                      <a:endParaRPr sz="1300" dirty="0">
                        <a:solidFill>
                          <a:schemeClr val="dk1"/>
                        </a:solidFill>
                        <a:latin typeface="Calibri" panose="020F0502020204030204" pitchFamily="34" charset="0"/>
                        <a:ea typeface="Calibri" panose="020F0502020204030204" pitchFamily="34" charset="0"/>
                        <a:cs typeface="Calibri" panose="020F0502020204030204" pitchFamily="34" charset="0"/>
                      </a:endParaRPr>
                    </a:p>
                    <a:p>
                      <a:pPr marL="0" marR="0" lvl="0" indent="0" algn="just" rtl="0">
                        <a:lnSpc>
                          <a:spcPct val="115000"/>
                        </a:lnSpc>
                        <a:spcBef>
                          <a:spcPts val="0"/>
                        </a:spcBef>
                        <a:spcAft>
                          <a:spcPts val="0"/>
                        </a:spcAft>
                        <a:buClr>
                          <a:srgbClr val="000000"/>
                        </a:buClr>
                        <a:buSzPts val="1400"/>
                        <a:buFont typeface="Arial"/>
                        <a:buNone/>
                      </a:pPr>
                      <a:r>
                        <a:rPr lang="en-US" sz="1300" b="1" dirty="0">
                          <a:solidFill>
                            <a:schemeClr val="dk1"/>
                          </a:solidFill>
                          <a:latin typeface="Calibri" panose="020F0502020204030204" pitchFamily="34" charset="0"/>
                          <a:ea typeface="Calibri" panose="020F0502020204030204" pitchFamily="34" charset="0"/>
                          <a:cs typeface="Calibri" panose="020F0502020204030204" pitchFamily="34" charset="0"/>
                        </a:rPr>
                        <a:t>Disadvantage:</a:t>
                      </a:r>
                      <a:r>
                        <a:rPr lang="en-US" sz="1300" dirty="0">
                          <a:solidFill>
                            <a:schemeClr val="dk1"/>
                          </a:solidFill>
                          <a:latin typeface="Calibri" panose="020F0502020204030204" pitchFamily="34" charset="0"/>
                          <a:ea typeface="Calibri" panose="020F0502020204030204" pitchFamily="34" charset="0"/>
                          <a:cs typeface="Calibri" panose="020F0502020204030204" pitchFamily="34" charset="0"/>
                        </a:rPr>
                        <a:t> Increased complexity and longer computational time</a:t>
                      </a:r>
                      <a:endParaRPr sz="1300" b="1" dirty="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tc>
                <a:tc>
                  <a:txBody>
                    <a:bodyPr/>
                    <a:lstStyle/>
                    <a:p>
                      <a:pPr marL="0" marR="0" lvl="0" indent="0" algn="just" rtl="0">
                        <a:lnSpc>
                          <a:spcPct val="115000"/>
                        </a:lnSpc>
                        <a:spcBef>
                          <a:spcPts val="0"/>
                        </a:spcBef>
                        <a:spcAft>
                          <a:spcPts val="0"/>
                        </a:spcAft>
                        <a:buClr>
                          <a:srgbClr val="000000"/>
                        </a:buClr>
                        <a:buSzPts val="1400"/>
                        <a:buFont typeface="Arial"/>
                        <a:buNone/>
                      </a:pPr>
                      <a:r>
                        <a:rPr lang="en-US" sz="1300" dirty="0">
                          <a:solidFill>
                            <a:schemeClr val="dk1"/>
                          </a:solidFill>
                          <a:latin typeface="Calibri" panose="020F0502020204030204" pitchFamily="34" charset="0"/>
                          <a:ea typeface="Calibri" panose="020F0502020204030204" pitchFamily="34" charset="0"/>
                          <a:cs typeface="Calibri" panose="020F0502020204030204" pitchFamily="34" charset="0"/>
                        </a:rPr>
                        <a:t>Explore ensemble methods for </a:t>
                      </a:r>
                      <a:r>
                        <a:rPr lang="en-US" sz="1300" b="1" dirty="0">
                          <a:solidFill>
                            <a:schemeClr val="dk1"/>
                          </a:solidFill>
                          <a:latin typeface="Calibri" panose="020F0502020204030204" pitchFamily="34" charset="0"/>
                          <a:ea typeface="Calibri" panose="020F0502020204030204" pitchFamily="34" charset="0"/>
                          <a:cs typeface="Calibri" panose="020F0502020204030204" pitchFamily="34" charset="0"/>
                        </a:rPr>
                        <a:t>real-time detection</a:t>
                      </a:r>
                      <a:r>
                        <a:rPr lang="en-US" sz="1300" dirty="0">
                          <a:solidFill>
                            <a:schemeClr val="dk1"/>
                          </a:solidFill>
                          <a:latin typeface="Calibri" panose="020F0502020204030204" pitchFamily="34" charset="0"/>
                          <a:ea typeface="Calibri" panose="020F0502020204030204" pitchFamily="34" charset="0"/>
                          <a:cs typeface="Calibri" panose="020F0502020204030204" pitchFamily="34" charset="0"/>
                        </a:rPr>
                        <a:t> in mobile apps and improve model efficiency.</a:t>
                      </a:r>
                      <a:endParaRPr sz="1300" u="none" strike="noStrike" cap="none" dirty="0">
                        <a:latin typeface="Calibri" panose="020F0502020204030204" pitchFamily="34" charset="0"/>
                        <a:ea typeface="Calibri" panose="020F0502020204030204" pitchFamily="34" charset="0"/>
                        <a:cs typeface="Calibri" panose="020F0502020204030204" pitchFamily="34" charset="0"/>
                      </a:endParaRPr>
                    </a:p>
                  </a:txBody>
                  <a:tcPr marL="68575" marR="6857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4"/>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960"/>
              <a:buFont typeface="Calibri"/>
              <a:buNone/>
            </a:pPr>
            <a:r>
              <a:rPr lang="en-US" sz="3759"/>
              <a:t>Outcome of the LR - Scope of the project</a:t>
            </a:r>
            <a:endParaRPr sz="3759"/>
          </a:p>
        </p:txBody>
      </p:sp>
      <p:sp>
        <p:nvSpPr>
          <p:cNvPr id="175" name="Google Shape;175;p14"/>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lnSpc>
                <a:spcPct val="100000"/>
              </a:lnSpc>
              <a:spcBef>
                <a:spcPts val="0"/>
              </a:spcBef>
              <a:spcAft>
                <a:spcPts val="0"/>
              </a:spcAft>
              <a:buClr>
                <a:schemeClr val="dk1"/>
              </a:buClr>
              <a:buSzPct val="100000"/>
              <a:buChar char="•"/>
            </a:pPr>
            <a:r>
              <a:rPr lang="en-US" dirty="0"/>
              <a:t>Machine learning</a:t>
            </a:r>
            <a:endParaRPr dirty="0"/>
          </a:p>
          <a:p>
            <a:pPr marL="742950" lvl="1" indent="-285750" algn="l" rtl="0">
              <a:lnSpc>
                <a:spcPct val="100000"/>
              </a:lnSpc>
              <a:spcBef>
                <a:spcPts val="518"/>
              </a:spcBef>
              <a:spcAft>
                <a:spcPts val="0"/>
              </a:spcAft>
              <a:buSzPct val="100000"/>
              <a:buChar char="–"/>
            </a:pPr>
            <a:r>
              <a:rPr lang="en-US" dirty="0"/>
              <a:t>The purpose of this review was to view the trends in composition studies within the past forty years and see how commentary on student writing has changed and is still changing.</a:t>
            </a:r>
            <a:endParaRPr dirty="0"/>
          </a:p>
          <a:p>
            <a:pPr marL="742950" lvl="1" indent="-285750" algn="l" rtl="0">
              <a:lnSpc>
                <a:spcPct val="100000"/>
              </a:lnSpc>
              <a:spcBef>
                <a:spcPts val="518"/>
              </a:spcBef>
              <a:spcAft>
                <a:spcPts val="0"/>
              </a:spcAft>
              <a:buSzPct val="100000"/>
              <a:buChar char="–"/>
            </a:pPr>
            <a:r>
              <a:rPr lang="en-US" dirty="0"/>
              <a:t> It is clear from the research reviewed that evaluative commentary is very immersed and widely practiced throughout composition programs in today's universities</a:t>
            </a:r>
            <a:endParaRPr dirty="0"/>
          </a:p>
          <a:p>
            <a:pPr marL="742950" lvl="1" indent="-285750" algn="l" rtl="0">
              <a:lnSpc>
                <a:spcPct val="100000"/>
              </a:lnSpc>
              <a:spcBef>
                <a:spcPts val="518"/>
              </a:spcBef>
              <a:spcAft>
                <a:spcPts val="0"/>
              </a:spcAft>
              <a:buSzPct val="100000"/>
              <a:buChar char="–"/>
            </a:pPr>
            <a:r>
              <a:rPr lang="en-US" dirty="0"/>
              <a:t>Along with this, it is also clear that the field of composition studies just in regards to the types of commentary that</a:t>
            </a:r>
            <a:endParaRPr dirty="0"/>
          </a:p>
          <a:p>
            <a:pPr marL="742950" lvl="1" indent="-285750" algn="l" rtl="0">
              <a:lnSpc>
                <a:spcPct val="100000"/>
              </a:lnSpc>
              <a:spcBef>
                <a:spcPts val="518"/>
              </a:spcBef>
              <a:spcAft>
                <a:spcPts val="0"/>
              </a:spcAft>
              <a:buSzPct val="100000"/>
              <a:buChar char="–"/>
            </a:pPr>
            <a:r>
              <a:rPr lang="en-US" dirty="0"/>
              <a:t>students receive on their writing is varied and continues to be studied and analyzed in order to</a:t>
            </a:r>
            <a:endParaRPr dirty="0"/>
          </a:p>
          <a:p>
            <a:pPr marL="742950" lvl="1" indent="-285750" algn="l" rtl="0">
              <a:lnSpc>
                <a:spcPct val="100000"/>
              </a:lnSpc>
              <a:spcBef>
                <a:spcPts val="518"/>
              </a:spcBef>
              <a:spcAft>
                <a:spcPts val="0"/>
              </a:spcAft>
              <a:buSzPct val="100000"/>
              <a:buChar char="–"/>
            </a:pPr>
            <a:r>
              <a:rPr lang="en-US" dirty="0"/>
              <a:t>most benefit composition students and society at large</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5"/>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Project Plan</a:t>
            </a:r>
            <a:endParaRPr/>
          </a:p>
        </p:txBody>
      </p:sp>
      <p:graphicFrame>
        <p:nvGraphicFramePr>
          <p:cNvPr id="181" name="Google Shape;181;p15"/>
          <p:cNvGraphicFramePr/>
          <p:nvPr>
            <p:extLst>
              <p:ext uri="{D42A27DB-BD31-4B8C-83A1-F6EECF244321}">
                <p14:modId xmlns:p14="http://schemas.microsoft.com/office/powerpoint/2010/main" val="2683325852"/>
              </p:ext>
            </p:extLst>
          </p:nvPr>
        </p:nvGraphicFramePr>
        <p:xfrm>
          <a:off x="948075" y="1082538"/>
          <a:ext cx="7275250" cy="5286863"/>
        </p:xfrm>
        <a:graphic>
          <a:graphicData uri="http://schemas.openxmlformats.org/drawingml/2006/table">
            <a:tbl>
              <a:tblPr>
                <a:noFill/>
                <a:tableStyleId>{E7912C61-ADF2-4F9C-BAB7-19EDA43E3A94}</a:tableStyleId>
              </a:tblPr>
              <a:tblGrid>
                <a:gridCol w="1455050">
                  <a:extLst>
                    <a:ext uri="{9D8B030D-6E8A-4147-A177-3AD203B41FA5}">
                      <a16:colId xmlns:a16="http://schemas.microsoft.com/office/drawing/2014/main" val="20000"/>
                    </a:ext>
                  </a:extLst>
                </a:gridCol>
                <a:gridCol w="1455050">
                  <a:extLst>
                    <a:ext uri="{9D8B030D-6E8A-4147-A177-3AD203B41FA5}">
                      <a16:colId xmlns:a16="http://schemas.microsoft.com/office/drawing/2014/main" val="20001"/>
                    </a:ext>
                  </a:extLst>
                </a:gridCol>
                <a:gridCol w="1455050">
                  <a:extLst>
                    <a:ext uri="{9D8B030D-6E8A-4147-A177-3AD203B41FA5}">
                      <a16:colId xmlns:a16="http://schemas.microsoft.com/office/drawing/2014/main" val="20002"/>
                    </a:ext>
                  </a:extLst>
                </a:gridCol>
                <a:gridCol w="1455050">
                  <a:extLst>
                    <a:ext uri="{9D8B030D-6E8A-4147-A177-3AD203B41FA5}">
                      <a16:colId xmlns:a16="http://schemas.microsoft.com/office/drawing/2014/main" val="20003"/>
                    </a:ext>
                  </a:extLst>
                </a:gridCol>
                <a:gridCol w="1455050">
                  <a:extLst>
                    <a:ext uri="{9D8B030D-6E8A-4147-A177-3AD203B41FA5}">
                      <a16:colId xmlns:a16="http://schemas.microsoft.com/office/drawing/2014/main" val="20004"/>
                    </a:ext>
                  </a:extLst>
                </a:gridCol>
              </a:tblGrid>
              <a:tr h="295375">
                <a:tc>
                  <a:txBody>
                    <a:bodyPr/>
                    <a:lstStyle/>
                    <a:p>
                      <a:pPr marL="0" marR="0" lvl="0" indent="0" algn="ctr" rtl="0">
                        <a:lnSpc>
                          <a:spcPct val="115000"/>
                        </a:lnSpc>
                        <a:spcBef>
                          <a:spcPts val="0"/>
                        </a:spcBef>
                        <a:spcAft>
                          <a:spcPts val="0"/>
                        </a:spcAft>
                        <a:buClr>
                          <a:srgbClr val="000000"/>
                        </a:buClr>
                        <a:buSzPts val="1300"/>
                        <a:buFont typeface="Arial"/>
                        <a:buNone/>
                      </a:pPr>
                      <a:r>
                        <a:rPr lang="en-US" sz="1300" b="1" u="none" strike="noStrike" cap="none">
                          <a:latin typeface="Roboto"/>
                          <a:ea typeface="Roboto"/>
                          <a:cs typeface="Roboto"/>
                          <a:sym typeface="Roboto"/>
                        </a:rPr>
                        <a:t>WBS NUMBER</a:t>
                      </a:r>
                      <a:endParaRPr sz="1300" b="1" u="none" strike="noStrike" cap="none">
                        <a:latin typeface="Roboto"/>
                        <a:ea typeface="Roboto"/>
                        <a:cs typeface="Roboto"/>
                        <a:sym typeface="Roboto"/>
                      </a:endParaRP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b="1" u="none" strike="noStrike" cap="none">
                          <a:latin typeface="Roboto"/>
                          <a:ea typeface="Roboto"/>
                          <a:cs typeface="Roboto"/>
                          <a:sym typeface="Roboto"/>
                        </a:rPr>
                        <a:t>TASK TITLE</a:t>
                      </a:r>
                      <a:endParaRPr sz="1300" b="1" u="none" strike="noStrike" cap="none">
                        <a:latin typeface="Roboto"/>
                        <a:ea typeface="Roboto"/>
                        <a:cs typeface="Roboto"/>
                        <a:sym typeface="Roboto"/>
                      </a:endParaRP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b="1" u="none" strike="noStrike" cap="none">
                          <a:latin typeface="Roboto"/>
                          <a:ea typeface="Roboto"/>
                          <a:cs typeface="Roboto"/>
                          <a:sym typeface="Roboto"/>
                        </a:rPr>
                        <a:t>TASK OWNER</a:t>
                      </a:r>
                      <a:endParaRPr sz="1300" b="1" u="none" strike="noStrike" cap="none">
                        <a:latin typeface="Roboto"/>
                        <a:ea typeface="Roboto"/>
                        <a:cs typeface="Roboto"/>
                        <a:sym typeface="Roboto"/>
                      </a:endParaRP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b="1" u="none" strike="noStrike" cap="none">
                          <a:latin typeface="Roboto"/>
                          <a:ea typeface="Roboto"/>
                          <a:cs typeface="Roboto"/>
                          <a:sym typeface="Roboto"/>
                        </a:rPr>
                        <a:t>START DATE</a:t>
                      </a:r>
                      <a:endParaRPr sz="1300" b="1" u="none" strike="noStrike" cap="none">
                        <a:latin typeface="Roboto"/>
                        <a:ea typeface="Roboto"/>
                        <a:cs typeface="Roboto"/>
                        <a:sym typeface="Roboto"/>
                      </a:endParaRP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marR="0" lvl="0" indent="0" algn="ctr" rtl="0">
                        <a:lnSpc>
                          <a:spcPct val="115000"/>
                        </a:lnSpc>
                        <a:spcBef>
                          <a:spcPts val="0"/>
                        </a:spcBef>
                        <a:spcAft>
                          <a:spcPts val="0"/>
                        </a:spcAft>
                        <a:buClr>
                          <a:srgbClr val="000000"/>
                        </a:buClr>
                        <a:buSzPts val="1300"/>
                        <a:buFont typeface="Arial"/>
                        <a:buNone/>
                      </a:pPr>
                      <a:r>
                        <a:rPr lang="en-US" sz="1300" b="1" u="none" strike="noStrike" cap="none" dirty="0">
                          <a:latin typeface="Roboto"/>
                          <a:ea typeface="Roboto"/>
                          <a:cs typeface="Roboto"/>
                          <a:sym typeface="Roboto"/>
                        </a:rPr>
                        <a:t>DUE DATE</a:t>
                      </a:r>
                      <a:endParaRPr sz="1300" b="1" u="none" strike="noStrike" cap="none" dirty="0">
                        <a:latin typeface="Roboto"/>
                        <a:ea typeface="Roboto"/>
                        <a:cs typeface="Roboto"/>
                        <a:sym typeface="Roboto"/>
                      </a:endParaRP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extLst>
                  <a:ext uri="{0D108BD9-81ED-4DB2-BD59-A6C34878D82A}">
                    <a16:rowId xmlns:a16="http://schemas.microsoft.com/office/drawing/2014/main" val="10000"/>
                  </a:ext>
                </a:extLst>
              </a:tr>
              <a:tr h="1181525">
                <a:tc>
                  <a:txBody>
                    <a:bodyPr/>
                    <a:lstStyle/>
                    <a:p>
                      <a:pPr marL="0" marR="0" lvl="0" indent="0" algn="l" rtl="0">
                        <a:lnSpc>
                          <a:spcPct val="115000"/>
                        </a:lnSpc>
                        <a:spcBef>
                          <a:spcPts val="0"/>
                        </a:spcBef>
                        <a:spcAft>
                          <a:spcPts val="0"/>
                        </a:spcAft>
                        <a:buClr>
                          <a:srgbClr val="000000"/>
                        </a:buClr>
                        <a:buSzPts val="1600"/>
                        <a:buFont typeface="Arial"/>
                        <a:buNone/>
                      </a:pPr>
                      <a:r>
                        <a:rPr lang="en-US" sz="1600" b="1" u="none" strike="noStrike" cap="none">
                          <a:latin typeface="Roboto"/>
                          <a:ea typeface="Roboto"/>
                          <a:cs typeface="Roboto"/>
                          <a:sym typeface="Roboto"/>
                        </a:rPr>
                        <a:t>1</a:t>
                      </a:r>
                      <a:endParaRPr sz="1500" u="none" strike="noStrike" cap="none"/>
                    </a:p>
                  </a:txBody>
                  <a:tcPr marL="25400" marR="25400" marT="0" marB="0" anchor="ctr">
                    <a:lnL w="9525" cap="flat" cmpd="sng">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tc>
                  <a:txBody>
                    <a:bodyPr/>
                    <a:lstStyle/>
                    <a:p>
                      <a:pPr marL="0" marR="0" lvl="0" indent="0" algn="l" rtl="0">
                        <a:lnSpc>
                          <a:spcPct val="115000"/>
                        </a:lnSpc>
                        <a:spcBef>
                          <a:spcPts val="0"/>
                        </a:spcBef>
                        <a:spcAft>
                          <a:spcPts val="0"/>
                        </a:spcAft>
                        <a:buClr>
                          <a:srgbClr val="000000"/>
                        </a:buClr>
                        <a:buSzPts val="1600"/>
                        <a:buFont typeface="Arial"/>
                        <a:buNone/>
                      </a:pPr>
                      <a:r>
                        <a:rPr lang="en-US" sz="1600" b="1" u="none" strike="noStrike" cap="none">
                          <a:latin typeface="Roboto"/>
                          <a:ea typeface="Roboto"/>
                          <a:cs typeface="Roboto"/>
                          <a:sym typeface="Roboto"/>
                        </a:rPr>
                        <a:t>Project Conception and Initiation</a:t>
                      </a:r>
                      <a:endParaRPr sz="1600" b="1" u="none" strike="noStrike" cap="none">
                        <a:latin typeface="Roboto"/>
                        <a:ea typeface="Roboto"/>
                        <a:cs typeface="Roboto"/>
                        <a:sym typeface="Roboto"/>
                      </a:endParaRPr>
                    </a:p>
                  </a:txBody>
                  <a:tcPr marL="0" marR="0" marT="0" marB="0"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tc>
                  <a:txBody>
                    <a:bodyPr/>
                    <a:lstStyle/>
                    <a:p>
                      <a:pPr marL="0" marR="0" lvl="0" indent="0" algn="l" rtl="0">
                        <a:lnSpc>
                          <a:spcPct val="115000"/>
                        </a:lnSpc>
                        <a:spcBef>
                          <a:spcPts val="0"/>
                        </a:spcBef>
                        <a:spcAft>
                          <a:spcPts val="0"/>
                        </a:spcAft>
                        <a:buClr>
                          <a:srgbClr val="000000"/>
                        </a:buClr>
                        <a:buSzPts val="1500"/>
                        <a:buFont typeface="Arial"/>
                        <a:buNone/>
                      </a:pPr>
                      <a:endParaRPr sz="1500" u="none" strike="noStrike" cap="none"/>
                    </a:p>
                  </a:txBody>
                  <a:tcPr marL="25400" marR="25400" marT="0" marB="0"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tc>
                  <a:txBody>
                    <a:bodyPr/>
                    <a:lstStyle/>
                    <a:p>
                      <a:pPr marL="0" marR="0" lvl="0" indent="0" algn="l" rtl="0">
                        <a:lnSpc>
                          <a:spcPct val="115000"/>
                        </a:lnSpc>
                        <a:spcBef>
                          <a:spcPts val="0"/>
                        </a:spcBef>
                        <a:spcAft>
                          <a:spcPts val="0"/>
                        </a:spcAft>
                        <a:buClr>
                          <a:srgbClr val="000000"/>
                        </a:buClr>
                        <a:buSzPts val="1500"/>
                        <a:buFont typeface="Arial"/>
                        <a:buNone/>
                      </a:pPr>
                      <a:endParaRPr sz="1500" u="none" strike="noStrike" cap="none"/>
                    </a:p>
                  </a:txBody>
                  <a:tcPr marL="25400" marR="25400" marT="0" marB="0"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tc>
                  <a:txBody>
                    <a:bodyPr/>
                    <a:lstStyle/>
                    <a:p>
                      <a:pPr marL="0" marR="0" lvl="0" indent="0" algn="l" rtl="0">
                        <a:lnSpc>
                          <a:spcPct val="115000"/>
                        </a:lnSpc>
                        <a:spcBef>
                          <a:spcPts val="0"/>
                        </a:spcBef>
                        <a:spcAft>
                          <a:spcPts val="0"/>
                        </a:spcAft>
                        <a:buClr>
                          <a:srgbClr val="000000"/>
                        </a:buClr>
                        <a:buSzPts val="1500"/>
                        <a:buFont typeface="Arial"/>
                        <a:buNone/>
                      </a:pPr>
                      <a:endParaRPr sz="1500" u="none" strike="noStrike" cap="none" dirty="0"/>
                    </a:p>
                  </a:txBody>
                  <a:tcPr marL="25400" marR="25400" marT="0" marB="0" anchor="ctr">
                    <a:lnL w="9525" cap="flat" cmpd="sng" algn="ctr">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extLst>
                  <a:ext uri="{0D108BD9-81ED-4DB2-BD59-A6C34878D82A}">
                    <a16:rowId xmlns:a16="http://schemas.microsoft.com/office/drawing/2014/main" val="10003"/>
                  </a:ext>
                </a:extLst>
              </a:tr>
              <a:tr h="354450">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a:solidFill>
                            <a:srgbClr val="434343"/>
                          </a:solidFill>
                          <a:latin typeface="Roboto"/>
                          <a:ea typeface="Roboto"/>
                          <a:cs typeface="Roboto"/>
                          <a:sym typeface="Roboto"/>
                        </a:rPr>
                        <a:t>1.1</a:t>
                      </a:r>
                      <a:endParaRPr sz="15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a:solidFill>
                            <a:srgbClr val="434343"/>
                          </a:solidFill>
                          <a:latin typeface="Roboto"/>
                          <a:ea typeface="Roboto"/>
                          <a:cs typeface="Roboto"/>
                          <a:sym typeface="Roboto"/>
                        </a:rPr>
                        <a:t>Project Charter</a:t>
                      </a:r>
                      <a:endParaRPr sz="15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dirty="0"/>
                        <a:t>Naveen M</a:t>
                      </a:r>
                      <a:endParaRPr sz="15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dirty="0">
                          <a:solidFill>
                            <a:srgbClr val="434343"/>
                          </a:solidFill>
                          <a:latin typeface="Roboto"/>
                          <a:ea typeface="Roboto"/>
                          <a:cs typeface="Roboto"/>
                          <a:sym typeface="Roboto"/>
                        </a:rPr>
                        <a:t>01/10/24</a:t>
                      </a:r>
                      <a:endParaRPr sz="15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dirty="0">
                          <a:solidFill>
                            <a:srgbClr val="434343"/>
                          </a:solidFill>
                          <a:latin typeface="Roboto"/>
                          <a:ea typeface="Roboto"/>
                          <a:cs typeface="Roboto"/>
                          <a:sym typeface="Roboto"/>
                        </a:rPr>
                        <a:t>01/10/24</a:t>
                      </a:r>
                      <a:endParaRPr sz="15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708925">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a:solidFill>
                            <a:srgbClr val="434343"/>
                          </a:solidFill>
                          <a:latin typeface="Roboto"/>
                          <a:ea typeface="Roboto"/>
                          <a:cs typeface="Roboto"/>
                          <a:sym typeface="Roboto"/>
                        </a:rPr>
                        <a:t>1.1.1</a:t>
                      </a:r>
                      <a:endParaRPr sz="15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a:solidFill>
                            <a:srgbClr val="434343"/>
                          </a:solidFill>
                          <a:latin typeface="Roboto"/>
                          <a:ea typeface="Roboto"/>
                          <a:cs typeface="Roboto"/>
                          <a:sym typeface="Roboto"/>
                        </a:rPr>
                        <a:t>Project Charter Revisions</a:t>
                      </a:r>
                      <a:endParaRPr sz="15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IN" sz="1500" u="none" strike="noStrike" cap="none" dirty="0" err="1"/>
                        <a:t>Sudharsan</a:t>
                      </a:r>
                      <a:r>
                        <a:rPr lang="en-IN" sz="1500" u="none" strike="noStrike" cap="none" dirty="0"/>
                        <a:t> Ram M</a:t>
                      </a:r>
                      <a:endParaRPr sz="15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dirty="0">
                          <a:solidFill>
                            <a:srgbClr val="434343"/>
                          </a:solidFill>
                          <a:latin typeface="Roboto"/>
                          <a:ea typeface="Roboto"/>
                          <a:cs typeface="Roboto"/>
                          <a:sym typeface="Roboto"/>
                        </a:rPr>
                        <a:t>02/10/24</a:t>
                      </a:r>
                      <a:endParaRPr sz="1500" u="none" strike="noStrike" cap="none" dirty="0">
                        <a:solidFill>
                          <a:srgbClr val="434343"/>
                        </a:solidFill>
                        <a:latin typeface="Roboto"/>
                        <a:ea typeface="Roboto"/>
                        <a:cs typeface="Roboto"/>
                        <a:sym typeface="Roboto"/>
                      </a:endParaRP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dirty="0">
                          <a:solidFill>
                            <a:srgbClr val="434343"/>
                          </a:solidFill>
                          <a:latin typeface="Roboto"/>
                          <a:ea typeface="Roboto"/>
                          <a:cs typeface="Roboto"/>
                          <a:sym typeface="Roboto"/>
                        </a:rPr>
                        <a:t>02/10/24</a:t>
                      </a:r>
                      <a:endParaRPr sz="1500" u="none" strike="noStrike" cap="none" dirty="0">
                        <a:solidFill>
                          <a:srgbClr val="434343"/>
                        </a:solidFill>
                        <a:latin typeface="Roboto"/>
                        <a:ea typeface="Roboto"/>
                        <a:cs typeface="Roboto"/>
                        <a:sym typeface="Roboto"/>
                      </a:endParaRP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787675">
                <a:tc>
                  <a:txBody>
                    <a:bodyPr/>
                    <a:lstStyle/>
                    <a:p>
                      <a:pPr marL="0" marR="0" lvl="0" indent="0" algn="l" rtl="0">
                        <a:lnSpc>
                          <a:spcPct val="115000"/>
                        </a:lnSpc>
                        <a:spcBef>
                          <a:spcPts val="0"/>
                        </a:spcBef>
                        <a:spcAft>
                          <a:spcPts val="0"/>
                        </a:spcAft>
                        <a:buClr>
                          <a:srgbClr val="000000"/>
                        </a:buClr>
                        <a:buSzPts val="1600"/>
                        <a:buFont typeface="Arial"/>
                        <a:buNone/>
                      </a:pPr>
                      <a:r>
                        <a:rPr lang="en-US" sz="1600" b="1" u="none" strike="noStrike" cap="none">
                          <a:latin typeface="Roboto"/>
                          <a:ea typeface="Roboto"/>
                          <a:cs typeface="Roboto"/>
                          <a:sym typeface="Roboto"/>
                        </a:rPr>
                        <a:t>2</a:t>
                      </a:r>
                      <a:endParaRPr sz="15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tc>
                  <a:txBody>
                    <a:bodyPr/>
                    <a:lstStyle/>
                    <a:p>
                      <a:pPr marL="0" marR="0" lvl="0" indent="0" algn="l" rtl="0">
                        <a:lnSpc>
                          <a:spcPct val="115000"/>
                        </a:lnSpc>
                        <a:spcBef>
                          <a:spcPts val="0"/>
                        </a:spcBef>
                        <a:spcAft>
                          <a:spcPts val="0"/>
                        </a:spcAft>
                        <a:buClr>
                          <a:srgbClr val="000000"/>
                        </a:buClr>
                        <a:buSzPts val="1600"/>
                        <a:buFont typeface="Arial"/>
                        <a:buNone/>
                      </a:pPr>
                      <a:r>
                        <a:rPr lang="en-US" sz="1600" b="1" u="none" strike="noStrike" cap="none">
                          <a:latin typeface="Roboto"/>
                          <a:ea typeface="Roboto"/>
                          <a:cs typeface="Roboto"/>
                          <a:sym typeface="Roboto"/>
                        </a:rPr>
                        <a:t>Project Definition and Planning</a:t>
                      </a:r>
                      <a:endParaRPr sz="1600" b="1" u="none" strike="noStrike" cap="none">
                        <a:latin typeface="Roboto"/>
                        <a:ea typeface="Roboto"/>
                        <a:cs typeface="Roboto"/>
                        <a:sym typeface="Roboto"/>
                      </a:endParaRPr>
                    </a:p>
                  </a:txBody>
                  <a:tcPr marL="0" marR="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tc>
                  <a:txBody>
                    <a:bodyPr/>
                    <a:lstStyle/>
                    <a:p>
                      <a:pPr marL="0" marR="0" lvl="0" indent="0" algn="l" rtl="0">
                        <a:lnSpc>
                          <a:spcPct val="115000"/>
                        </a:lnSpc>
                        <a:spcBef>
                          <a:spcPts val="0"/>
                        </a:spcBef>
                        <a:spcAft>
                          <a:spcPts val="0"/>
                        </a:spcAft>
                        <a:buClr>
                          <a:srgbClr val="000000"/>
                        </a:buClr>
                        <a:buSzPts val="1500"/>
                        <a:buFont typeface="Arial"/>
                        <a:buNone/>
                      </a:pPr>
                      <a:endParaRPr sz="15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tc>
                  <a:txBody>
                    <a:bodyPr/>
                    <a:lstStyle/>
                    <a:p>
                      <a:pPr marL="0" marR="0" lvl="0" indent="0" algn="l" rtl="0">
                        <a:lnSpc>
                          <a:spcPct val="115000"/>
                        </a:lnSpc>
                        <a:spcBef>
                          <a:spcPts val="0"/>
                        </a:spcBef>
                        <a:spcAft>
                          <a:spcPts val="0"/>
                        </a:spcAft>
                        <a:buClr>
                          <a:srgbClr val="000000"/>
                        </a:buClr>
                        <a:buSzPts val="1500"/>
                        <a:buFont typeface="Arial"/>
                        <a:buNone/>
                      </a:pPr>
                      <a:endParaRPr sz="15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tc>
                  <a:txBody>
                    <a:bodyPr/>
                    <a:lstStyle/>
                    <a:p>
                      <a:pPr marL="0" marR="0" lvl="0" indent="0" algn="l" rtl="0">
                        <a:lnSpc>
                          <a:spcPct val="115000"/>
                        </a:lnSpc>
                        <a:spcBef>
                          <a:spcPts val="0"/>
                        </a:spcBef>
                        <a:spcAft>
                          <a:spcPts val="0"/>
                        </a:spcAft>
                        <a:buClr>
                          <a:srgbClr val="000000"/>
                        </a:buClr>
                        <a:buSzPts val="1500"/>
                        <a:buFont typeface="Arial"/>
                        <a:buNone/>
                      </a:pPr>
                      <a:endParaRPr sz="15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extLst>
                  <a:ext uri="{0D108BD9-81ED-4DB2-BD59-A6C34878D82A}">
                    <a16:rowId xmlns:a16="http://schemas.microsoft.com/office/drawing/2014/main" val="10006"/>
                  </a:ext>
                </a:extLst>
              </a:tr>
              <a:tr h="708925">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a:solidFill>
                            <a:srgbClr val="434343"/>
                          </a:solidFill>
                          <a:latin typeface="Roboto"/>
                          <a:ea typeface="Roboto"/>
                          <a:cs typeface="Roboto"/>
                          <a:sym typeface="Roboto"/>
                        </a:rPr>
                        <a:t>2.1</a:t>
                      </a:r>
                      <a:endParaRPr sz="15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a:solidFill>
                            <a:srgbClr val="434343"/>
                          </a:solidFill>
                          <a:latin typeface="Roboto"/>
                          <a:ea typeface="Roboto"/>
                          <a:cs typeface="Roboto"/>
                          <a:sym typeface="Roboto"/>
                        </a:rPr>
                        <a:t>Scope and Goal Setting</a:t>
                      </a:r>
                      <a:endParaRPr sz="15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dirty="0" err="1">
                          <a:solidFill>
                            <a:srgbClr val="434343"/>
                          </a:solidFill>
                          <a:latin typeface="Roboto"/>
                          <a:ea typeface="Roboto"/>
                          <a:cs typeface="Roboto"/>
                          <a:sym typeface="Roboto"/>
                        </a:rPr>
                        <a:t>Migal</a:t>
                      </a:r>
                      <a:r>
                        <a:rPr lang="en-US" sz="1500" u="none" strike="noStrike" cap="none" dirty="0">
                          <a:solidFill>
                            <a:srgbClr val="434343"/>
                          </a:solidFill>
                          <a:latin typeface="Roboto"/>
                          <a:ea typeface="Roboto"/>
                          <a:cs typeface="Roboto"/>
                          <a:sym typeface="Roboto"/>
                        </a:rPr>
                        <a:t> G </a:t>
                      </a:r>
                      <a:r>
                        <a:rPr lang="en-US" sz="1500" u="none" strike="noStrike" cap="none" dirty="0" err="1">
                          <a:solidFill>
                            <a:srgbClr val="434343"/>
                          </a:solidFill>
                          <a:latin typeface="Roboto"/>
                          <a:ea typeface="Roboto"/>
                          <a:cs typeface="Roboto"/>
                          <a:sym typeface="Roboto"/>
                        </a:rPr>
                        <a:t>Arunadann</a:t>
                      </a:r>
                      <a:endParaRPr sz="15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dirty="0">
                          <a:solidFill>
                            <a:srgbClr val="434343"/>
                          </a:solidFill>
                          <a:latin typeface="Roboto"/>
                          <a:ea typeface="Roboto"/>
                          <a:cs typeface="Roboto"/>
                          <a:sym typeface="Roboto"/>
                        </a:rPr>
                        <a:t>05/10/24</a:t>
                      </a:r>
                      <a:endParaRPr sz="1500" u="none" strike="noStrike" cap="none" dirty="0">
                        <a:solidFill>
                          <a:srgbClr val="434343"/>
                        </a:solidFill>
                        <a:latin typeface="Roboto"/>
                        <a:ea typeface="Roboto"/>
                        <a:cs typeface="Roboto"/>
                        <a:sym typeface="Roboto"/>
                      </a:endParaRP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dirty="0">
                          <a:solidFill>
                            <a:srgbClr val="434343"/>
                          </a:solidFill>
                          <a:latin typeface="Roboto"/>
                          <a:ea typeface="Roboto"/>
                          <a:cs typeface="Roboto"/>
                          <a:sym typeface="Roboto"/>
                        </a:rPr>
                        <a:t>06/10/24</a:t>
                      </a: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7"/>
                  </a:ext>
                </a:extLst>
              </a:tr>
              <a:tr h="354450">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a:solidFill>
                            <a:srgbClr val="434343"/>
                          </a:solidFill>
                          <a:latin typeface="Roboto"/>
                          <a:ea typeface="Roboto"/>
                          <a:cs typeface="Roboto"/>
                          <a:sym typeface="Roboto"/>
                        </a:rPr>
                        <a:t>2.2</a:t>
                      </a:r>
                      <a:endParaRPr sz="15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a:solidFill>
                            <a:srgbClr val="434343"/>
                          </a:solidFill>
                          <a:latin typeface="Roboto"/>
                          <a:ea typeface="Roboto"/>
                          <a:cs typeface="Roboto"/>
                          <a:sym typeface="Roboto"/>
                        </a:rPr>
                        <a:t>Literature Review</a:t>
                      </a:r>
                      <a:endParaRPr sz="15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IN" sz="1500" u="none" strike="noStrike" cap="none" dirty="0" err="1"/>
                        <a:t>Sudharsan</a:t>
                      </a:r>
                      <a:r>
                        <a:rPr lang="en-IN" sz="1500" u="none" strike="noStrike" cap="none" dirty="0"/>
                        <a:t> Ram M</a:t>
                      </a:r>
                      <a:endParaRPr sz="15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dirty="0">
                          <a:solidFill>
                            <a:srgbClr val="434343"/>
                          </a:solidFill>
                          <a:latin typeface="Roboto"/>
                          <a:ea typeface="Roboto"/>
                          <a:cs typeface="Roboto"/>
                          <a:sym typeface="Roboto"/>
                        </a:rPr>
                        <a:t>05/10/24</a:t>
                      </a:r>
                      <a:endParaRPr sz="1500" u="none" strike="noStrike" cap="none" dirty="0">
                        <a:solidFill>
                          <a:srgbClr val="434343"/>
                        </a:solidFill>
                        <a:latin typeface="Roboto"/>
                        <a:ea typeface="Roboto"/>
                        <a:cs typeface="Roboto"/>
                        <a:sym typeface="Roboto"/>
                      </a:endParaRP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dirty="0">
                          <a:solidFill>
                            <a:srgbClr val="434343"/>
                          </a:solidFill>
                          <a:latin typeface="Roboto"/>
                          <a:ea typeface="Roboto"/>
                          <a:cs typeface="Roboto"/>
                          <a:sym typeface="Roboto"/>
                        </a:rPr>
                        <a:t>06/10/24</a:t>
                      </a:r>
                      <a:endParaRPr sz="1500" u="none" strike="noStrike" cap="none" dirty="0">
                        <a:solidFill>
                          <a:srgbClr val="434343"/>
                        </a:solidFill>
                        <a:latin typeface="Roboto"/>
                        <a:ea typeface="Roboto"/>
                        <a:cs typeface="Roboto"/>
                        <a:sym typeface="Roboto"/>
                      </a:endParaRP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8"/>
                  </a:ext>
                </a:extLst>
              </a:tr>
              <a:tr h="708925">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a:solidFill>
                            <a:srgbClr val="434343"/>
                          </a:solidFill>
                          <a:latin typeface="Roboto"/>
                          <a:ea typeface="Roboto"/>
                          <a:cs typeface="Roboto"/>
                          <a:sym typeface="Roboto"/>
                        </a:rPr>
                        <a:t>2.3</a:t>
                      </a:r>
                      <a:endParaRPr sz="15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a:solidFill>
                            <a:srgbClr val="434343"/>
                          </a:solidFill>
                          <a:latin typeface="Roboto"/>
                          <a:ea typeface="Roboto"/>
                          <a:cs typeface="Roboto"/>
                          <a:sym typeface="Roboto"/>
                        </a:rPr>
                        <a:t>Gant Chart Preparation</a:t>
                      </a:r>
                      <a:endParaRPr sz="15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dirty="0"/>
                        <a:t>Naveen M</a:t>
                      </a:r>
                      <a:endParaRPr sz="15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dirty="0">
                          <a:solidFill>
                            <a:srgbClr val="434343"/>
                          </a:solidFill>
                          <a:latin typeface="Roboto"/>
                          <a:ea typeface="Roboto"/>
                          <a:cs typeface="Roboto"/>
                          <a:sym typeface="Roboto"/>
                        </a:rPr>
                        <a:t>07/10/24</a:t>
                      </a:r>
                      <a:endParaRPr sz="1500" u="none" strike="noStrike" cap="none" dirty="0">
                        <a:solidFill>
                          <a:srgbClr val="434343"/>
                        </a:solidFill>
                        <a:latin typeface="Roboto"/>
                        <a:ea typeface="Roboto"/>
                        <a:cs typeface="Roboto"/>
                        <a:sym typeface="Roboto"/>
                      </a:endParaRP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u="none" strike="noStrike" cap="none" dirty="0">
                          <a:solidFill>
                            <a:srgbClr val="434343"/>
                          </a:solidFill>
                          <a:latin typeface="Roboto"/>
                          <a:ea typeface="Roboto"/>
                          <a:cs typeface="Roboto"/>
                          <a:sym typeface="Roboto"/>
                        </a:rPr>
                        <a:t>07/10/24</a:t>
                      </a:r>
                      <a:endParaRPr sz="1500" u="none" strike="noStrike" cap="none" dirty="0">
                        <a:solidFill>
                          <a:srgbClr val="434343"/>
                        </a:solidFill>
                        <a:latin typeface="Roboto"/>
                        <a:ea typeface="Roboto"/>
                        <a:cs typeface="Roboto"/>
                        <a:sym typeface="Roboto"/>
                      </a:endParaRP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6"/>
          <p:cNvSpPr txBox="1">
            <a:spLocks noGrp="1"/>
          </p:cNvSpPr>
          <p:nvPr>
            <p:ph type="title" idx="4294967295"/>
          </p:nvPr>
        </p:nvSpPr>
        <p:spPr>
          <a:xfrm>
            <a:off x="457200" y="274638"/>
            <a:ext cx="8229600" cy="6399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Project Plan</a:t>
            </a:r>
            <a:endParaRPr/>
          </a:p>
        </p:txBody>
      </p:sp>
      <p:graphicFrame>
        <p:nvGraphicFramePr>
          <p:cNvPr id="187" name="Google Shape;187;p16"/>
          <p:cNvGraphicFramePr/>
          <p:nvPr>
            <p:extLst>
              <p:ext uri="{D42A27DB-BD31-4B8C-83A1-F6EECF244321}">
                <p14:modId xmlns:p14="http://schemas.microsoft.com/office/powerpoint/2010/main" val="2989865177"/>
              </p:ext>
            </p:extLst>
          </p:nvPr>
        </p:nvGraphicFramePr>
        <p:xfrm>
          <a:off x="457150" y="1151562"/>
          <a:ext cx="8229600" cy="5431800"/>
        </p:xfrm>
        <a:graphic>
          <a:graphicData uri="http://schemas.openxmlformats.org/drawingml/2006/table">
            <a:tbl>
              <a:tblPr>
                <a:noFill/>
                <a:tableStyleId>{E7912C61-ADF2-4F9C-BAB7-19EDA43E3A94}</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265257">
                <a:tc>
                  <a:txBody>
                    <a:bodyPr/>
                    <a:lstStyle/>
                    <a:p>
                      <a:pPr marL="0" marR="0" lvl="0" indent="0" algn="ctr" rtl="0">
                        <a:lnSpc>
                          <a:spcPct val="115000"/>
                        </a:lnSpc>
                        <a:spcBef>
                          <a:spcPts val="0"/>
                        </a:spcBef>
                        <a:spcAft>
                          <a:spcPts val="0"/>
                        </a:spcAft>
                        <a:buClr>
                          <a:srgbClr val="000000"/>
                        </a:buClr>
                        <a:buSzPts val="1200"/>
                        <a:buFont typeface="Arial"/>
                        <a:buNone/>
                      </a:pPr>
                      <a:r>
                        <a:rPr lang="en-US" sz="1200" b="1" u="none" strike="noStrike" cap="none">
                          <a:latin typeface="Roboto"/>
                          <a:ea typeface="Roboto"/>
                          <a:cs typeface="Roboto"/>
                          <a:sym typeface="Roboto"/>
                        </a:rPr>
                        <a:t>WBS NUMBER</a:t>
                      </a:r>
                      <a:endParaRPr sz="1200" b="1" u="none" strike="noStrike" cap="none">
                        <a:latin typeface="Roboto"/>
                        <a:ea typeface="Roboto"/>
                        <a:cs typeface="Roboto"/>
                        <a:sym typeface="Roboto"/>
                      </a:endParaRP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US" sz="1200" b="1" u="none" strike="noStrike" cap="none">
                          <a:latin typeface="Roboto"/>
                          <a:ea typeface="Roboto"/>
                          <a:cs typeface="Roboto"/>
                          <a:sym typeface="Roboto"/>
                        </a:rPr>
                        <a:t>TASK TITLE</a:t>
                      </a:r>
                      <a:endParaRPr sz="1200" b="1" u="none" strike="noStrike" cap="none">
                        <a:latin typeface="Roboto"/>
                        <a:ea typeface="Roboto"/>
                        <a:cs typeface="Roboto"/>
                        <a:sym typeface="Roboto"/>
                      </a:endParaRP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US" sz="1200" b="1" u="none" strike="noStrike" cap="none">
                          <a:latin typeface="Roboto"/>
                          <a:ea typeface="Roboto"/>
                          <a:cs typeface="Roboto"/>
                          <a:sym typeface="Roboto"/>
                        </a:rPr>
                        <a:t>TASK OWNER</a:t>
                      </a:r>
                      <a:endParaRPr sz="1200" b="1" u="none" strike="noStrike" cap="none">
                        <a:latin typeface="Roboto"/>
                        <a:ea typeface="Roboto"/>
                        <a:cs typeface="Roboto"/>
                        <a:sym typeface="Roboto"/>
                      </a:endParaRP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US" sz="1200" b="1" u="none" strike="noStrike" cap="none">
                          <a:latin typeface="Roboto"/>
                          <a:ea typeface="Roboto"/>
                          <a:cs typeface="Roboto"/>
                          <a:sym typeface="Roboto"/>
                        </a:rPr>
                        <a:t>START DATE</a:t>
                      </a:r>
                      <a:endParaRPr sz="1200" b="1" u="none" strike="noStrike" cap="none">
                        <a:latin typeface="Roboto"/>
                        <a:ea typeface="Roboto"/>
                        <a:cs typeface="Roboto"/>
                        <a:sym typeface="Roboto"/>
                      </a:endParaRP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marR="0" lvl="0" indent="0" algn="ctr" rtl="0">
                        <a:lnSpc>
                          <a:spcPct val="115000"/>
                        </a:lnSpc>
                        <a:spcBef>
                          <a:spcPts val="0"/>
                        </a:spcBef>
                        <a:spcAft>
                          <a:spcPts val="0"/>
                        </a:spcAft>
                        <a:buClr>
                          <a:srgbClr val="000000"/>
                        </a:buClr>
                        <a:buSzPts val="1200"/>
                        <a:buFont typeface="Arial"/>
                        <a:buNone/>
                      </a:pPr>
                      <a:r>
                        <a:rPr lang="en-US" sz="1200" b="1" u="none" strike="noStrike" cap="none">
                          <a:latin typeface="Roboto"/>
                          <a:ea typeface="Roboto"/>
                          <a:cs typeface="Roboto"/>
                          <a:sym typeface="Roboto"/>
                        </a:rPr>
                        <a:t>DUE DATE</a:t>
                      </a:r>
                      <a:endParaRPr sz="1200" b="1" u="none" strike="noStrike" cap="none">
                        <a:latin typeface="Roboto"/>
                        <a:ea typeface="Roboto"/>
                        <a:cs typeface="Roboto"/>
                        <a:sym typeface="Roboto"/>
                      </a:endParaRPr>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extLst>
                  <a:ext uri="{0D108BD9-81ED-4DB2-BD59-A6C34878D82A}">
                    <a16:rowId xmlns:a16="http://schemas.microsoft.com/office/drawing/2014/main" val="10000"/>
                  </a:ext>
                </a:extLst>
              </a:tr>
              <a:tr h="1005902">
                <a:tc>
                  <a:txBody>
                    <a:bodyPr/>
                    <a:lstStyle/>
                    <a:p>
                      <a:pPr marL="0" marR="0" lvl="0" indent="0" algn="l" rtl="0">
                        <a:lnSpc>
                          <a:spcPct val="115000"/>
                        </a:lnSpc>
                        <a:spcBef>
                          <a:spcPts val="0"/>
                        </a:spcBef>
                        <a:spcAft>
                          <a:spcPts val="0"/>
                        </a:spcAft>
                        <a:buClr>
                          <a:srgbClr val="000000"/>
                        </a:buClr>
                        <a:buSzPts val="1500"/>
                        <a:buFont typeface="Arial"/>
                        <a:buNone/>
                      </a:pPr>
                      <a:r>
                        <a:rPr lang="en-US" sz="1500" b="1" u="none" strike="noStrike" cap="none">
                          <a:latin typeface="Roboto"/>
                          <a:ea typeface="Roboto"/>
                          <a:cs typeface="Roboto"/>
                          <a:sym typeface="Roboto"/>
                        </a:rPr>
                        <a:t>3</a:t>
                      </a: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b="1" u="none" strike="noStrike" cap="none">
                          <a:latin typeface="Roboto"/>
                          <a:ea typeface="Roboto"/>
                          <a:cs typeface="Roboto"/>
                          <a:sym typeface="Roboto"/>
                        </a:rPr>
                        <a:t>Project Conception and Executoin</a:t>
                      </a:r>
                      <a:endParaRPr sz="1500" b="1" u="none" strike="noStrike" cap="none">
                        <a:latin typeface="Roboto"/>
                        <a:ea typeface="Roboto"/>
                        <a:cs typeface="Roboto"/>
                        <a:sym typeface="Roboto"/>
                      </a:endParaRPr>
                    </a:p>
                  </a:txBody>
                  <a:tcPr marL="0" marR="0" marT="0" marB="0"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tc>
                  <a:txBody>
                    <a:bodyPr/>
                    <a:lstStyle/>
                    <a:p>
                      <a:pPr marL="0" marR="0" lvl="0" indent="0" algn="l" rtl="0">
                        <a:lnSpc>
                          <a:spcPct val="115000"/>
                        </a:lnSpc>
                        <a:spcBef>
                          <a:spcPts val="0"/>
                        </a:spcBef>
                        <a:spcAft>
                          <a:spcPts val="0"/>
                        </a:spcAft>
                        <a:buClr>
                          <a:srgbClr val="000000"/>
                        </a:buClr>
                        <a:buSzPts val="1400"/>
                        <a:buFont typeface="Arial"/>
                        <a:buNone/>
                      </a:pPr>
                      <a:endParaRPr sz="1400" u="none" strike="noStrike" cap="none"/>
                    </a:p>
                  </a:txBody>
                  <a:tcPr marL="25400" marR="25400" marT="0" marB="0"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tc>
                  <a:txBody>
                    <a:bodyPr/>
                    <a:lstStyle/>
                    <a:p>
                      <a:pPr marL="0" marR="0" lvl="0" indent="0" algn="l" rtl="0">
                        <a:lnSpc>
                          <a:spcPct val="115000"/>
                        </a:lnSpc>
                        <a:spcBef>
                          <a:spcPts val="0"/>
                        </a:spcBef>
                        <a:spcAft>
                          <a:spcPts val="0"/>
                        </a:spcAft>
                        <a:buClr>
                          <a:srgbClr val="000000"/>
                        </a:buClr>
                        <a:buSzPts val="1400"/>
                        <a:buFont typeface="Arial"/>
                        <a:buNone/>
                      </a:pPr>
                      <a:endParaRPr sz="1400" u="none" strike="noStrike" cap="none"/>
                    </a:p>
                  </a:txBody>
                  <a:tcPr marL="25400" marR="25400" marT="0" marB="0" anchor="ctr">
                    <a:lnL w="9525" cap="flat" cmpd="sng" algn="ctr">
                      <a:solidFill>
                        <a:srgbClr val="CCCCCC"/>
                      </a:solidFill>
                      <a:prstDash val="solid"/>
                      <a:round/>
                      <a:headEnd type="none" w="sm" len="sm"/>
                      <a:tailEnd type="none" w="sm" len="sm"/>
                    </a:lnL>
                    <a:lnR w="9525" cap="flat" cmpd="sng" algn="ctr">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tc>
                  <a:txBody>
                    <a:bodyPr/>
                    <a:lstStyle/>
                    <a:p>
                      <a:pPr marL="0" marR="0" lvl="0" indent="0" algn="l" rtl="0">
                        <a:lnSpc>
                          <a:spcPct val="115000"/>
                        </a:lnSpc>
                        <a:spcBef>
                          <a:spcPts val="0"/>
                        </a:spcBef>
                        <a:spcAft>
                          <a:spcPts val="0"/>
                        </a:spcAft>
                        <a:buClr>
                          <a:srgbClr val="000000"/>
                        </a:buClr>
                        <a:buSzPts val="1400"/>
                        <a:buFont typeface="Arial"/>
                        <a:buNone/>
                      </a:pPr>
                      <a:endParaRPr sz="1400" u="none" strike="noStrike" cap="none"/>
                    </a:p>
                  </a:txBody>
                  <a:tcPr marL="25400" marR="25400" marT="0" marB="0" anchor="ctr">
                    <a:lnL w="9525" cap="flat" cmpd="sng" algn="ctr">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lgn="ctr">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extLst>
                  <a:ext uri="{0D108BD9-81ED-4DB2-BD59-A6C34878D82A}">
                    <a16:rowId xmlns:a16="http://schemas.microsoft.com/office/drawing/2014/main" val="10003"/>
                  </a:ext>
                </a:extLst>
              </a:tr>
              <a:tr h="297170">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rgbClr val="434343"/>
                          </a:solidFill>
                          <a:latin typeface="Roboto"/>
                          <a:ea typeface="Roboto"/>
                          <a:cs typeface="Roboto"/>
                          <a:sym typeface="Roboto"/>
                        </a:rPr>
                        <a:t>3.1</a:t>
                      </a: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rgbClr val="434343"/>
                          </a:solidFill>
                          <a:latin typeface="Roboto"/>
                          <a:ea typeface="Roboto"/>
                          <a:cs typeface="Roboto"/>
                          <a:sym typeface="Roboto"/>
                        </a:rPr>
                        <a:t>Project design</a:t>
                      </a: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dirty="0">
                          <a:solidFill>
                            <a:srgbClr val="434343"/>
                          </a:solidFill>
                          <a:latin typeface="Roboto"/>
                          <a:ea typeface="Roboto"/>
                          <a:cs typeface="Roboto"/>
                          <a:sym typeface="Roboto"/>
                        </a:rPr>
                        <a:t>Naveen M</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dirty="0"/>
                        <a:t>08/10/24</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dirty="0"/>
                        <a:t>10/10/24</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297170">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rgbClr val="434343"/>
                          </a:solidFill>
                          <a:latin typeface="Roboto"/>
                          <a:ea typeface="Roboto"/>
                          <a:cs typeface="Roboto"/>
                          <a:sym typeface="Roboto"/>
                        </a:rPr>
                        <a:t>3.2</a:t>
                      </a: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rgbClr val="434343"/>
                          </a:solidFill>
                          <a:latin typeface="Roboto"/>
                          <a:ea typeface="Roboto"/>
                          <a:cs typeface="Roboto"/>
                          <a:sym typeface="Roboto"/>
                        </a:rPr>
                        <a:t>Collection of Data</a:t>
                      </a: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Naveen M</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dirty="0"/>
                        <a:t>08/10/24</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dirty="0"/>
                        <a:t>09/10/24</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617468">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rgbClr val="434343"/>
                          </a:solidFill>
                          <a:latin typeface="Roboto"/>
                          <a:ea typeface="Roboto"/>
                          <a:cs typeface="Roboto"/>
                          <a:sym typeface="Roboto"/>
                        </a:rPr>
                        <a:t>3.2.1</a:t>
                      </a: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rgbClr val="434343"/>
                          </a:solidFill>
                          <a:latin typeface="Roboto"/>
                          <a:ea typeface="Roboto"/>
                          <a:cs typeface="Roboto"/>
                          <a:sym typeface="Roboto"/>
                        </a:rPr>
                        <a:t>Project Coding module1</a:t>
                      </a: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err="1"/>
                        <a:t>Migal</a:t>
                      </a:r>
                      <a:r>
                        <a:rPr lang="en-IN" sz="1400" u="none" strike="noStrike" cap="none" dirty="0"/>
                        <a:t> G </a:t>
                      </a:r>
                      <a:r>
                        <a:rPr lang="en-IN" sz="1400" u="none" strike="noStrike" cap="none" dirty="0" err="1"/>
                        <a:t>Arunadann</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defTabSz="914400" rtl="0" eaLnBrk="1" fontAlgn="auto" latinLnBrk="0" hangingPunct="1">
                        <a:lnSpc>
                          <a:spcPct val="115000"/>
                        </a:lnSpc>
                        <a:spcBef>
                          <a:spcPts val="0"/>
                        </a:spcBef>
                        <a:spcAft>
                          <a:spcPts val="0"/>
                        </a:spcAft>
                        <a:buClr>
                          <a:srgbClr val="000000"/>
                        </a:buClr>
                        <a:buSzPts val="1400"/>
                        <a:buFont typeface="Arial"/>
                        <a:buNone/>
                        <a:tabLst/>
                        <a:defRPr/>
                      </a:pPr>
                      <a:r>
                        <a:rPr lang="en-US" sz="1400" u="none" strike="noStrike" cap="none" dirty="0"/>
                        <a:t>09/10/24</a:t>
                      </a:r>
                    </a:p>
                    <a:p>
                      <a:pPr marL="0" marR="0" lvl="0" indent="0" algn="l" rtl="0">
                        <a:lnSpc>
                          <a:spcPct val="115000"/>
                        </a:lnSpc>
                        <a:spcBef>
                          <a:spcPts val="0"/>
                        </a:spcBef>
                        <a:spcAft>
                          <a:spcPts val="0"/>
                        </a:spcAft>
                        <a:buClr>
                          <a:srgbClr val="000000"/>
                        </a:buClr>
                        <a:buSzPts val="1400"/>
                        <a:buFont typeface="Arial"/>
                        <a:buNone/>
                      </a:pP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dirty="0"/>
                        <a:t>14/10/24</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r h="617468">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rgbClr val="434343"/>
                          </a:solidFill>
                          <a:latin typeface="Roboto"/>
                          <a:ea typeface="Roboto"/>
                          <a:cs typeface="Roboto"/>
                          <a:sym typeface="Roboto"/>
                        </a:rPr>
                        <a:t>3.2.2</a:t>
                      </a: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dirty="0">
                          <a:solidFill>
                            <a:srgbClr val="434343"/>
                          </a:solidFill>
                          <a:latin typeface="Roboto"/>
                          <a:ea typeface="Roboto"/>
                          <a:cs typeface="Roboto"/>
                          <a:sym typeface="Roboto"/>
                        </a:rPr>
                        <a:t>Project Coding module2</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err="1"/>
                        <a:t>Sudharsan</a:t>
                      </a:r>
                      <a:r>
                        <a:rPr lang="en-IN" sz="1400" u="none" strike="noStrike" cap="none" dirty="0"/>
                        <a:t> Ram M</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defTabSz="914400" rtl="0" eaLnBrk="1" fontAlgn="auto" latinLnBrk="0" hangingPunct="1">
                        <a:lnSpc>
                          <a:spcPct val="115000"/>
                        </a:lnSpc>
                        <a:spcBef>
                          <a:spcPts val="0"/>
                        </a:spcBef>
                        <a:spcAft>
                          <a:spcPts val="0"/>
                        </a:spcAft>
                        <a:buClr>
                          <a:srgbClr val="000000"/>
                        </a:buClr>
                        <a:buSzPts val="1400"/>
                        <a:buFont typeface="Arial"/>
                        <a:buNone/>
                        <a:tabLst/>
                        <a:defRPr/>
                      </a:pPr>
                      <a:r>
                        <a:rPr lang="en-US" sz="1400" u="none" strike="noStrike" cap="none" dirty="0"/>
                        <a:t>15/10/24</a:t>
                      </a:r>
                    </a:p>
                    <a:p>
                      <a:pPr marL="0" marR="0" lvl="0" indent="0" algn="l" rtl="0">
                        <a:lnSpc>
                          <a:spcPct val="115000"/>
                        </a:lnSpc>
                        <a:spcBef>
                          <a:spcPts val="0"/>
                        </a:spcBef>
                        <a:spcAft>
                          <a:spcPts val="0"/>
                        </a:spcAft>
                        <a:buClr>
                          <a:srgbClr val="000000"/>
                        </a:buClr>
                        <a:buSzPts val="1400"/>
                        <a:buFont typeface="Arial"/>
                        <a:buNone/>
                      </a:pP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dirty="0"/>
                        <a:t>20/10/24</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7"/>
                  </a:ext>
                </a:extLst>
              </a:tr>
              <a:tr h="617468">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rgbClr val="434343"/>
                          </a:solidFill>
                          <a:latin typeface="Roboto"/>
                          <a:ea typeface="Roboto"/>
                          <a:cs typeface="Roboto"/>
                          <a:sym typeface="Roboto"/>
                        </a:rPr>
                        <a:t>3.2.3</a:t>
                      </a: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rgbClr val="434343"/>
                          </a:solidFill>
                          <a:latin typeface="Roboto"/>
                          <a:ea typeface="Roboto"/>
                          <a:cs typeface="Roboto"/>
                          <a:sym typeface="Roboto"/>
                        </a:rPr>
                        <a:t>Project Integration</a:t>
                      </a: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IN" sz="1400" u="none" strike="noStrike" cap="none" dirty="0" err="1"/>
                        <a:t>Migal</a:t>
                      </a:r>
                      <a:r>
                        <a:rPr lang="en-IN" sz="1400" u="none" strike="noStrike" cap="none" dirty="0"/>
                        <a:t> G </a:t>
                      </a:r>
                      <a:r>
                        <a:rPr lang="en-IN" sz="1400" u="none" strike="noStrike" cap="none" dirty="0" err="1"/>
                        <a:t>Arunadann</a:t>
                      </a:r>
                      <a:endParaRPr lang="en-IN" sz="1400" u="none" strike="noStrike" cap="none" dirty="0"/>
                    </a:p>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dirty="0"/>
                        <a:t>21/10/24</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dirty="0"/>
                        <a:t>22/10/24</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8"/>
                  </a:ext>
                </a:extLst>
              </a:tr>
              <a:tr h="617468">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rgbClr val="434343"/>
                          </a:solidFill>
                          <a:latin typeface="Roboto"/>
                          <a:ea typeface="Roboto"/>
                          <a:cs typeface="Roboto"/>
                          <a:sym typeface="Roboto"/>
                        </a:rPr>
                        <a:t>3.2.4</a:t>
                      </a: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rgbClr val="434343"/>
                          </a:solidFill>
                          <a:latin typeface="Roboto"/>
                          <a:ea typeface="Roboto"/>
                          <a:cs typeface="Roboto"/>
                          <a:sym typeface="Roboto"/>
                        </a:rPr>
                        <a:t>Project Build and Execution</a:t>
                      </a: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IN" sz="1400" u="none" strike="noStrike" cap="none" dirty="0" err="1"/>
                        <a:t>Sudharsan</a:t>
                      </a:r>
                      <a:r>
                        <a:rPr lang="en-IN" sz="1400" u="none" strike="noStrike" cap="none" dirty="0"/>
                        <a:t> Ram M</a:t>
                      </a:r>
                    </a:p>
                    <a:p>
                      <a:pPr marL="0" marR="0" lvl="0" indent="0" algn="l" rtl="0">
                        <a:lnSpc>
                          <a:spcPct val="100000"/>
                        </a:lnSpc>
                        <a:spcBef>
                          <a:spcPts val="0"/>
                        </a:spcBef>
                        <a:spcAft>
                          <a:spcPts val="0"/>
                        </a:spcAft>
                        <a:buClr>
                          <a:srgbClr val="000000"/>
                        </a:buClr>
                        <a:buSzPts val="1400"/>
                        <a:buFont typeface="Arial"/>
                        <a:buNone/>
                      </a:pP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dirty="0"/>
                        <a:t>23/10/24</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dirty="0"/>
                        <a:t>25/10/24</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9"/>
                  </a:ext>
                </a:extLst>
              </a:tr>
              <a:tr h="319552">
                <a:tc>
                  <a:txBody>
                    <a:bodyPr/>
                    <a:lstStyle/>
                    <a:p>
                      <a:pPr marL="0" marR="0" lvl="0" indent="0" algn="l" rtl="0">
                        <a:lnSpc>
                          <a:spcPct val="115000"/>
                        </a:lnSpc>
                        <a:spcBef>
                          <a:spcPts val="0"/>
                        </a:spcBef>
                        <a:spcAft>
                          <a:spcPts val="0"/>
                        </a:spcAft>
                        <a:buClr>
                          <a:srgbClr val="000000"/>
                        </a:buClr>
                        <a:buSzPts val="1500"/>
                        <a:buFont typeface="Arial"/>
                        <a:buNone/>
                      </a:pPr>
                      <a:r>
                        <a:rPr lang="en-US" sz="1500" b="1" u="none" strike="noStrike" cap="none">
                          <a:latin typeface="Roboto"/>
                          <a:ea typeface="Roboto"/>
                          <a:cs typeface="Roboto"/>
                          <a:sym typeface="Roboto"/>
                        </a:rPr>
                        <a:t>4</a:t>
                      </a: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tc>
                  <a:txBody>
                    <a:bodyPr/>
                    <a:lstStyle/>
                    <a:p>
                      <a:pPr marL="0" marR="0" lvl="0" indent="0" algn="l" rtl="0">
                        <a:lnSpc>
                          <a:spcPct val="115000"/>
                        </a:lnSpc>
                        <a:spcBef>
                          <a:spcPts val="0"/>
                        </a:spcBef>
                        <a:spcAft>
                          <a:spcPts val="0"/>
                        </a:spcAft>
                        <a:buClr>
                          <a:srgbClr val="000000"/>
                        </a:buClr>
                        <a:buSzPts val="1500"/>
                        <a:buFont typeface="Arial"/>
                        <a:buNone/>
                      </a:pPr>
                      <a:r>
                        <a:rPr lang="en-US" sz="1500" b="1" u="none" strike="noStrike" cap="none">
                          <a:latin typeface="Roboto"/>
                          <a:ea typeface="Roboto"/>
                          <a:cs typeface="Roboto"/>
                          <a:sym typeface="Roboto"/>
                        </a:rPr>
                        <a:t>Project Testing</a:t>
                      </a:r>
                      <a:endParaRPr sz="1500" b="1" u="none" strike="noStrike" cap="none">
                        <a:latin typeface="Roboto"/>
                        <a:ea typeface="Roboto"/>
                        <a:cs typeface="Roboto"/>
                        <a:sym typeface="Roboto"/>
                      </a:endParaRPr>
                    </a:p>
                  </a:txBody>
                  <a:tcPr marL="0" marR="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tc>
                  <a:txBody>
                    <a:bodyPr/>
                    <a:lstStyle/>
                    <a:p>
                      <a:pPr marL="0" marR="0" lvl="0" indent="0" algn="l" rtl="0">
                        <a:lnSpc>
                          <a:spcPct val="115000"/>
                        </a:lnSpc>
                        <a:spcBef>
                          <a:spcPts val="0"/>
                        </a:spcBef>
                        <a:spcAft>
                          <a:spcPts val="0"/>
                        </a:spcAft>
                        <a:buClr>
                          <a:srgbClr val="000000"/>
                        </a:buClr>
                        <a:buSzPts val="1400"/>
                        <a:buFont typeface="Arial"/>
                        <a:buNone/>
                      </a:pP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tc>
                  <a:txBody>
                    <a:bodyPr/>
                    <a:lstStyle/>
                    <a:p>
                      <a:pPr marL="0" marR="0" lvl="0" indent="0" algn="l" rtl="0">
                        <a:lnSpc>
                          <a:spcPct val="115000"/>
                        </a:lnSpc>
                        <a:spcBef>
                          <a:spcPts val="0"/>
                        </a:spcBef>
                        <a:spcAft>
                          <a:spcPts val="0"/>
                        </a:spcAft>
                        <a:buClr>
                          <a:srgbClr val="000000"/>
                        </a:buClr>
                        <a:buSzPts val="1400"/>
                        <a:buFont typeface="Arial"/>
                        <a:buNone/>
                      </a:pP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tc>
                  <a:txBody>
                    <a:bodyPr/>
                    <a:lstStyle/>
                    <a:p>
                      <a:pPr marL="0" marR="0" lvl="0" indent="0" algn="l" rtl="0">
                        <a:lnSpc>
                          <a:spcPct val="115000"/>
                        </a:lnSpc>
                        <a:spcBef>
                          <a:spcPts val="0"/>
                        </a:spcBef>
                        <a:spcAft>
                          <a:spcPts val="0"/>
                        </a:spcAft>
                        <a:buClr>
                          <a:srgbClr val="000000"/>
                        </a:buClr>
                        <a:buSzPts val="1400"/>
                        <a:buFont typeface="Arial"/>
                        <a:buNone/>
                      </a:pP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CCCC"/>
                    </a:solidFill>
                  </a:tcPr>
                </a:tc>
                <a:extLst>
                  <a:ext uri="{0D108BD9-81ED-4DB2-BD59-A6C34878D82A}">
                    <a16:rowId xmlns:a16="http://schemas.microsoft.com/office/drawing/2014/main" val="10010"/>
                  </a:ext>
                </a:extLst>
              </a:tr>
              <a:tr h="297170">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rgbClr val="434343"/>
                          </a:solidFill>
                          <a:latin typeface="Roboto"/>
                          <a:ea typeface="Roboto"/>
                          <a:cs typeface="Roboto"/>
                          <a:sym typeface="Roboto"/>
                        </a:rPr>
                        <a:t>4.1</a:t>
                      </a: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rgbClr val="434343"/>
                          </a:solidFill>
                          <a:latin typeface="Roboto"/>
                          <a:ea typeface="Roboto"/>
                          <a:cs typeface="Roboto"/>
                          <a:sym typeface="Roboto"/>
                        </a:rPr>
                        <a:t>Project Testing</a:t>
                      </a: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dirty="0">
                          <a:solidFill>
                            <a:srgbClr val="434343"/>
                          </a:solidFill>
                          <a:latin typeface="Roboto"/>
                          <a:ea typeface="Roboto"/>
                          <a:cs typeface="Roboto"/>
                          <a:sym typeface="Roboto"/>
                        </a:rPr>
                        <a:t>Naveen M</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dirty="0"/>
                        <a:t>25/10/24</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dirty="0"/>
                        <a:t>26/10/24</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11"/>
                  </a:ext>
                </a:extLst>
              </a:tr>
              <a:tr h="479707">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rgbClr val="434343"/>
                          </a:solidFill>
                          <a:latin typeface="Roboto"/>
                          <a:ea typeface="Roboto"/>
                          <a:cs typeface="Roboto"/>
                          <a:sym typeface="Roboto"/>
                        </a:rPr>
                        <a:t>4.2</a:t>
                      </a:r>
                      <a:endParaRPr sz="1400" u="none" strike="noStrike" cap="none"/>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dirty="0">
                          <a:solidFill>
                            <a:srgbClr val="434343"/>
                          </a:solidFill>
                          <a:latin typeface="Roboto"/>
                          <a:ea typeface="Roboto"/>
                          <a:cs typeface="Roboto"/>
                          <a:sym typeface="Roboto"/>
                        </a:rPr>
                        <a:t>Project Delivery</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marR="0" lvl="0" indent="0" algn="l" defTabSz="914400" rtl="0" eaLnBrk="1" fontAlgn="auto" latinLnBrk="0" hangingPunct="1">
                        <a:lnSpc>
                          <a:spcPct val="115000"/>
                        </a:lnSpc>
                        <a:spcBef>
                          <a:spcPts val="0"/>
                        </a:spcBef>
                        <a:spcAft>
                          <a:spcPts val="0"/>
                        </a:spcAft>
                        <a:buClr>
                          <a:srgbClr val="000000"/>
                        </a:buClr>
                        <a:buSzPts val="1400"/>
                        <a:buFont typeface="Arial"/>
                        <a:buNone/>
                        <a:tabLst/>
                        <a:defRPr/>
                      </a:pPr>
                      <a:r>
                        <a:rPr lang="en-IN" sz="1400" b="0" i="0" u="none" strike="noStrike" cap="none" dirty="0" err="1">
                          <a:solidFill>
                            <a:srgbClr val="000000"/>
                          </a:solidFill>
                          <a:effectLst/>
                          <a:latin typeface="Arial"/>
                          <a:ea typeface="Arial"/>
                          <a:cs typeface="Arial"/>
                          <a:sym typeface="Arial"/>
                        </a:rPr>
                        <a:t>Migal</a:t>
                      </a:r>
                      <a:r>
                        <a:rPr lang="en-IN" sz="1400" b="0" i="0" u="none" strike="noStrike" cap="none" dirty="0">
                          <a:solidFill>
                            <a:srgbClr val="000000"/>
                          </a:solidFill>
                          <a:effectLst/>
                          <a:latin typeface="Arial"/>
                          <a:ea typeface="Arial"/>
                          <a:cs typeface="Arial"/>
                          <a:sym typeface="Arial"/>
                        </a:rPr>
                        <a:t> G </a:t>
                      </a:r>
                      <a:r>
                        <a:rPr lang="en-IN" sz="1400" b="0" i="0" u="none" strike="noStrike" cap="none" dirty="0" err="1">
                          <a:solidFill>
                            <a:srgbClr val="000000"/>
                          </a:solidFill>
                          <a:effectLst/>
                          <a:latin typeface="Arial"/>
                          <a:ea typeface="Arial"/>
                          <a:cs typeface="Arial"/>
                          <a:sym typeface="Arial"/>
                        </a:rPr>
                        <a:t>Arunadann</a:t>
                      </a:r>
                      <a:endParaRPr lang="en-IN" dirty="0">
                        <a:effectLst/>
                      </a:endParaRPr>
                    </a:p>
                    <a:p>
                      <a:pPr marL="0" marR="0" lvl="0" indent="0" algn="l" rtl="0">
                        <a:lnSpc>
                          <a:spcPct val="115000"/>
                        </a:lnSpc>
                        <a:spcBef>
                          <a:spcPts val="0"/>
                        </a:spcBef>
                        <a:spcAft>
                          <a:spcPts val="0"/>
                        </a:spcAft>
                        <a:buClr>
                          <a:srgbClr val="000000"/>
                        </a:buClr>
                        <a:buSzPts val="1400"/>
                        <a:buFont typeface="Arial"/>
                        <a:buNone/>
                      </a:pP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27/10/24</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B7B7B7"/>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30/10/24</a:t>
                      </a:r>
                      <a:endParaRPr sz="1400" u="none" strike="noStrike" cap="none" dirty="0"/>
                    </a:p>
                  </a:txBody>
                  <a:tcPr marL="25400" marR="25400" marT="0" marB="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B7B7B7"/>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2"/>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Conclusion</a:t>
            </a:r>
            <a:endParaRPr/>
          </a:p>
        </p:txBody>
      </p:sp>
      <p:sp>
        <p:nvSpPr>
          <p:cNvPr id="206" name="Google Shape;206;p32"/>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17500" algn="l" rtl="0">
              <a:lnSpc>
                <a:spcPct val="100000"/>
              </a:lnSpc>
              <a:spcBef>
                <a:spcPts val="518"/>
              </a:spcBef>
              <a:spcAft>
                <a:spcPts val="0"/>
              </a:spcAft>
              <a:buClr>
                <a:schemeClr val="dk1"/>
              </a:buClr>
              <a:buSzPts val="2800"/>
              <a:buChar char="•"/>
            </a:pPr>
            <a:r>
              <a:rPr lang="en-US" sz="2600" dirty="0"/>
              <a:t>Melanoma detection using machine learning, especially Convolutional Neural Networks (CNNs), shows great promise for improving diagnostic accuracy and efficiency. By incorporating transfer learning and data augmentation, the project can address challenges like data imbalance and small datasets. Ensemble learning further boosts performance by combining multiple algorithms. The development of a real-time detection app will make early melanoma screening more accessible and efficient. This project has the potential to enhance patient outcomes, reduce healthcare costs, and provide a scalable solution for early skin cancer detection.</a:t>
            </a:r>
            <a:endParaRPr sz="2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3"/>
          <p:cNvSpPr txBox="1">
            <a:spLocks noGrp="1"/>
          </p:cNvSpPr>
          <p:nvPr>
            <p:ph type="title" idx="4294967295"/>
          </p:nvPr>
        </p:nvSpPr>
        <p:spPr>
          <a:xfrm>
            <a:off x="457200" y="274638"/>
            <a:ext cx="82296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a:t>References</a:t>
            </a:r>
            <a:endParaRPr/>
          </a:p>
        </p:txBody>
      </p:sp>
      <p:sp>
        <p:nvSpPr>
          <p:cNvPr id="212" name="Google Shape;212;p33"/>
          <p:cNvSpPr txBox="1">
            <a:spLocks noGrp="1"/>
          </p:cNvSpPr>
          <p:nvPr>
            <p:ph type="body" idx="4294967295"/>
          </p:nvPr>
        </p:nvSpPr>
        <p:spPr>
          <a:xfrm>
            <a:off x="228600" y="990600"/>
            <a:ext cx="8610600" cy="5257800"/>
          </a:xfrm>
          <a:prstGeom prst="rect">
            <a:avLst/>
          </a:prstGeom>
          <a:noFill/>
          <a:ln>
            <a:noFill/>
          </a:ln>
        </p:spPr>
        <p:txBody>
          <a:bodyPr spcFirstLastPara="1" wrap="square" lIns="91425" tIns="45700" rIns="91425" bIns="45700" anchor="t" anchorCtr="0">
            <a:normAutofit/>
          </a:bodyPr>
          <a:lstStyle/>
          <a:p>
            <a:pPr marL="342900" lvl="0" indent="-312420" algn="l" rtl="0">
              <a:lnSpc>
                <a:spcPct val="100000"/>
              </a:lnSpc>
              <a:spcBef>
                <a:spcPts val="0"/>
              </a:spcBef>
              <a:spcAft>
                <a:spcPts val="0"/>
              </a:spcAft>
              <a:buClr>
                <a:schemeClr val="dk1"/>
              </a:buClr>
              <a:buSzPct val="100000"/>
              <a:buChar char="•"/>
            </a:pPr>
            <a:r>
              <a:rPr lang="en-US" sz="2800" u="sng" dirty="0">
                <a:solidFill>
                  <a:schemeClr val="hlink"/>
                </a:solidFill>
                <a:hlinkClick r:id="rId3"/>
              </a:rPr>
              <a:t>https://en.wikipedia.org/wiki/Melanoma</a:t>
            </a:r>
            <a:endParaRPr lang="en-US" sz="2800" u="sng" dirty="0">
              <a:solidFill>
                <a:schemeClr val="hlink"/>
              </a:solidFill>
            </a:endParaRPr>
          </a:p>
          <a:p>
            <a:pPr marL="342900" lvl="0" indent="-312420" algn="l" rtl="0">
              <a:lnSpc>
                <a:spcPct val="100000"/>
              </a:lnSpc>
              <a:spcBef>
                <a:spcPts val="0"/>
              </a:spcBef>
              <a:spcAft>
                <a:spcPts val="0"/>
              </a:spcAft>
              <a:buClr>
                <a:schemeClr val="dk1"/>
              </a:buClr>
              <a:buSzPct val="100000"/>
              <a:buChar char="•"/>
            </a:pPr>
            <a:r>
              <a:rPr lang="en-US" sz="2800" u="sng" dirty="0">
                <a:solidFill>
                  <a:schemeClr val="hlink"/>
                </a:solidFill>
              </a:rPr>
              <a:t>https://iopscience.iop.org/article/10.1088/1757-899X/1065/1/012039</a:t>
            </a:r>
          </a:p>
          <a:p>
            <a:pPr marL="342900" lvl="0" indent="-312420" algn="l" rtl="0">
              <a:lnSpc>
                <a:spcPct val="100000"/>
              </a:lnSpc>
              <a:spcBef>
                <a:spcPts val="0"/>
              </a:spcBef>
              <a:spcAft>
                <a:spcPts val="0"/>
              </a:spcAft>
              <a:buClr>
                <a:schemeClr val="dk1"/>
              </a:buClr>
              <a:buSzPct val="100000"/>
              <a:buChar char="•"/>
            </a:pPr>
            <a:r>
              <a:rPr lang="en-US" sz="2800" u="sng" dirty="0">
                <a:solidFill>
                  <a:schemeClr val="hlink"/>
                </a:solidFill>
              </a:rPr>
              <a:t>https://www.ncbi.nlm.nih.gov/pmc/articles/PMC9777935/</a:t>
            </a:r>
          </a:p>
          <a:p>
            <a:pPr marL="30480" lvl="0" indent="0" algn="l" rtl="0">
              <a:lnSpc>
                <a:spcPct val="100000"/>
              </a:lnSpc>
              <a:spcBef>
                <a:spcPts val="0"/>
              </a:spcBef>
              <a:spcAft>
                <a:spcPts val="0"/>
              </a:spcAft>
              <a:buClr>
                <a:schemeClr val="dk1"/>
              </a:buClr>
              <a:buSzPct val="100000"/>
              <a:buNone/>
            </a:pPr>
            <a:endParaRPr lang="en-US" b="1" u="sng" dirty="0">
              <a:solidFill>
                <a:schemeClr val="hlink"/>
              </a:solidFill>
            </a:endParaRPr>
          </a:p>
          <a:p>
            <a:pPr marL="30480" lvl="0" indent="0" algn="l" rtl="0">
              <a:lnSpc>
                <a:spcPct val="100000"/>
              </a:lnSpc>
              <a:spcBef>
                <a:spcPts val="0"/>
              </a:spcBef>
              <a:spcAft>
                <a:spcPts val="0"/>
              </a:spcAft>
              <a:buClr>
                <a:schemeClr val="dk1"/>
              </a:buClr>
              <a:buSzPct val="100000"/>
              <a:buNone/>
            </a:pPr>
            <a:r>
              <a:rPr lang="en-US" b="1" u="sng" dirty="0"/>
              <a:t>Book Reference: </a:t>
            </a:r>
            <a:endParaRPr dirty="0"/>
          </a:p>
          <a:p>
            <a:pPr marL="342900" lvl="0" indent="-312420" algn="l" rtl="0">
              <a:lnSpc>
                <a:spcPct val="100000"/>
              </a:lnSpc>
              <a:spcBef>
                <a:spcPts val="640"/>
              </a:spcBef>
              <a:spcAft>
                <a:spcPts val="0"/>
              </a:spcAft>
              <a:buClr>
                <a:schemeClr val="dk1"/>
              </a:buClr>
              <a:buSzPct val="100000"/>
              <a:buChar char="•"/>
            </a:pPr>
            <a:r>
              <a:rPr lang="en-US" sz="2800" dirty="0"/>
              <a:t>"Deep Learning for Medical Image </a:t>
            </a:r>
            <a:r>
              <a:rPr lang="en-US" sz="2800" dirty="0" err="1"/>
              <a:t>Analysis"Authors</a:t>
            </a:r>
            <a:r>
              <a:rPr lang="en-US" sz="2800" dirty="0"/>
              <a:t>: Geert </a:t>
            </a:r>
            <a:r>
              <a:rPr lang="en-US" sz="2800" dirty="0" err="1"/>
              <a:t>Litjens</a:t>
            </a:r>
            <a:r>
              <a:rPr lang="en-US" sz="2800" dirty="0"/>
              <a:t>, Thijs </a:t>
            </a:r>
            <a:r>
              <a:rPr lang="en-US" sz="2800" dirty="0" err="1"/>
              <a:t>Kooi</a:t>
            </a:r>
            <a:r>
              <a:rPr lang="en-US" sz="2800" dirty="0"/>
              <a:t>, Babak </a:t>
            </a:r>
            <a:r>
              <a:rPr lang="en-US" sz="2800" dirty="0" err="1"/>
              <a:t>Bejnordi</a:t>
            </a:r>
            <a:r>
              <a:rPr lang="en-US" sz="2800" dirty="0"/>
              <a:t>, et al. </a:t>
            </a:r>
          </a:p>
          <a:p>
            <a:pPr marL="342900" lvl="0" indent="-312420" algn="l" rtl="0">
              <a:lnSpc>
                <a:spcPct val="100000"/>
              </a:lnSpc>
              <a:spcBef>
                <a:spcPts val="640"/>
              </a:spcBef>
              <a:spcAft>
                <a:spcPts val="0"/>
              </a:spcAft>
              <a:buClr>
                <a:schemeClr val="dk1"/>
              </a:buClr>
              <a:buSzPct val="100000"/>
              <a:buChar char="•"/>
            </a:pPr>
            <a:r>
              <a:rPr lang="en-US" sz="2800" dirty="0"/>
              <a:t>"Skin Cancer: Recognition and </a:t>
            </a:r>
            <a:r>
              <a:rPr lang="en-US" sz="2800" dirty="0" err="1"/>
              <a:t>Management"Authors</a:t>
            </a:r>
            <a:r>
              <a:rPr lang="en-US" sz="2800" dirty="0"/>
              <a:t>: Steven Q. Wang</a:t>
            </a:r>
            <a:endParaRPr sz="2800" b="1" u="sng"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TotalTime>
  <Words>1461</Words>
  <Application>Microsoft Office PowerPoint</Application>
  <PresentationFormat>On-screen Show (4:3)</PresentationFormat>
  <Paragraphs>327</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Roboto</vt:lpstr>
      <vt:lpstr>Times New Roman</vt:lpstr>
      <vt:lpstr>Office Theme</vt:lpstr>
      <vt:lpstr>PowerPoint Presentation</vt:lpstr>
      <vt:lpstr>Agenda</vt:lpstr>
      <vt:lpstr>Introduction</vt:lpstr>
      <vt:lpstr>Statement of the Problem</vt:lpstr>
      <vt:lpstr>Purpose of the project</vt:lpstr>
      <vt:lpstr>Proposed Methodology</vt:lpstr>
      <vt:lpstr>Expected Results and Implications</vt:lpstr>
      <vt:lpstr>Literature Review-Reference Paper 1</vt:lpstr>
      <vt:lpstr>Literature Review-Reference Paper 2</vt:lpstr>
      <vt:lpstr>Literature Review-Reference Paper 3</vt:lpstr>
      <vt:lpstr>Literature Review-Reference Paper 4</vt:lpstr>
      <vt:lpstr>Literature Review-Reference Paper 5</vt:lpstr>
      <vt:lpstr>Summary of Literature Review</vt:lpstr>
      <vt:lpstr>Summary of Literature Review</vt:lpstr>
      <vt:lpstr>Summary of Literature Review</vt:lpstr>
      <vt:lpstr>Outcome of the LR - Scope of the project</vt:lpstr>
      <vt:lpstr>Project Plan</vt:lpstr>
      <vt:lpstr>Project Plan</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naveen m</cp:lastModifiedBy>
  <cp:revision>4</cp:revision>
  <dcterms:modified xsi:type="dcterms:W3CDTF">2024-10-04T16:18:27Z</dcterms:modified>
</cp:coreProperties>
</file>