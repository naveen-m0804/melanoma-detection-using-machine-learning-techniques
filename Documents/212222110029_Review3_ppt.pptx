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0"/>
  </p:notesMasterIdLst>
  <p:sldIdLst>
    <p:sldId id="291" r:id="rId2"/>
    <p:sldId id="257" r:id="rId3"/>
    <p:sldId id="258" r:id="rId4"/>
    <p:sldId id="259" r:id="rId5"/>
    <p:sldId id="292" r:id="rId6"/>
    <p:sldId id="260" r:id="rId7"/>
    <p:sldId id="262" r:id="rId8"/>
    <p:sldId id="263" r:id="rId9"/>
    <p:sldId id="264" r:id="rId10"/>
    <p:sldId id="265" r:id="rId11"/>
    <p:sldId id="267" r:id="rId12"/>
    <p:sldId id="268" r:id="rId13"/>
    <p:sldId id="270" r:id="rId14"/>
    <p:sldId id="272" r:id="rId15"/>
    <p:sldId id="275" r:id="rId16"/>
    <p:sldId id="276" r:id="rId17"/>
    <p:sldId id="277" r:id="rId18"/>
    <p:sldId id="278" r:id="rId19"/>
    <p:sldId id="280" r:id="rId20"/>
    <p:sldId id="279" r:id="rId21"/>
    <p:sldId id="283" r:id="rId22"/>
    <p:sldId id="285" r:id="rId23"/>
    <p:sldId id="295" r:id="rId24"/>
    <p:sldId id="293" r:id="rId25"/>
    <p:sldId id="287" r:id="rId26"/>
    <p:sldId id="294" r:id="rId27"/>
    <p:sldId id="289" r:id="rId28"/>
    <p:sldId id="290" r:id="rId2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376BE2-5878-43F6-A2E4-6D553025AAE3}">
  <a:tblStyle styleId="{98376BE2-5878-43F6-A2E4-6D553025AAE3}" styleName="Table_0">
    <a:wholeTbl>
      <a:tcTxStyle b="off" i="off">
        <a:font>
          <a:latin typeface="Times New Roman"/>
          <a:ea typeface="Times New Roman"/>
          <a:cs typeface="Times New Roman"/>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Times New Roman"/>
          <a:ea typeface="Times New Roman"/>
          <a:cs typeface="Times New Roman"/>
        </a:font>
        <a:srgbClr val="FFFFFF"/>
      </a:tcTxStyle>
      <a:tcStyle>
        <a:tcBdr/>
        <a:fill>
          <a:solidFill>
            <a:srgbClr val="4F81BD"/>
          </a:solidFill>
        </a:fill>
      </a:tcStyle>
    </a:lastCol>
    <a:firstCol>
      <a:tcTxStyle b="on" i="off">
        <a:font>
          <a:latin typeface="Times New Roman"/>
          <a:ea typeface="Times New Roman"/>
          <a:cs typeface="Times New Roman"/>
        </a:font>
        <a:srgbClr val="FFFFFF"/>
      </a:tcTxStyle>
      <a:tcStyle>
        <a:tcBdr/>
        <a:fill>
          <a:solidFill>
            <a:srgbClr val="4F81BD"/>
          </a:solidFill>
        </a:fill>
      </a:tcStyle>
    </a:firstCol>
    <a:lastRow>
      <a:tcTxStyle b="on" i="off">
        <a:font>
          <a:latin typeface="Times New Roman"/>
          <a:ea typeface="Times New Roman"/>
          <a:cs typeface="Times New Roman"/>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i="off">
        <a:font>
          <a:latin typeface="Times New Roman"/>
          <a:ea typeface="Times New Roman"/>
          <a:cs typeface="Times New Roman"/>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858" y="1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
        <p:nvSpPr>
          <p:cNvPr id="91" name="Google Shape;91;p1:notes"/>
          <p:cNvSpPr>
            <a:spLocks noGrp="1" noRot="1" noChangeAspect="1"/>
          </p:cNvSpPr>
          <p:nvPr>
            <p:ph type="sldImg" idx="2"/>
          </p:nvPr>
        </p:nvSpPr>
        <p:spPr>
          <a:xfrm>
            <a:off x="1168400" y="708025"/>
            <a:ext cx="4535488" cy="340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1:notes"/>
          <p:cNvSpPr txBox="1">
            <a:spLocks noGrp="1"/>
          </p:cNvSpPr>
          <p:nvPr>
            <p:ph type="body" idx="1"/>
          </p:nvPr>
        </p:nvSpPr>
        <p:spPr>
          <a:xfrm>
            <a:off x="915294" y="4343703"/>
            <a:ext cx="5027414" cy="4098773"/>
          </a:xfrm>
          <a:prstGeom prst="rect">
            <a:avLst/>
          </a:prstGeom>
          <a:noFill/>
          <a:ln>
            <a:noFill/>
          </a:ln>
        </p:spPr>
        <p:txBody>
          <a:bodyPr spcFirstLastPara="1" wrap="square" lIns="89675" tIns="44825" rIns="89675" bIns="44825" anchor="t"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6a1f637bf1_0_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26a1f637bf1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6a1f637bf1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26a1f637bf1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08ac8a805b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g308ac8a805b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6a1f637bf1_0_3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g26a1f637bf1_0_3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6a1f637bf1_0_3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g26a1f637bf1_0_3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8e048d8f5c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g28e048d8f5c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6a1f637bf1_0_3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g26a1f637bf1_0_3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6a1f637bf1_0_3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26a1f637bf1_0_3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0abb61cccf_0_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g30abb61cccf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8e048d8f5c_0_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28e048d8f5c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8e048d8f5c_0_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g28e048d8f5c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6a1f637bf1_0_3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g26a1f637bf1_0_3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6a1f637bf1_0_3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g26a1f637bf1_0_3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6a1f637bf1_0_3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g26a1f637bf1_0_3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6a1f637bf1_0_3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26a1f637bf1_0_3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6a1f637bf1_0_4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g26a1f637bf1_0_4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8e048d8f5c_0_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g28e048d8f5c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6a1f637bf1_0_4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26a1f637bf1_0_4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6a1f637bf1_0_4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g26a1f637bf1_0_4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15"/>
        <p:cNvGrpSpPr/>
        <p:nvPr/>
      </p:nvGrpSpPr>
      <p:grpSpPr>
        <a:xfrm>
          <a:off x="0" y="0"/>
          <a:ext cx="0" cy="0"/>
          <a:chOff x="0" y="0"/>
          <a:chExt cx="0" cy="0"/>
        </a:xfrm>
      </p:grpSpPr>
      <p:sp>
        <p:nvSpPr>
          <p:cNvPr id="16" name="Google Shape;16;p2"/>
          <p:cNvSpPr txBox="1"/>
          <p:nvPr/>
        </p:nvSpPr>
        <p:spPr>
          <a:xfrm>
            <a:off x="1371600" y="6687979"/>
            <a:ext cx="5984875"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SEC-  DEPARTMENT OF </a:t>
            </a:r>
            <a:r>
              <a:rPr lang="en-US" sz="1000">
                <a:solidFill>
                  <a:schemeClr val="dk1"/>
                </a:solidFill>
                <a:latin typeface="Calibri"/>
                <a:ea typeface="Calibri"/>
                <a:cs typeface="Calibri"/>
                <a:sym typeface="Calibri"/>
              </a:rPr>
              <a:t>CSE(IOT)</a:t>
            </a:r>
            <a:r>
              <a:rPr lang="en-US" sz="1000" b="0" i="0" u="none" strike="noStrike" cap="none">
                <a:solidFill>
                  <a:schemeClr val="dk1"/>
                </a:solidFill>
                <a:latin typeface="Calibri"/>
                <a:ea typeface="Calibri"/>
                <a:cs typeface="Calibri"/>
                <a:sym typeface="Calibri"/>
              </a:rPr>
              <a:t>–  </a:t>
            </a:r>
            <a:r>
              <a:rPr lang="en-US" sz="1000">
                <a:solidFill>
                  <a:schemeClr val="dk1"/>
                </a:solidFill>
                <a:latin typeface="Calibri"/>
                <a:ea typeface="Calibri"/>
                <a:cs typeface="Calibri"/>
                <a:sym typeface="Calibri"/>
              </a:rPr>
              <a:t>3-</a:t>
            </a:r>
            <a:r>
              <a:rPr lang="en-US" sz="1000" b="0" i="0" u="none" strike="noStrike" cap="none">
                <a:solidFill>
                  <a:schemeClr val="dk1"/>
                </a:solidFill>
                <a:latin typeface="Calibri"/>
                <a:ea typeface="Calibri"/>
                <a:cs typeface="Calibri"/>
                <a:sym typeface="Calibri"/>
              </a:rPr>
              <a:t> </a:t>
            </a:r>
            <a:r>
              <a:rPr lang="en-US" sz="1000">
                <a:solidFill>
                  <a:schemeClr val="dk1"/>
                </a:solidFill>
                <a:latin typeface="Calibri"/>
                <a:ea typeface="Calibri"/>
                <a:cs typeface="Calibri"/>
                <a:sym typeface="Calibri"/>
              </a:rPr>
              <a:t>1</a:t>
            </a:r>
            <a:r>
              <a:rPr lang="en-US" sz="1000" b="0" i="0" u="none" strike="noStrike" cap="none">
                <a:solidFill>
                  <a:schemeClr val="dk1"/>
                </a:solidFill>
                <a:latin typeface="Calibri"/>
                <a:ea typeface="Calibri"/>
                <a:cs typeface="Calibri"/>
                <a:sym typeface="Calibri"/>
              </a:rPr>
              <a:t> –</a:t>
            </a:r>
            <a:r>
              <a:rPr lang="en-US" sz="1000">
                <a:solidFill>
                  <a:schemeClr val="dk1"/>
                </a:solidFill>
                <a:latin typeface="Calibri"/>
                <a:ea typeface="Calibri"/>
                <a:cs typeface="Calibri"/>
                <a:sym typeface="Calibri"/>
              </a:rPr>
              <a:t>MINIPROJECT</a:t>
            </a:r>
            <a:r>
              <a:rPr lang="en-US" sz="1000" b="0" i="0" u="none" strike="noStrike" cap="none">
                <a:solidFill>
                  <a:schemeClr val="dk1"/>
                </a:solidFill>
                <a:latin typeface="Calibri"/>
                <a:ea typeface="Calibri"/>
                <a:cs typeface="Calibri"/>
                <a:sym typeface="Calibri"/>
              </a:rPr>
              <a:t>– slide# -</a:t>
            </a:r>
            <a:fld id="{00000000-1234-1234-1234-123412341234}" type="slidenum">
              <a:rPr lang="en-US" sz="1000" b="0" i="0" u="none" strike="noStrike" cap="none">
                <a:solidFill>
                  <a:schemeClr val="dk1"/>
                </a:solidFill>
                <a:latin typeface="Calibri"/>
                <a:ea typeface="Calibri"/>
                <a:cs typeface="Calibri"/>
                <a:sym typeface="Calibri"/>
              </a:rPr>
              <a:t>‹#›</a:t>
            </a:fld>
            <a:endParaRPr sz="1000" b="0" i="0" u="none" strike="noStrike" cap="none">
              <a:solidFill>
                <a:schemeClr val="dk1"/>
              </a:solidFill>
              <a:latin typeface="Calibri"/>
              <a:ea typeface="Calibri"/>
              <a:cs typeface="Calibri"/>
              <a:sym typeface="Calibri"/>
            </a:endParaRPr>
          </a:p>
        </p:txBody>
      </p:sp>
      <p:sp>
        <p:nvSpPr>
          <p:cNvPr id="17" name="Google Shape;17;p2"/>
          <p:cNvSpPr txBox="1"/>
          <p:nvPr/>
        </p:nvSpPr>
        <p:spPr>
          <a:xfrm>
            <a:off x="457200" y="274638"/>
            <a:ext cx="8229600" cy="584200"/>
          </a:xfrm>
          <a:prstGeom prst="rect">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chemeClr val="dk1"/>
              </a:solidFill>
              <a:latin typeface="Calibri"/>
              <a:ea typeface="Calibri"/>
              <a:cs typeface="Calibri"/>
              <a:sym typeface="Calibri"/>
            </a:endParaRPr>
          </a:p>
        </p:txBody>
      </p:sp>
      <p:sp>
        <p:nvSpPr>
          <p:cNvPr id="18" name="Google Shape;18;p2"/>
          <p:cNvSpPr txBox="1"/>
          <p:nvPr/>
        </p:nvSpPr>
        <p:spPr>
          <a:xfrm>
            <a:off x="457200" y="1027113"/>
            <a:ext cx="8229600" cy="5402262"/>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pic>
        <p:nvPicPr>
          <p:cNvPr id="19" name="Google Shape;19;p2" descr="C:\Users\ELCOT\Desktop\Saveetha Logo.png"/>
          <p:cNvPicPr preferRelativeResize="0"/>
          <p:nvPr/>
        </p:nvPicPr>
        <p:blipFill rotWithShape="1">
          <a:blip r:embed="rId2">
            <a:alphaModFix/>
          </a:blip>
          <a:srcRect r="26621" b="28150"/>
          <a:stretch/>
        </p:blipFill>
        <p:spPr>
          <a:xfrm>
            <a:off x="6588225" y="2899"/>
            <a:ext cx="2570075" cy="2717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
        <p:nvSpPr>
          <p:cNvPr id="21" name="Google Shape;21;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3" name="Google Shape;23;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5" name="Google Shape;35;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6" name="Google Shape;66;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7" name="Google Shape;6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1"/>
          <p:cNvSpPr>
            <a:spLocks noGrp="1"/>
          </p:cNvSpPr>
          <p:nvPr>
            <p:ph type="pic" idx="2"/>
          </p:nvPr>
        </p:nvSpPr>
        <p:spPr>
          <a:xfrm>
            <a:off x="1792288" y="612775"/>
            <a:ext cx="5486400" cy="4114800"/>
          </a:xfrm>
          <a:prstGeom prst="rect">
            <a:avLst/>
          </a:prstGeom>
          <a:noFill/>
          <a:ln>
            <a:noFill/>
          </a:ln>
        </p:spPr>
      </p:sp>
      <p:sp>
        <p:nvSpPr>
          <p:cNvPr id="73" name="Google Shape;73;p1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4" name="Google Shape;7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en.wikipedia.org/wiki/Melanoma"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p:nvPr/>
        </p:nvSpPr>
        <p:spPr>
          <a:xfrm>
            <a:off x="457200" y="274638"/>
            <a:ext cx="8229600" cy="639762"/>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4400" b="0" i="0" u="none" strike="noStrike" cap="none">
                <a:solidFill>
                  <a:schemeClr val="dk1"/>
                </a:solidFill>
                <a:latin typeface="Calibri"/>
                <a:ea typeface="Calibri"/>
                <a:cs typeface="Calibri"/>
                <a:sym typeface="Calibri"/>
              </a:rPr>
              <a:t>Mini Project (19AI701) – Review 2</a:t>
            </a:r>
            <a:endParaRPr sz="44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266700" y="800100"/>
            <a:ext cx="8610600" cy="449580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US" sz="2600" b="1" i="0" u="sng" strike="noStrike" cap="none" dirty="0">
                <a:solidFill>
                  <a:schemeClr val="dk1"/>
                </a:solidFill>
                <a:latin typeface="Calibri"/>
                <a:ea typeface="Calibri"/>
                <a:cs typeface="Calibri"/>
                <a:sym typeface="Calibri"/>
              </a:rPr>
              <a:t>Melanoma Detection Using Machine Learning Techniques</a:t>
            </a:r>
            <a:br>
              <a:rPr lang="en-US" sz="3000" b="0" i="0" u="none" strike="noStrike" cap="none" dirty="0">
                <a:solidFill>
                  <a:srgbClr val="538CD5"/>
                </a:solidFill>
                <a:latin typeface="Calibri"/>
                <a:ea typeface="Calibri"/>
                <a:cs typeface="Calibri"/>
                <a:sym typeface="Calibri"/>
              </a:rPr>
            </a:br>
            <a:endParaRPr lang="en-US" sz="2800" b="1"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200" b="1" i="0" u="none" strike="noStrike" cap="none" dirty="0">
                <a:solidFill>
                  <a:schemeClr val="dk1"/>
                </a:solidFill>
                <a:latin typeface="Calibri"/>
                <a:ea typeface="Calibri"/>
                <a:cs typeface="Calibri"/>
                <a:sym typeface="Calibri"/>
              </a:rPr>
              <a:t>Submitted by:</a:t>
            </a:r>
            <a:endParaRPr lang="en-US" sz="22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200" b="1" i="0" u="none" strike="noStrike" cap="none" dirty="0">
                <a:solidFill>
                  <a:schemeClr val="dk1"/>
                </a:solidFill>
                <a:latin typeface="Calibri"/>
                <a:ea typeface="Calibri"/>
                <a:cs typeface="Calibri"/>
                <a:sym typeface="Calibri"/>
              </a:rPr>
              <a:t>NAVEEN M (212222110029)</a:t>
            </a:r>
            <a:br>
              <a:rPr lang="en-US" sz="2200" b="1" i="0" u="none" strike="noStrike" cap="none" dirty="0">
                <a:solidFill>
                  <a:schemeClr val="dk1"/>
                </a:solidFill>
                <a:latin typeface="Calibri"/>
                <a:ea typeface="Calibri"/>
                <a:cs typeface="Calibri"/>
                <a:sym typeface="Calibri"/>
              </a:rPr>
            </a:br>
            <a:r>
              <a:rPr lang="en-US" sz="2200" b="1" i="0" u="none" strike="noStrike" cap="none" dirty="0">
                <a:solidFill>
                  <a:schemeClr val="dk1"/>
                </a:solidFill>
                <a:latin typeface="Calibri"/>
                <a:ea typeface="Calibri"/>
                <a:cs typeface="Calibri"/>
                <a:sym typeface="Calibri"/>
              </a:rPr>
              <a:t>SUDHARASAN RAM (212222110048)</a:t>
            </a:r>
          </a:p>
          <a:p>
            <a:pPr marL="0" marR="0" lvl="0" indent="0" algn="ctr" rtl="0">
              <a:spcBef>
                <a:spcPts val="0"/>
              </a:spcBef>
              <a:spcAft>
                <a:spcPts val="0"/>
              </a:spcAft>
              <a:buNone/>
            </a:pPr>
            <a:r>
              <a:rPr lang="en-US" sz="2200" b="1" i="0" u="none" strike="noStrike" cap="none" dirty="0">
                <a:solidFill>
                  <a:schemeClr val="dk1"/>
                </a:solidFill>
                <a:latin typeface="Calibri"/>
                <a:ea typeface="Calibri"/>
                <a:cs typeface="Calibri"/>
                <a:sym typeface="Calibri"/>
              </a:rPr>
              <a:t>MIGAL G ARUNADANN (212222110025)</a:t>
            </a:r>
          </a:p>
          <a:p>
            <a:pPr marL="0" marR="0" lvl="0" indent="0" algn="ctr" rtl="0">
              <a:spcBef>
                <a:spcPts val="0"/>
              </a:spcBef>
              <a:spcAft>
                <a:spcPts val="0"/>
              </a:spcAft>
              <a:buNone/>
            </a:pPr>
            <a:r>
              <a:rPr lang="en-US" sz="2800" b="0" i="0" u="none" strike="noStrike" cap="none" dirty="0">
                <a:solidFill>
                  <a:schemeClr val="dk1"/>
                </a:solidFill>
                <a:latin typeface="Calibri"/>
                <a:ea typeface="Calibri"/>
                <a:cs typeface="Calibri"/>
                <a:sym typeface="Calibri"/>
              </a:rPr>
              <a:t>2022-2026 Batch</a:t>
            </a:r>
          </a:p>
          <a:p>
            <a:pPr marL="0" marR="0" lvl="0" indent="0" algn="ctr" rtl="0">
              <a:spcBef>
                <a:spcPts val="0"/>
              </a:spcBef>
              <a:spcAft>
                <a:spcPts val="0"/>
              </a:spcAft>
              <a:buNone/>
            </a:pPr>
            <a:r>
              <a:rPr lang="en-US" sz="2800" b="0" i="0" u="none" strike="noStrike" cap="none" dirty="0">
                <a:solidFill>
                  <a:schemeClr val="dk1"/>
                </a:solidFill>
                <a:latin typeface="Calibri"/>
                <a:ea typeface="Calibri"/>
                <a:cs typeface="Calibri"/>
                <a:sym typeface="Calibri"/>
              </a:rPr>
              <a:t> TEAM NO: 152</a:t>
            </a:r>
            <a:endParaRPr lang="en-US" dirty="0"/>
          </a:p>
          <a:p>
            <a:pPr marL="0" marR="0" lvl="0" indent="0" algn="ctr" rtl="0">
              <a:spcBef>
                <a:spcPts val="0"/>
              </a:spcBef>
              <a:spcAft>
                <a:spcPts val="0"/>
              </a:spcAft>
              <a:buNone/>
            </a:pPr>
            <a:r>
              <a:rPr lang="en-US" sz="2000" b="1" i="0" u="none" strike="noStrike" cap="none" dirty="0">
                <a:solidFill>
                  <a:schemeClr val="dk1"/>
                </a:solidFill>
                <a:latin typeface="Calibri"/>
                <a:ea typeface="Calibri"/>
                <a:cs typeface="Calibri"/>
                <a:sym typeface="Calibri"/>
              </a:rPr>
              <a:t>Under the guidance of:</a:t>
            </a:r>
            <a:endParaRPr lang="en-US" sz="20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000" b="1" i="0" u="none" strike="noStrike" cap="none" dirty="0">
                <a:solidFill>
                  <a:schemeClr val="dk1"/>
                </a:solidFill>
                <a:latin typeface="Calibri"/>
                <a:ea typeface="Calibri"/>
                <a:cs typeface="Calibri"/>
                <a:sym typeface="Calibri"/>
              </a:rPr>
              <a:t> Dr.S.SELLAKUMAR</a:t>
            </a:r>
            <a:endParaRPr lang="en-US" sz="2000" b="0" i="0" u="none" strike="noStrike" cap="none" dirty="0">
              <a:solidFill>
                <a:schemeClr val="dk1"/>
              </a:solidFill>
              <a:latin typeface="Calibri"/>
              <a:ea typeface="Calibri"/>
              <a:cs typeface="Calibri"/>
              <a:sym typeface="Calibri"/>
            </a:endParaRPr>
          </a:p>
          <a:p>
            <a:pPr marL="742950" marR="0" lvl="1" indent="-134619" algn="ctr" rtl="0">
              <a:lnSpc>
                <a:spcPct val="100000"/>
              </a:lnSpc>
              <a:spcBef>
                <a:spcPts val="476"/>
              </a:spcBef>
              <a:spcAft>
                <a:spcPts val="0"/>
              </a:spcAft>
              <a:buClr>
                <a:schemeClr val="dk1"/>
              </a:buClr>
              <a:buSzPct val="100000"/>
              <a:buFont typeface="Arial"/>
              <a:buNone/>
            </a:pPr>
            <a:r>
              <a:rPr lang="en-US" sz="2800" b="0" i="0" u="none" strike="noStrike" cap="none" dirty="0">
                <a:solidFill>
                  <a:schemeClr val="dk1"/>
                </a:solidFill>
                <a:latin typeface="Calibri"/>
                <a:ea typeface="Calibri"/>
                <a:cs typeface="Calibri"/>
                <a:sym typeface="Calibri"/>
              </a:rPr>
              <a:t>Assistant Professor Department of Mechanical Engineering (SCOFT)</a:t>
            </a:r>
          </a:p>
        </p:txBody>
      </p:sp>
      <p:sp>
        <p:nvSpPr>
          <p:cNvPr id="96" name="Google Shape;96;p1"/>
          <p:cNvSpPr txBox="1"/>
          <p:nvPr/>
        </p:nvSpPr>
        <p:spPr>
          <a:xfrm>
            <a:off x="-304800" y="5486400"/>
            <a:ext cx="9829800" cy="1295400"/>
          </a:xfrm>
          <a:prstGeom prst="rect">
            <a:avLst/>
          </a:prstGeom>
          <a:noFill/>
          <a:ln>
            <a:noFill/>
          </a:ln>
        </p:spPr>
        <p:txBody>
          <a:bodyPr spcFirstLastPara="1" wrap="square" lIns="91425" tIns="45700" rIns="91425" bIns="45700" anchor="t" anchorCtr="0">
            <a:normAutofit fontScale="475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ct val="100000"/>
              <a:buFont typeface="Arial"/>
              <a:buNone/>
            </a:pPr>
            <a:r>
              <a:rPr lang="en-US"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ct val="100000"/>
              <a:buFont typeface="Arial"/>
              <a:buNone/>
            </a:pPr>
            <a:r>
              <a:rPr lang="en-US" sz="2400" b="1" i="0" u="none" strike="noStrike" cap="none">
                <a:solidFill>
                  <a:schemeClr val="dk1"/>
                </a:solidFill>
                <a:latin typeface="Calibri"/>
                <a:ea typeface="Calibri"/>
                <a:cs typeface="Calibri"/>
                <a:sym typeface="Calibri"/>
              </a:rPr>
              <a:t>  </a:t>
            </a:r>
            <a:r>
              <a:rPr lang="en-US" sz="3500" b="1" i="0" u="none" strike="noStrike" cap="none">
                <a:solidFill>
                  <a:schemeClr val="dk1"/>
                </a:solidFill>
                <a:latin typeface="Calibri"/>
                <a:ea typeface="Calibri"/>
                <a:cs typeface="Calibri"/>
                <a:sym typeface="Calibri"/>
              </a:rPr>
              <a:t>DEPARTMENT OF COMPUTER SCIENCE AND ENGINEERING - </a:t>
            </a:r>
            <a:r>
              <a:rPr lang="en-US" sz="3500" b="1">
                <a:solidFill>
                  <a:schemeClr val="dk1"/>
                </a:solidFill>
                <a:latin typeface="Calibri"/>
                <a:ea typeface="Calibri"/>
                <a:cs typeface="Calibri"/>
                <a:sym typeface="Calibri"/>
              </a:rPr>
              <a:t>IOT</a:t>
            </a:r>
            <a:endParaRPr sz="3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ct val="100000"/>
              <a:buFont typeface="Arial"/>
              <a:buNone/>
            </a:pPr>
            <a:r>
              <a:rPr lang="en-US" sz="2400" b="1" i="0" u="none" strike="noStrike" cap="none">
                <a:solidFill>
                  <a:schemeClr val="dk1"/>
                </a:solidFill>
                <a:latin typeface="Calibri"/>
                <a:ea typeface="Calibri"/>
                <a:cs typeface="Calibri"/>
                <a:sym typeface="Calibri"/>
              </a:rPr>
              <a:t>  </a:t>
            </a:r>
            <a:r>
              <a:rPr lang="en-US" sz="5100" b="1" i="0" u="none" strike="noStrike" cap="none">
                <a:solidFill>
                  <a:schemeClr val="dk1"/>
                </a:solidFill>
                <a:latin typeface="Calibri"/>
                <a:ea typeface="Calibri"/>
                <a:cs typeface="Calibri"/>
                <a:sym typeface="Calibri"/>
              </a:rPr>
              <a:t>SAVEETHA ENGINEERING COLLEGE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ct val="100000"/>
              <a:buFont typeface="Arial"/>
              <a:buNone/>
            </a:pPr>
            <a:r>
              <a:rPr lang="en-US" sz="2400" b="1" i="0" u="none" strike="noStrike" cap="none">
                <a:solidFill>
                  <a:schemeClr val="dk1"/>
                </a:solidFill>
                <a:latin typeface="Calibri"/>
                <a:ea typeface="Calibri"/>
                <a:cs typeface="Calibri"/>
                <a:sym typeface="Calibri"/>
              </a:rPr>
              <a:t>(Autonomous Institution – UGC, Govt. of India)</a:t>
            </a:r>
            <a:endParaRPr sz="2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ct val="100000"/>
              <a:buFont typeface="Arial"/>
              <a:buNone/>
            </a:pPr>
            <a:r>
              <a:rPr lang="en-US" sz="2400" b="0" i="0" u="none" strike="noStrike" cap="none">
                <a:solidFill>
                  <a:schemeClr val="dk1"/>
                </a:solidFill>
                <a:latin typeface="Calibri"/>
                <a:ea typeface="Calibri"/>
                <a:cs typeface="Calibri"/>
                <a:sym typeface="Calibri"/>
              </a:rPr>
              <a:t> (Affiliated to Anna University, Approved by AICTE - Accredited by NBA &amp; NAAC – ‘A’ Grade - ISO 9001:2015 Certified)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ct val="100000"/>
              <a:buFont typeface="Arial"/>
              <a:buNone/>
            </a:pPr>
            <a:r>
              <a:rPr lang="en-US" sz="2400" b="0" i="0" u="none" strike="noStrike" cap="none">
                <a:solidFill>
                  <a:schemeClr val="dk1"/>
                </a:solidFill>
                <a:latin typeface="Calibri"/>
                <a:ea typeface="Calibri"/>
                <a:cs typeface="Calibri"/>
                <a:sym typeface="Calibri"/>
              </a:rPr>
              <a:t>Saveetha Nagar, Thandalam, Chennai-602 105, TamilNadu, INDIA.</a:t>
            </a:r>
            <a:endParaRPr sz="2800" b="0" i="0" u="none" strike="noStrike" cap="none">
              <a:solidFill>
                <a:schemeClr val="dk1"/>
              </a:solidFill>
              <a:latin typeface="Calibri"/>
              <a:ea typeface="Calibri"/>
              <a:cs typeface="Calibri"/>
              <a:sym typeface="Calibri"/>
            </a:endParaRPr>
          </a:p>
          <a:p>
            <a:pPr marL="742950" marR="0" lvl="1" indent="-201294" algn="l" rtl="0">
              <a:lnSpc>
                <a:spcPct val="100000"/>
              </a:lnSpc>
              <a:spcBef>
                <a:spcPts val="266"/>
              </a:spcBef>
              <a:spcAft>
                <a:spcPts val="0"/>
              </a:spcAft>
              <a:buClr>
                <a:schemeClr val="dk1"/>
              </a:buClr>
              <a:buSzPct val="100000"/>
              <a:buFont typeface="Arial"/>
              <a:buNone/>
            </a:pPr>
            <a:endParaRPr sz="2800" b="0" i="0" u="none" strike="noStrike" cap="none">
              <a:solidFill>
                <a:schemeClr val="dk1"/>
              </a:solidFill>
              <a:latin typeface="Calibri"/>
              <a:ea typeface="Calibri"/>
              <a:cs typeface="Calibri"/>
              <a:sym typeface="Calibri"/>
            </a:endParaRPr>
          </a:p>
        </p:txBody>
      </p:sp>
      <p:pic>
        <p:nvPicPr>
          <p:cNvPr id="97" name="Google Shape;97;p1"/>
          <p:cNvPicPr preferRelativeResize="0"/>
          <p:nvPr/>
        </p:nvPicPr>
        <p:blipFill rotWithShape="1">
          <a:blip r:embed="rId3">
            <a:alphaModFix/>
          </a:blip>
          <a:srcRect/>
          <a:stretch/>
        </p:blipFill>
        <p:spPr>
          <a:xfrm>
            <a:off x="4191000" y="5105400"/>
            <a:ext cx="685800" cy="666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Agenda</a:t>
            </a:r>
            <a:endParaRPr/>
          </a:p>
        </p:txBody>
      </p:sp>
      <p:sp>
        <p:nvSpPr>
          <p:cNvPr id="103" name="Google Shape;103;p15"/>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85000" lnSpcReduction="20000"/>
          </a:bodyPr>
          <a:lstStyle/>
          <a:p>
            <a:pPr marL="457200" lvl="0" indent="-370840" algn="l" rtl="0">
              <a:spcBef>
                <a:spcPts val="0"/>
              </a:spcBef>
              <a:spcAft>
                <a:spcPts val="0"/>
              </a:spcAft>
              <a:buSzPct val="100000"/>
              <a:buAutoNum type="arabicPeriod"/>
            </a:pPr>
            <a:r>
              <a:rPr lang="en-US" dirty="0"/>
              <a:t>Introduction</a:t>
            </a:r>
            <a:endParaRPr dirty="0"/>
          </a:p>
          <a:p>
            <a:pPr marL="457200" lvl="0" indent="-370840" algn="l" rtl="0">
              <a:spcBef>
                <a:spcPts val="0"/>
              </a:spcBef>
              <a:spcAft>
                <a:spcPts val="0"/>
              </a:spcAft>
              <a:buSzPct val="100000"/>
              <a:buAutoNum type="arabicPeriod"/>
            </a:pPr>
            <a:r>
              <a:rPr lang="en-US" dirty="0"/>
              <a:t>Statement of the Problem</a:t>
            </a:r>
            <a:endParaRPr dirty="0"/>
          </a:p>
          <a:p>
            <a:pPr marL="457200" lvl="0" indent="-370840" algn="l" rtl="0">
              <a:spcBef>
                <a:spcPts val="0"/>
              </a:spcBef>
              <a:spcAft>
                <a:spcPts val="0"/>
              </a:spcAft>
              <a:buSzPct val="100000"/>
              <a:buAutoNum type="arabicPeriod"/>
            </a:pPr>
            <a:r>
              <a:rPr lang="en-US" dirty="0"/>
              <a:t>Scope of the project</a:t>
            </a:r>
            <a:endParaRPr dirty="0"/>
          </a:p>
          <a:p>
            <a:pPr marL="457200" lvl="0" indent="-370840" algn="l" rtl="0">
              <a:spcBef>
                <a:spcPts val="0"/>
              </a:spcBef>
              <a:spcAft>
                <a:spcPts val="0"/>
              </a:spcAft>
              <a:buSzPct val="100000"/>
              <a:buAutoNum type="arabicPeriod"/>
            </a:pPr>
            <a:r>
              <a:rPr lang="en-US" dirty="0"/>
              <a:t>Methodology </a:t>
            </a:r>
            <a:endParaRPr dirty="0"/>
          </a:p>
          <a:p>
            <a:pPr marL="914400" lvl="1" indent="-353060" algn="l" rtl="0">
              <a:spcBef>
                <a:spcPts val="0"/>
              </a:spcBef>
              <a:spcAft>
                <a:spcPts val="0"/>
              </a:spcAft>
              <a:buSzPct val="100000"/>
              <a:buAutoNum type="alphaLcPeriod"/>
            </a:pPr>
            <a:r>
              <a:rPr lang="en-US" dirty="0"/>
              <a:t>Architectural Diagram</a:t>
            </a:r>
            <a:endParaRPr dirty="0"/>
          </a:p>
          <a:p>
            <a:pPr marL="914400" lvl="1" indent="-353060" algn="l" rtl="0">
              <a:spcBef>
                <a:spcPts val="0"/>
              </a:spcBef>
              <a:spcAft>
                <a:spcPts val="0"/>
              </a:spcAft>
              <a:buSzPct val="100000"/>
              <a:buAutoNum type="alphaLcPeriod"/>
            </a:pPr>
            <a:r>
              <a:rPr lang="en-US" dirty="0"/>
              <a:t>Flow</a:t>
            </a:r>
            <a:endParaRPr dirty="0"/>
          </a:p>
          <a:p>
            <a:pPr marL="914400" lvl="1" indent="-353060" algn="l" rtl="0">
              <a:spcBef>
                <a:spcPts val="0"/>
              </a:spcBef>
              <a:spcAft>
                <a:spcPts val="0"/>
              </a:spcAft>
              <a:buSzPct val="100000"/>
              <a:buAutoNum type="alphaLcPeriod"/>
            </a:pPr>
            <a:r>
              <a:rPr lang="en-US" dirty="0"/>
              <a:t>Algorithm used</a:t>
            </a:r>
            <a:endParaRPr dirty="0"/>
          </a:p>
          <a:p>
            <a:pPr marL="914400" lvl="1" indent="-353060" algn="l" rtl="0">
              <a:spcBef>
                <a:spcPts val="0"/>
              </a:spcBef>
              <a:spcAft>
                <a:spcPts val="0"/>
              </a:spcAft>
              <a:buSzPct val="100000"/>
              <a:buAutoNum type="alphaLcPeriod"/>
            </a:pPr>
            <a:r>
              <a:rPr lang="en-US" dirty="0"/>
              <a:t>Design - Use Case Diagram, Class Diagram</a:t>
            </a:r>
            <a:endParaRPr dirty="0"/>
          </a:p>
          <a:p>
            <a:pPr marL="914400" lvl="1" indent="-353060" algn="l" rtl="0">
              <a:spcBef>
                <a:spcPts val="0"/>
              </a:spcBef>
              <a:spcAft>
                <a:spcPts val="0"/>
              </a:spcAft>
              <a:buSzPct val="100000"/>
              <a:buAutoNum type="alphaLcPeriod"/>
            </a:pPr>
            <a:r>
              <a:rPr lang="en-US" dirty="0"/>
              <a:t>Implementation</a:t>
            </a:r>
            <a:endParaRPr dirty="0"/>
          </a:p>
          <a:p>
            <a:pPr marL="914400" lvl="1" indent="-353060" algn="l" rtl="0">
              <a:spcBef>
                <a:spcPts val="0"/>
              </a:spcBef>
              <a:spcAft>
                <a:spcPts val="0"/>
              </a:spcAft>
              <a:buSzPct val="100000"/>
              <a:buAutoNum type="alphaLcPeriod"/>
            </a:pPr>
            <a:r>
              <a:rPr lang="en-US" dirty="0"/>
              <a:t>Important code segments</a:t>
            </a:r>
            <a:endParaRPr dirty="0"/>
          </a:p>
          <a:p>
            <a:pPr marL="457200" lvl="0" indent="-370840" algn="l" rtl="0">
              <a:spcBef>
                <a:spcPts val="0"/>
              </a:spcBef>
              <a:spcAft>
                <a:spcPts val="0"/>
              </a:spcAft>
              <a:buSzPct val="100000"/>
              <a:buAutoNum type="arabicPeriod"/>
            </a:pPr>
            <a:r>
              <a:rPr lang="en-US" dirty="0"/>
              <a:t>Output, Results</a:t>
            </a:r>
            <a:endParaRPr dirty="0"/>
          </a:p>
          <a:p>
            <a:pPr marL="457200" lvl="0" indent="-370840" algn="l" rtl="0">
              <a:spcBef>
                <a:spcPts val="0"/>
              </a:spcBef>
              <a:spcAft>
                <a:spcPts val="0"/>
              </a:spcAft>
              <a:buSzPct val="100000"/>
              <a:buAutoNum type="arabicPeriod"/>
            </a:pPr>
            <a:r>
              <a:rPr lang="en-US" dirty="0"/>
              <a:t>Test Cases</a:t>
            </a:r>
            <a:endParaRPr dirty="0"/>
          </a:p>
          <a:p>
            <a:pPr marL="457200" lvl="0" indent="-370840" algn="l" rtl="0">
              <a:spcBef>
                <a:spcPts val="0"/>
              </a:spcBef>
              <a:spcAft>
                <a:spcPts val="0"/>
              </a:spcAft>
              <a:buSzPct val="100000"/>
              <a:buAutoNum type="arabicPeriod"/>
            </a:pPr>
            <a:r>
              <a:rPr lang="en-US" dirty="0"/>
              <a:t>Conclusions</a:t>
            </a:r>
            <a:endParaRPr dirty="0"/>
          </a:p>
          <a:p>
            <a:pPr marL="457200" lvl="0" indent="-370840" algn="l" rtl="0">
              <a:spcBef>
                <a:spcPts val="0"/>
              </a:spcBef>
              <a:spcAft>
                <a:spcPts val="0"/>
              </a:spcAft>
              <a:buSzPct val="100000"/>
              <a:buAutoNum type="arabicPeriod"/>
            </a:pPr>
            <a:r>
              <a:rPr lang="en-US" dirty="0"/>
              <a:t>Future work</a:t>
            </a:r>
            <a:endParaRPr dirty="0"/>
          </a:p>
          <a:p>
            <a:pPr marL="457200" lvl="0" indent="-370840" algn="l" rtl="0">
              <a:spcBef>
                <a:spcPts val="0"/>
              </a:spcBef>
              <a:spcAft>
                <a:spcPts val="0"/>
              </a:spcAft>
              <a:buSzPct val="100000"/>
              <a:buAutoNum type="arabicPeriod"/>
            </a:pPr>
            <a:r>
              <a:rPr lang="en-US" dirty="0"/>
              <a:t>References</a:t>
            </a:r>
            <a:endParaRPr dirty="0"/>
          </a:p>
          <a:p>
            <a:pPr marL="342900" lvl="0" indent="-342900" algn="l" rtl="0">
              <a:spcBef>
                <a:spcPts val="640"/>
              </a:spcBef>
              <a:spcAft>
                <a:spcPts val="0"/>
              </a:spcAft>
              <a:buClr>
                <a:schemeClr val="dk1"/>
              </a:buClr>
              <a:buSzPct val="1000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Introduction</a:t>
            </a:r>
            <a:endParaRPr/>
          </a:p>
        </p:txBody>
      </p:sp>
      <p:sp>
        <p:nvSpPr>
          <p:cNvPr id="109" name="Google Shape;109;p16"/>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27660" algn="l" rtl="0">
              <a:spcBef>
                <a:spcPts val="518"/>
              </a:spcBef>
              <a:spcAft>
                <a:spcPts val="0"/>
              </a:spcAft>
              <a:buSzPct val="114285"/>
              <a:buChar char="•"/>
            </a:pPr>
            <a:r>
              <a:rPr lang="en-US" sz="2800" dirty="0"/>
              <a:t>Melanoma Prediction</a:t>
            </a:r>
          </a:p>
          <a:p>
            <a:pPr marL="15240" lvl="0" indent="0" algn="l" rtl="0">
              <a:spcBef>
                <a:spcPts val="518"/>
              </a:spcBef>
              <a:spcAft>
                <a:spcPts val="0"/>
              </a:spcAft>
              <a:buSzPct val="114285"/>
              <a:buNone/>
            </a:pPr>
            <a:endParaRPr dirty="0"/>
          </a:p>
          <a:p>
            <a:pPr marL="742950" lvl="1" indent="-285750" algn="l" rtl="0">
              <a:spcBef>
                <a:spcPts val="518"/>
              </a:spcBef>
              <a:spcAft>
                <a:spcPts val="0"/>
              </a:spcAft>
              <a:buClr>
                <a:schemeClr val="dk1"/>
              </a:buClr>
              <a:buSzPct val="100000"/>
              <a:buChar char="–"/>
            </a:pPr>
            <a:r>
              <a:rPr lang="en-US" sz="2400" dirty="0"/>
              <a:t> Melanoma: A type of skin cancer that is often deadly if not detected early.</a:t>
            </a:r>
          </a:p>
          <a:p>
            <a:pPr marL="742950" lvl="1" indent="-285750" algn="l" rtl="0">
              <a:spcBef>
                <a:spcPts val="518"/>
              </a:spcBef>
              <a:spcAft>
                <a:spcPts val="0"/>
              </a:spcAft>
              <a:buClr>
                <a:schemeClr val="dk1"/>
              </a:buClr>
              <a:buSzPct val="100000"/>
              <a:buChar char="–"/>
            </a:pPr>
            <a:r>
              <a:rPr lang="en-US" sz="2400" dirty="0"/>
              <a:t>Global Impact: Skin cancer, especially melanoma, is increasing due to environmental and genetic factors.</a:t>
            </a:r>
          </a:p>
          <a:p>
            <a:pPr marL="742950" lvl="1" indent="-285750" algn="l" rtl="0">
              <a:spcBef>
                <a:spcPts val="518"/>
              </a:spcBef>
              <a:spcAft>
                <a:spcPts val="0"/>
              </a:spcAft>
              <a:buClr>
                <a:schemeClr val="dk1"/>
              </a:buClr>
              <a:buSzPct val="100000"/>
              <a:buChar char="–"/>
            </a:pPr>
            <a:r>
              <a:rPr lang="en-US" sz="2400" dirty="0"/>
              <a:t>Early Detection Importance: Using machine learning, early detection can significantly improve survival rates.</a:t>
            </a:r>
          </a:p>
          <a:p>
            <a:pPr marL="742950" lvl="1" indent="-285750" algn="l" rtl="0">
              <a:spcBef>
                <a:spcPts val="518"/>
              </a:spcBef>
              <a:spcAft>
                <a:spcPts val="0"/>
              </a:spcAft>
              <a:buClr>
                <a:schemeClr val="dk1"/>
              </a:buClr>
              <a:buSzPct val="100000"/>
              <a:buChar char="–"/>
            </a:pPr>
            <a:r>
              <a:rPr lang="en-US" sz="2400" dirty="0"/>
              <a:t>Objective: Develop a machine learning model for accurate and quick melanoma detection using medical image data.</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Statement of the Problem</a:t>
            </a:r>
            <a:endParaRPr/>
          </a:p>
        </p:txBody>
      </p:sp>
      <p:sp>
        <p:nvSpPr>
          <p:cNvPr id="115" name="Google Shape;115;p17"/>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spcBef>
                <a:spcPts val="518"/>
              </a:spcBef>
              <a:spcAft>
                <a:spcPts val="0"/>
              </a:spcAft>
              <a:buSzPts val="3200"/>
              <a:buChar char="•"/>
            </a:pPr>
            <a:r>
              <a:rPr lang="en-US" sz="2800" b="1" dirty="0"/>
              <a:t>Melanoma Prediction</a:t>
            </a:r>
          </a:p>
          <a:p>
            <a:pPr marL="742950" lvl="1" indent="-285750" algn="l" rtl="0">
              <a:spcBef>
                <a:spcPts val="518"/>
              </a:spcBef>
              <a:spcAft>
                <a:spcPts val="0"/>
              </a:spcAft>
              <a:buSzPts val="2800"/>
              <a:buChar char="–"/>
            </a:pPr>
            <a:r>
              <a:rPr lang="en-US" dirty="0"/>
              <a:t>Challenge: </a:t>
            </a:r>
            <a:endParaRPr dirty="0"/>
          </a:p>
          <a:p>
            <a:pPr marL="742950" lvl="1" indent="-285750" algn="l" rtl="0">
              <a:spcBef>
                <a:spcPts val="518"/>
              </a:spcBef>
              <a:spcAft>
                <a:spcPts val="0"/>
              </a:spcAft>
              <a:buSzPts val="2800"/>
              <a:buChar char="–"/>
            </a:pPr>
            <a:r>
              <a:rPr lang="en-US" sz="2400" dirty="0"/>
              <a:t>Traditional methods involve manual inspections which can be subjective and time-consuming. </a:t>
            </a:r>
          </a:p>
          <a:p>
            <a:pPr marL="457200" lvl="1" indent="0" algn="l" rtl="0">
              <a:spcBef>
                <a:spcPts val="518"/>
              </a:spcBef>
              <a:spcAft>
                <a:spcPts val="0"/>
              </a:spcAft>
              <a:buSzPts val="2800"/>
              <a:buNone/>
            </a:pPr>
            <a:endParaRPr lang="en-US" sz="2400" dirty="0"/>
          </a:p>
          <a:p>
            <a:pPr marL="742950" lvl="1" indent="-285750" algn="l" rtl="0">
              <a:spcBef>
                <a:spcPts val="518"/>
              </a:spcBef>
              <a:spcAft>
                <a:spcPts val="0"/>
              </a:spcAft>
              <a:buSzPts val="2800"/>
              <a:buChar char="–"/>
            </a:pPr>
            <a:r>
              <a:rPr lang="en-IN" dirty="0"/>
              <a:t>Delays in Diagnosis:</a:t>
            </a:r>
          </a:p>
          <a:p>
            <a:pPr marL="742950" lvl="1" indent="-285750" algn="l" rtl="0">
              <a:spcBef>
                <a:spcPts val="518"/>
              </a:spcBef>
              <a:spcAft>
                <a:spcPts val="0"/>
              </a:spcAft>
              <a:buSzPts val="2800"/>
              <a:buChar char="–"/>
            </a:pPr>
            <a:r>
              <a:rPr lang="en-US" sz="2400" dirty="0"/>
              <a:t>Manual inspections delay melanoma treatment.</a:t>
            </a:r>
            <a:endParaRPr lang="en-IN" dirty="0"/>
          </a:p>
          <a:p>
            <a:pPr marL="742950" lvl="1" indent="-285750" algn="l" rtl="0">
              <a:spcBef>
                <a:spcPts val="518"/>
              </a:spcBef>
              <a:spcAft>
                <a:spcPts val="0"/>
              </a:spcAft>
              <a:buSzPts val="2800"/>
              <a:buChar char="–"/>
            </a:pPr>
            <a:endParaRPr lang="en-US" dirty="0"/>
          </a:p>
          <a:p>
            <a:pPr marL="742950" lvl="1" indent="-285750" algn="l" rtl="0">
              <a:spcBef>
                <a:spcPts val="518"/>
              </a:spcBef>
              <a:spcAft>
                <a:spcPts val="0"/>
              </a:spcAft>
              <a:buSzPts val="2800"/>
              <a:buChar char="–"/>
            </a:pPr>
            <a:r>
              <a:rPr lang="en-IN" dirty="0"/>
              <a:t>Objective:</a:t>
            </a:r>
          </a:p>
          <a:p>
            <a:pPr marL="742950" lvl="1" indent="-285750" algn="l" rtl="0">
              <a:spcBef>
                <a:spcPts val="518"/>
              </a:spcBef>
              <a:spcAft>
                <a:spcPts val="0"/>
              </a:spcAft>
              <a:buSzPts val="2800"/>
              <a:buChar char="–"/>
            </a:pPr>
            <a:r>
              <a:rPr lang="en-US" sz="2400" dirty="0"/>
              <a:t>Build a machine learning model to detect melanoma accurately from </a:t>
            </a:r>
            <a:r>
              <a:rPr lang="en-US" sz="2400" dirty="0" err="1"/>
              <a:t>dermatoscopic</a:t>
            </a:r>
            <a:r>
              <a:rPr lang="en-US" sz="2400" dirty="0"/>
              <a:t> images.</a:t>
            </a:r>
            <a:endParaRPr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Scope of the project</a:t>
            </a:r>
            <a:endParaRPr/>
          </a:p>
        </p:txBody>
      </p:sp>
      <p:sp>
        <p:nvSpPr>
          <p:cNvPr id="121" name="Google Shape;121;p18"/>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2500" lnSpcReduction="20000"/>
          </a:bodyPr>
          <a:lstStyle/>
          <a:p>
            <a:pPr marL="342900" lvl="0" indent="-327660" algn="l" rtl="0">
              <a:spcBef>
                <a:spcPts val="518"/>
              </a:spcBef>
              <a:spcAft>
                <a:spcPts val="0"/>
              </a:spcAft>
              <a:buSzPct val="114285"/>
              <a:buChar char="•"/>
            </a:pPr>
            <a:r>
              <a:rPr lang="en-US" sz="2800" dirty="0"/>
              <a:t>Melanoma Prediction</a:t>
            </a:r>
            <a:endParaRPr dirty="0"/>
          </a:p>
          <a:p>
            <a:pPr marL="742950" lvl="1" indent="-272415" algn="l" rtl="0">
              <a:spcBef>
                <a:spcPts val="518"/>
              </a:spcBef>
              <a:spcAft>
                <a:spcPts val="0"/>
              </a:spcAft>
              <a:buSzPct val="100000"/>
              <a:buChar char="–"/>
            </a:pPr>
            <a:r>
              <a:rPr lang="en-US" b="1" dirty="0"/>
              <a:t>Scope</a:t>
            </a:r>
            <a:r>
              <a:rPr lang="en-US" dirty="0"/>
              <a:t>: </a:t>
            </a:r>
            <a:endParaRPr dirty="0"/>
          </a:p>
          <a:p>
            <a:pPr marL="742950" lvl="1" indent="-272415" algn="l" rtl="0">
              <a:spcBef>
                <a:spcPts val="518"/>
              </a:spcBef>
              <a:spcAft>
                <a:spcPts val="0"/>
              </a:spcAft>
              <a:buSzPct val="100000"/>
              <a:buChar char="–"/>
            </a:pPr>
            <a:r>
              <a:rPr lang="en-US" dirty="0"/>
              <a:t>Focus on using the Flask for the prediction portal.</a:t>
            </a:r>
            <a:endParaRPr dirty="0"/>
          </a:p>
          <a:p>
            <a:pPr marL="742950" lvl="1" indent="-272415" algn="l" rtl="0">
              <a:spcBef>
                <a:spcPts val="518"/>
              </a:spcBef>
              <a:spcAft>
                <a:spcPts val="0"/>
              </a:spcAft>
              <a:buSzPct val="100000"/>
              <a:buChar char="–"/>
            </a:pPr>
            <a:r>
              <a:rPr lang="en-US" dirty="0"/>
              <a:t>Develop a machine learning model to accurately </a:t>
            </a:r>
            <a:r>
              <a:rPr lang="en-US"/>
              <a:t>predict melanoma </a:t>
            </a:r>
            <a:r>
              <a:rPr lang="en-US" dirty="0"/>
              <a:t>based on images.</a:t>
            </a:r>
            <a:endParaRPr dirty="0"/>
          </a:p>
          <a:p>
            <a:pPr marL="742950" lvl="1" indent="-272415" algn="l" rtl="0">
              <a:spcBef>
                <a:spcPts val="518"/>
              </a:spcBef>
              <a:spcAft>
                <a:spcPts val="0"/>
              </a:spcAft>
              <a:buSzPct val="100000"/>
              <a:buChar char="–"/>
            </a:pPr>
            <a:r>
              <a:rPr lang="en-US" dirty="0"/>
              <a:t>Improve the speed and accuracy of diagnosis.</a:t>
            </a:r>
            <a:endParaRPr dirty="0"/>
          </a:p>
          <a:p>
            <a:pPr marL="742950" lvl="1" indent="-272415" algn="l" rtl="0">
              <a:spcBef>
                <a:spcPts val="518"/>
              </a:spcBef>
              <a:spcAft>
                <a:spcPts val="0"/>
              </a:spcAft>
              <a:buSzPct val="100000"/>
              <a:buChar char="–"/>
            </a:pPr>
            <a:r>
              <a:rPr lang="en-US" b="1" dirty="0"/>
              <a:t>Target Audience</a:t>
            </a:r>
            <a:r>
              <a:rPr lang="en-US" dirty="0"/>
              <a:t>: Medical professionals, healthcare institutions.</a:t>
            </a:r>
            <a:endParaRPr dirty="0"/>
          </a:p>
          <a:p>
            <a:pPr marL="742950" lvl="1" indent="-272415" algn="l" rtl="0">
              <a:spcBef>
                <a:spcPts val="518"/>
              </a:spcBef>
              <a:spcAft>
                <a:spcPts val="0"/>
              </a:spcAft>
              <a:buSzPct val="100000"/>
              <a:buChar char="–"/>
            </a:pPr>
            <a:r>
              <a:rPr lang="en-US" b="1" dirty="0"/>
              <a:t>Deliverables</a:t>
            </a:r>
            <a:r>
              <a:rPr lang="en-US" dirty="0"/>
              <a:t>:</a:t>
            </a:r>
            <a:endParaRPr dirty="0"/>
          </a:p>
          <a:p>
            <a:pPr marL="742950" lvl="1" indent="-272415" algn="l" rtl="0">
              <a:spcBef>
                <a:spcPts val="518"/>
              </a:spcBef>
              <a:spcAft>
                <a:spcPts val="0"/>
              </a:spcAft>
              <a:buSzPct val="100000"/>
              <a:buChar char="–"/>
            </a:pPr>
            <a:r>
              <a:rPr lang="en-US" dirty="0"/>
              <a:t>A trained and evaluated machine learning model.</a:t>
            </a:r>
            <a:endParaRPr dirty="0"/>
          </a:p>
          <a:p>
            <a:pPr marL="742950" lvl="1" indent="-272415" algn="l" rtl="0">
              <a:spcBef>
                <a:spcPts val="518"/>
              </a:spcBef>
              <a:spcAft>
                <a:spcPts val="0"/>
              </a:spcAft>
              <a:buSzPct val="100000"/>
              <a:buChar char="–"/>
            </a:pPr>
            <a:r>
              <a:rPr lang="en-US" dirty="0"/>
              <a:t>A user-friendly interface for model deployment.</a:t>
            </a:r>
            <a:endParaRPr dirty="0"/>
          </a:p>
          <a:p>
            <a:pPr marL="742950" lvl="1" indent="-272415" algn="l" rtl="0">
              <a:spcBef>
                <a:spcPts val="518"/>
              </a:spcBef>
              <a:spcAft>
                <a:spcPts val="0"/>
              </a:spcAft>
              <a:buSzPct val="100000"/>
              <a:buChar char="–"/>
            </a:pPr>
            <a:r>
              <a:rPr lang="en-US" dirty="0"/>
              <a:t>Documentation detailing the model's architecture, training process, and performance.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Scope of the project</a:t>
            </a:r>
            <a:endParaRPr/>
          </a:p>
        </p:txBody>
      </p:sp>
      <p:sp>
        <p:nvSpPr>
          <p:cNvPr id="121" name="Google Shape;121;p18"/>
          <p:cNvSpPr txBox="1">
            <a:spLocks noGrp="1"/>
          </p:cNvSpPr>
          <p:nvPr>
            <p:ph type="body" idx="4294967295"/>
          </p:nvPr>
        </p:nvSpPr>
        <p:spPr>
          <a:xfrm>
            <a:off x="228600" y="990600"/>
            <a:ext cx="8610600" cy="639762"/>
          </a:xfrm>
          <a:prstGeom prst="rect">
            <a:avLst/>
          </a:prstGeom>
          <a:noFill/>
          <a:ln>
            <a:noFill/>
          </a:ln>
        </p:spPr>
        <p:txBody>
          <a:bodyPr spcFirstLastPara="1" wrap="square" lIns="91425" tIns="45700" rIns="91425" bIns="45700" anchor="t" anchorCtr="0">
            <a:normAutofit/>
          </a:bodyPr>
          <a:lstStyle/>
          <a:p>
            <a:pPr marL="347472" marR="0" indent="-329184" algn="l" rtl="0">
              <a:spcBef>
                <a:spcPts val="518"/>
              </a:spcBef>
              <a:spcAft>
                <a:spcPts val="0"/>
              </a:spcAft>
              <a:buClr>
                <a:schemeClr val="dk1"/>
              </a:buClr>
              <a:buSzPct val="114000"/>
              <a:buFont typeface="Arial" panose="020B0604020202020204" pitchFamily="34" charset="0"/>
              <a:buChar char="•"/>
            </a:pPr>
            <a:r>
              <a:rPr lang="en-US" sz="3000" b="1"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Melanoma Prediction:</a:t>
            </a:r>
          </a:p>
        </p:txBody>
      </p:sp>
      <p:sp>
        <p:nvSpPr>
          <p:cNvPr id="3" name="TextBox 2">
            <a:extLst>
              <a:ext uri="{FF2B5EF4-FFF2-40B4-BE49-F238E27FC236}">
                <a16:creationId xmlns:a16="http://schemas.microsoft.com/office/drawing/2014/main" id="{1C4FDB01-8C76-43B1-2C35-9FAA2B1B857D}"/>
              </a:ext>
            </a:extLst>
          </p:cNvPr>
          <p:cNvSpPr txBox="1"/>
          <p:nvPr/>
        </p:nvSpPr>
        <p:spPr>
          <a:xfrm>
            <a:off x="660400" y="1630362"/>
            <a:ext cx="8255000" cy="3293209"/>
          </a:xfrm>
          <a:prstGeom prst="rect">
            <a:avLst/>
          </a:prstGeom>
          <a:noFill/>
        </p:spPr>
        <p:txBody>
          <a:bodyPr wrap="square" rtlCol="0">
            <a:spAutoFit/>
          </a:bodyPr>
          <a:lstStyle/>
          <a:p>
            <a:r>
              <a:rPr lang="en-IN" sz="2400" b="1" dirty="0"/>
              <a:t>Inclusions:</a:t>
            </a:r>
          </a:p>
          <a:p>
            <a:pPr marL="342900" lvl="3" indent="-342900">
              <a:buFont typeface="Arial" panose="020B0604020202020204" pitchFamily="34" charset="0"/>
              <a:buChar char="•"/>
            </a:pPr>
            <a:r>
              <a:rPr lang="en-US" sz="2000" dirty="0"/>
              <a:t>Data collection from open medical datasets (e.g., ISIC archive).</a:t>
            </a:r>
          </a:p>
          <a:p>
            <a:pPr marL="342900" lvl="3" indent="-342900">
              <a:buFont typeface="Arial" panose="020B0604020202020204" pitchFamily="34" charset="0"/>
              <a:buChar char="•"/>
            </a:pPr>
            <a:r>
              <a:rPr lang="en-IN" sz="2000" dirty="0"/>
              <a:t>Preprocessing </a:t>
            </a:r>
            <a:r>
              <a:rPr lang="en-IN" sz="2000" dirty="0" err="1"/>
              <a:t>dermatoscopic</a:t>
            </a:r>
            <a:r>
              <a:rPr lang="en-IN" sz="2000" dirty="0"/>
              <a:t> images.</a:t>
            </a:r>
          </a:p>
          <a:p>
            <a:pPr marL="342900" lvl="3" indent="-342900">
              <a:buFont typeface="Arial" panose="020B0604020202020204" pitchFamily="34" charset="0"/>
              <a:buChar char="•"/>
            </a:pPr>
            <a:r>
              <a:rPr lang="en-US" sz="2000" dirty="0"/>
              <a:t>Building a classification model using deep learning.</a:t>
            </a:r>
            <a:endParaRPr lang="en-IN" sz="1600" b="1" dirty="0"/>
          </a:p>
          <a:p>
            <a:pPr marL="342900" lvl="3" indent="-342900">
              <a:buFont typeface="Arial" panose="020B0604020202020204" pitchFamily="34" charset="0"/>
              <a:buChar char="•"/>
            </a:pPr>
            <a:r>
              <a:rPr lang="en-US" sz="2000" dirty="0"/>
              <a:t>Target Audience: Dermatologists and healthcare institutions.</a:t>
            </a:r>
          </a:p>
          <a:p>
            <a:pPr marL="342900" lvl="3" indent="-342900">
              <a:buFont typeface="Arial" panose="020B0604020202020204" pitchFamily="34" charset="0"/>
              <a:buChar char="•"/>
            </a:pPr>
            <a:endParaRPr lang="en-US" sz="2000" dirty="0"/>
          </a:p>
          <a:p>
            <a:pPr marL="342900" lvl="3" indent="-342900">
              <a:buFont typeface="Arial" panose="020B0604020202020204" pitchFamily="34" charset="0"/>
              <a:buChar char="•"/>
            </a:pPr>
            <a:endParaRPr lang="en-US" sz="2000" dirty="0"/>
          </a:p>
          <a:p>
            <a:pPr lvl="3"/>
            <a:r>
              <a:rPr lang="en-IN" sz="2400" b="1" dirty="0"/>
              <a:t>Exclusions:</a:t>
            </a:r>
          </a:p>
          <a:p>
            <a:pPr marL="285750" lvl="3" indent="-285750">
              <a:buFont typeface="Arial" panose="020B0604020202020204" pitchFamily="34" charset="0"/>
              <a:buChar char="•"/>
            </a:pPr>
            <a:r>
              <a:rPr lang="en-US" sz="2000" dirty="0"/>
              <a:t>Prediction of other types of skin diseases.</a:t>
            </a:r>
          </a:p>
          <a:p>
            <a:pPr marL="285750" lvl="3" indent="-285750">
              <a:buFont typeface="Arial" panose="020B0604020202020204" pitchFamily="34" charset="0"/>
              <a:buChar char="•"/>
            </a:pPr>
            <a:r>
              <a:rPr lang="en-US" sz="2000" dirty="0"/>
              <a:t>Integration with real-time hospital systems.</a:t>
            </a:r>
            <a:endParaRPr lang="en-IN" sz="1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0"/>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Scope of the project</a:t>
            </a:r>
            <a:endParaRPr/>
          </a:p>
        </p:txBody>
      </p:sp>
      <p:sp>
        <p:nvSpPr>
          <p:cNvPr id="133" name="Google Shape;133;p20"/>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85000" lnSpcReduction="10000"/>
          </a:bodyPr>
          <a:lstStyle/>
          <a:p>
            <a:pPr marL="342900" lvl="0" indent="-312420" algn="l" rtl="0">
              <a:spcBef>
                <a:spcPts val="518"/>
              </a:spcBef>
              <a:spcAft>
                <a:spcPts val="0"/>
              </a:spcAft>
              <a:buSzPct val="114285"/>
              <a:buChar char="•"/>
            </a:pPr>
            <a:r>
              <a:rPr lang="en-US" sz="2800" dirty="0"/>
              <a:t>Pneumonia Prediction</a:t>
            </a:r>
            <a:endParaRPr dirty="0"/>
          </a:p>
          <a:p>
            <a:pPr marL="742950" lvl="1" indent="-259080" algn="l" rtl="0">
              <a:spcBef>
                <a:spcPts val="518"/>
              </a:spcBef>
              <a:spcAft>
                <a:spcPts val="0"/>
              </a:spcAft>
              <a:buSzPct val="100000"/>
              <a:buChar char="–"/>
            </a:pPr>
            <a:r>
              <a:rPr lang="en-US" b="1" dirty="0"/>
              <a:t>Data</a:t>
            </a:r>
            <a:r>
              <a:rPr lang="en-US" dirty="0"/>
              <a:t>:</a:t>
            </a:r>
            <a:endParaRPr dirty="0"/>
          </a:p>
          <a:p>
            <a:pPr marL="742950" lvl="1" indent="-259080" algn="l" rtl="0">
              <a:spcBef>
                <a:spcPts val="518"/>
              </a:spcBef>
              <a:spcAft>
                <a:spcPts val="0"/>
              </a:spcAft>
              <a:buSzPct val="100000"/>
              <a:buChar char="–"/>
            </a:pPr>
            <a:r>
              <a:rPr lang="en-US" dirty="0"/>
              <a:t>Use a publicly available dataset of m</a:t>
            </a:r>
            <a:r>
              <a:rPr lang="en-IN" dirty="0" err="1"/>
              <a:t>elanoma</a:t>
            </a:r>
            <a:r>
              <a:rPr lang="en-IN" dirty="0"/>
              <a:t> </a:t>
            </a:r>
            <a:r>
              <a:rPr lang="en-US" dirty="0"/>
              <a:t>images labeled as "pneumonia" or "normal."</a:t>
            </a:r>
            <a:endParaRPr dirty="0"/>
          </a:p>
          <a:p>
            <a:pPr marL="742950" lvl="1" indent="-259080" algn="l" rtl="0">
              <a:spcBef>
                <a:spcPts val="518"/>
              </a:spcBef>
              <a:spcAft>
                <a:spcPts val="0"/>
              </a:spcAft>
              <a:buSzPct val="100000"/>
              <a:buChar char="–"/>
            </a:pPr>
            <a:r>
              <a:rPr lang="en-US" dirty="0"/>
              <a:t>Preprocess the images to enhance quality and consistency.</a:t>
            </a:r>
            <a:endParaRPr dirty="0"/>
          </a:p>
          <a:p>
            <a:pPr marL="742950" lvl="1" indent="-259080" algn="l" rtl="0">
              <a:spcBef>
                <a:spcPts val="518"/>
              </a:spcBef>
              <a:spcAft>
                <a:spcPts val="0"/>
              </a:spcAft>
              <a:buSzPct val="100000"/>
              <a:buChar char="–"/>
            </a:pPr>
            <a:r>
              <a:rPr lang="en-US" b="1" dirty="0"/>
              <a:t>Limitations</a:t>
            </a:r>
            <a:r>
              <a:rPr lang="en-US" dirty="0"/>
              <a:t>: Data constraints, resource limitations.</a:t>
            </a:r>
            <a:endParaRPr dirty="0"/>
          </a:p>
          <a:p>
            <a:pPr marL="742950" lvl="1" indent="-259080" algn="l" rtl="0">
              <a:spcBef>
                <a:spcPts val="518"/>
              </a:spcBef>
              <a:spcAft>
                <a:spcPts val="0"/>
              </a:spcAft>
              <a:buSzPct val="100000"/>
              <a:buChar char="–"/>
            </a:pPr>
            <a:r>
              <a:rPr lang="en-US" dirty="0"/>
              <a:t>Model Generalizability: The model's performance may vary on unseen data, especially if the distribution differs significantly from the training data.</a:t>
            </a:r>
            <a:endParaRPr dirty="0"/>
          </a:p>
          <a:p>
            <a:pPr marL="742950" lvl="1" indent="-259080" algn="l" rtl="0">
              <a:spcBef>
                <a:spcPts val="518"/>
              </a:spcBef>
              <a:spcAft>
                <a:spcPts val="0"/>
              </a:spcAft>
              <a:buSzPct val="100000"/>
              <a:buChar char="–"/>
            </a:pPr>
            <a:r>
              <a:rPr lang="en-US" dirty="0"/>
              <a:t>Medical Expert Validation: The model's predictions should be validated by medical experts to ensure clinical relevance.</a:t>
            </a:r>
            <a:endParaRPr dirty="0"/>
          </a:p>
          <a:p>
            <a:pPr marL="742950" lvl="1" indent="-259080" algn="l" rtl="0">
              <a:spcBef>
                <a:spcPts val="518"/>
              </a:spcBef>
              <a:spcAft>
                <a:spcPts val="0"/>
              </a:spcAft>
              <a:buSzPct val="100000"/>
              <a:buChar char="–"/>
            </a:pPr>
            <a:r>
              <a:rPr lang="en-US" dirty="0"/>
              <a:t>Computational Resources: The training and deployment of the model may require significant computational resources.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a:buNone/>
            </a:pPr>
            <a:r>
              <a:rPr lang="en-US" sz="4000"/>
              <a:t>Methodology</a:t>
            </a:r>
            <a:endParaRPr/>
          </a:p>
        </p:txBody>
      </p:sp>
      <p:sp>
        <p:nvSpPr>
          <p:cNvPr id="9" name="TextBox 8">
            <a:extLst>
              <a:ext uri="{FF2B5EF4-FFF2-40B4-BE49-F238E27FC236}">
                <a16:creationId xmlns:a16="http://schemas.microsoft.com/office/drawing/2014/main" id="{424AA2BC-690D-B714-62F5-13800F3EC581}"/>
              </a:ext>
            </a:extLst>
          </p:cNvPr>
          <p:cNvSpPr txBox="1"/>
          <p:nvPr/>
        </p:nvSpPr>
        <p:spPr>
          <a:xfrm>
            <a:off x="457200" y="1280160"/>
            <a:ext cx="8514080" cy="3170099"/>
          </a:xfrm>
          <a:prstGeom prst="rect">
            <a:avLst/>
          </a:prstGeom>
          <a:noFill/>
        </p:spPr>
        <p:txBody>
          <a:bodyPr wrap="square" rtlCol="0">
            <a:spAutoFit/>
          </a:bodyPr>
          <a:lstStyle/>
          <a:p>
            <a:pPr marL="342900" indent="-342900">
              <a:buFont typeface="Arial" panose="020B0604020202020204" pitchFamily="34" charset="0"/>
              <a:buChar char="•"/>
            </a:pPr>
            <a:r>
              <a:rPr lang="en-IN" sz="2000" b="1" dirty="0"/>
              <a:t>Data Collection:</a:t>
            </a:r>
            <a:r>
              <a:rPr lang="en-IN" sz="2000" dirty="0"/>
              <a:t> Images of skin lesions (melanoma vs non-melanoma).</a:t>
            </a:r>
          </a:p>
          <a:p>
            <a:pPr marL="342900" indent="-342900">
              <a:buFont typeface="Arial" panose="020B0604020202020204" pitchFamily="34" charset="0"/>
              <a:buChar char="•"/>
            </a:pPr>
            <a:r>
              <a:rPr lang="en-US" sz="2000" b="1" dirty="0"/>
              <a:t>Data Preprocessing:</a:t>
            </a:r>
            <a:r>
              <a:rPr lang="en-US" sz="2000" dirty="0"/>
              <a:t> Techniques like image augmentation, resizing, and normalization.</a:t>
            </a:r>
            <a:endParaRPr lang="en-IN" sz="2000" dirty="0"/>
          </a:p>
          <a:p>
            <a:pPr marL="342900" indent="-342900">
              <a:buFont typeface="Arial" panose="020B0604020202020204" pitchFamily="34" charset="0"/>
              <a:buChar char="•"/>
            </a:pPr>
            <a:r>
              <a:rPr lang="en-US" sz="2000" b="1" dirty="0"/>
              <a:t>Model Development:</a:t>
            </a:r>
            <a:r>
              <a:rPr lang="en-US" sz="2000" dirty="0"/>
              <a:t> Using Convolutional Neural Networks (CNN) for image classification.</a:t>
            </a:r>
            <a:endParaRPr lang="en-IN" sz="2000" dirty="0"/>
          </a:p>
          <a:p>
            <a:pPr marL="342900" indent="-342900">
              <a:buFont typeface="Arial" panose="020B0604020202020204" pitchFamily="34" charset="0"/>
              <a:buChar char="•"/>
            </a:pPr>
            <a:r>
              <a:rPr lang="en-US" sz="2000" b="1" dirty="0"/>
              <a:t>Training and Evaluation:</a:t>
            </a:r>
            <a:r>
              <a:rPr lang="en-US" sz="2000" dirty="0"/>
              <a:t> Training the model using labeled data, fine-tuning hyperparameters for accuracy.</a:t>
            </a:r>
          </a:p>
          <a:p>
            <a:pPr marL="342900" indent="-342900">
              <a:buFont typeface="Arial" panose="020B0604020202020204" pitchFamily="34" charset="0"/>
              <a:buChar char="•"/>
            </a:pPr>
            <a:r>
              <a:rPr lang="en-US" sz="2000" b="1" dirty="0"/>
              <a:t>Testing and Deployment:</a:t>
            </a:r>
            <a:r>
              <a:rPr lang="en-US" sz="2000" dirty="0"/>
              <a:t> Testing model accuracy on unseen data, deploying as a web-based tool.</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a:buNone/>
            </a:pPr>
            <a:r>
              <a:rPr lang="en-US" sz="4000"/>
              <a:t>Methodology</a:t>
            </a:r>
            <a:endParaRPr/>
          </a:p>
        </p:txBody>
      </p:sp>
      <p:sp>
        <p:nvSpPr>
          <p:cNvPr id="145" name="Google Shape;145;p22"/>
          <p:cNvSpPr txBox="1">
            <a:spLocks noGrp="1"/>
          </p:cNvSpPr>
          <p:nvPr>
            <p:ph type="body" idx="4294967295"/>
          </p:nvPr>
        </p:nvSpPr>
        <p:spPr>
          <a:xfrm>
            <a:off x="457200" y="833120"/>
            <a:ext cx="8610600" cy="4135120"/>
          </a:xfrm>
          <a:prstGeom prst="rect">
            <a:avLst/>
          </a:prstGeom>
          <a:noFill/>
          <a:ln>
            <a:noFill/>
          </a:ln>
        </p:spPr>
        <p:txBody>
          <a:bodyPr spcFirstLastPara="1" wrap="square" lIns="91425" tIns="45700" rIns="91425" bIns="45700" anchor="t" anchorCtr="0">
            <a:normAutofit/>
          </a:bodyPr>
          <a:lstStyle/>
          <a:p>
            <a:pPr marL="25400" indent="0">
              <a:spcBef>
                <a:spcPts val="0"/>
              </a:spcBef>
              <a:buSzPts val="2800"/>
              <a:buNone/>
            </a:pPr>
            <a:endParaRPr lang="en-US" sz="2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342900" indent="-317500">
              <a:spcBef>
                <a:spcPts val="0"/>
              </a:spcBef>
              <a:buSzPts val="2800"/>
              <a:buFont typeface="Noto Sans Symbols"/>
              <a:buChar char="•"/>
            </a:pPr>
            <a:r>
              <a:rPr lang="en-US" sz="2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Melanoma Prediction </a:t>
            </a:r>
            <a:r>
              <a:rPr lang="en-US" sz="2800" dirty="0"/>
              <a:t>includes</a:t>
            </a:r>
            <a:endParaRPr sz="2800" dirty="0"/>
          </a:p>
          <a:p>
            <a:pPr marL="742950" lvl="1" indent="-260350" algn="l" rtl="0">
              <a:spcBef>
                <a:spcPts val="0"/>
              </a:spcBef>
              <a:spcAft>
                <a:spcPts val="0"/>
              </a:spcAft>
              <a:buSzPts val="2400"/>
              <a:buChar char="–"/>
            </a:pPr>
            <a:r>
              <a:rPr lang="en-US" sz="2400" dirty="0"/>
              <a:t>Collecting the data.</a:t>
            </a:r>
            <a:endParaRPr sz="1400" dirty="0">
              <a:latin typeface="Arial"/>
              <a:ea typeface="Arial"/>
              <a:cs typeface="Arial"/>
              <a:sym typeface="Arial"/>
            </a:endParaRPr>
          </a:p>
          <a:p>
            <a:pPr marL="742950" lvl="1" indent="-260350" algn="l" rtl="0">
              <a:spcBef>
                <a:spcPts val="0"/>
              </a:spcBef>
              <a:spcAft>
                <a:spcPts val="0"/>
              </a:spcAft>
              <a:buSzPts val="2400"/>
              <a:buChar char="–"/>
            </a:pPr>
            <a:r>
              <a:rPr lang="en-US" sz="2400" dirty="0"/>
              <a:t>Choosing a modeling tool.</a:t>
            </a:r>
            <a:endParaRPr sz="1400" dirty="0">
              <a:latin typeface="Arial"/>
              <a:ea typeface="Arial"/>
              <a:cs typeface="Arial"/>
              <a:sym typeface="Arial"/>
            </a:endParaRPr>
          </a:p>
          <a:p>
            <a:pPr marL="742950" lvl="1" indent="-260350" algn="l" rtl="0">
              <a:spcBef>
                <a:spcPts val="0"/>
              </a:spcBef>
              <a:spcAft>
                <a:spcPts val="0"/>
              </a:spcAft>
              <a:buSzPts val="2400"/>
              <a:buChar char="–"/>
            </a:pPr>
            <a:r>
              <a:rPr lang="en-US" sz="2400" dirty="0"/>
              <a:t>Building a strong model.</a:t>
            </a:r>
            <a:endParaRPr sz="1400" dirty="0">
              <a:latin typeface="Arial"/>
              <a:ea typeface="Arial"/>
              <a:cs typeface="Arial"/>
              <a:sym typeface="Arial"/>
            </a:endParaRPr>
          </a:p>
          <a:p>
            <a:pPr marL="742950" lvl="1" indent="-260350" algn="l" rtl="0">
              <a:spcBef>
                <a:spcPts val="0"/>
              </a:spcBef>
              <a:spcAft>
                <a:spcPts val="0"/>
              </a:spcAft>
              <a:buSzPts val="2400"/>
              <a:buChar char="–"/>
            </a:pPr>
            <a:r>
              <a:rPr lang="en-US" sz="2400" dirty="0"/>
              <a:t>Simulating Scenarios.</a:t>
            </a:r>
            <a:endParaRPr sz="1400" dirty="0">
              <a:latin typeface="Arial"/>
              <a:ea typeface="Arial"/>
              <a:cs typeface="Arial"/>
              <a:sym typeface="Arial"/>
            </a:endParaRPr>
          </a:p>
          <a:p>
            <a:pPr marL="742950" lvl="1" indent="-260350" algn="l" rtl="0">
              <a:spcBef>
                <a:spcPts val="0"/>
              </a:spcBef>
              <a:spcAft>
                <a:spcPts val="0"/>
              </a:spcAft>
              <a:buSzPts val="2400"/>
              <a:buChar char="–"/>
            </a:pPr>
            <a:r>
              <a:rPr lang="en-US" sz="2400" dirty="0"/>
              <a:t>Analyzing results.</a:t>
            </a:r>
            <a:endParaRPr sz="1400" dirty="0">
              <a:latin typeface="Arial"/>
              <a:ea typeface="Arial"/>
              <a:cs typeface="Arial"/>
              <a:sym typeface="Arial"/>
            </a:endParaRPr>
          </a:p>
          <a:p>
            <a:pPr marL="742950" lvl="1" indent="-260350" algn="l" rtl="0">
              <a:spcBef>
                <a:spcPts val="0"/>
              </a:spcBef>
              <a:spcAft>
                <a:spcPts val="0"/>
              </a:spcAft>
              <a:buSzPts val="2400"/>
              <a:buChar char="–"/>
            </a:pPr>
            <a:r>
              <a:rPr lang="en-US" sz="2400" dirty="0"/>
              <a:t>Implementing the improvements.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5319"/>
              <a:buFont typeface="Calibri"/>
              <a:buNone/>
            </a:pPr>
            <a:r>
              <a:rPr lang="en-US" sz="3759"/>
              <a:t>Architecture Diagram/Flow</a:t>
            </a:r>
            <a:endParaRPr/>
          </a:p>
        </p:txBody>
      </p:sp>
      <p:pic>
        <p:nvPicPr>
          <p:cNvPr id="3" name="Picture 2">
            <a:extLst>
              <a:ext uri="{FF2B5EF4-FFF2-40B4-BE49-F238E27FC236}">
                <a16:creationId xmlns:a16="http://schemas.microsoft.com/office/drawing/2014/main" id="{EC69BFB7-EA30-0270-ABCD-24FC8F92354E}"/>
              </a:ext>
            </a:extLst>
          </p:cNvPr>
          <p:cNvPicPr>
            <a:picLocks noChangeAspect="1"/>
          </p:cNvPicPr>
          <p:nvPr/>
        </p:nvPicPr>
        <p:blipFill>
          <a:blip r:embed="rId3"/>
          <a:stretch>
            <a:fillRect/>
          </a:stretch>
        </p:blipFill>
        <p:spPr>
          <a:xfrm>
            <a:off x="457200" y="1405890"/>
            <a:ext cx="3784248" cy="2404110"/>
          </a:xfrm>
          <a:prstGeom prst="rect">
            <a:avLst/>
          </a:prstGeom>
        </p:spPr>
      </p:pic>
      <p:pic>
        <p:nvPicPr>
          <p:cNvPr id="5" name="Picture 4">
            <a:extLst>
              <a:ext uri="{FF2B5EF4-FFF2-40B4-BE49-F238E27FC236}">
                <a16:creationId xmlns:a16="http://schemas.microsoft.com/office/drawing/2014/main" id="{10C8942A-8DBF-5EF4-0BF3-B20D84FCF739}"/>
              </a:ext>
            </a:extLst>
          </p:cNvPr>
          <p:cNvPicPr>
            <a:picLocks noChangeAspect="1"/>
          </p:cNvPicPr>
          <p:nvPr/>
        </p:nvPicPr>
        <p:blipFill>
          <a:blip r:embed="rId4"/>
          <a:stretch>
            <a:fillRect/>
          </a:stretch>
        </p:blipFill>
        <p:spPr>
          <a:xfrm>
            <a:off x="4659530" y="1405891"/>
            <a:ext cx="4226833" cy="2404109"/>
          </a:xfrm>
          <a:prstGeom prst="rect">
            <a:avLst/>
          </a:prstGeom>
        </p:spPr>
      </p:pic>
      <p:pic>
        <p:nvPicPr>
          <p:cNvPr id="7" name="Picture 6">
            <a:extLst>
              <a:ext uri="{FF2B5EF4-FFF2-40B4-BE49-F238E27FC236}">
                <a16:creationId xmlns:a16="http://schemas.microsoft.com/office/drawing/2014/main" id="{28E177E7-F5BA-7681-A5D2-03DFEB10B774}"/>
              </a:ext>
            </a:extLst>
          </p:cNvPr>
          <p:cNvPicPr>
            <a:picLocks noChangeAspect="1"/>
          </p:cNvPicPr>
          <p:nvPr/>
        </p:nvPicPr>
        <p:blipFill>
          <a:blip r:embed="rId5"/>
          <a:stretch>
            <a:fillRect/>
          </a:stretch>
        </p:blipFill>
        <p:spPr>
          <a:xfrm>
            <a:off x="2342266" y="4821425"/>
            <a:ext cx="4459468" cy="1878223"/>
          </a:xfrm>
          <a:prstGeom prst="rect">
            <a:avLst/>
          </a:prstGeom>
        </p:spPr>
      </p:pic>
      <p:sp>
        <p:nvSpPr>
          <p:cNvPr id="8" name="TextBox 7">
            <a:extLst>
              <a:ext uri="{FF2B5EF4-FFF2-40B4-BE49-F238E27FC236}">
                <a16:creationId xmlns:a16="http://schemas.microsoft.com/office/drawing/2014/main" id="{B39C2E21-DAA7-89AF-49BB-C34AE9D45731}"/>
              </a:ext>
            </a:extLst>
          </p:cNvPr>
          <p:cNvSpPr txBox="1"/>
          <p:nvPr/>
        </p:nvSpPr>
        <p:spPr>
          <a:xfrm>
            <a:off x="1798320" y="1249680"/>
            <a:ext cx="1503680" cy="307777"/>
          </a:xfrm>
          <a:prstGeom prst="rect">
            <a:avLst/>
          </a:prstGeom>
          <a:noFill/>
        </p:spPr>
        <p:txBody>
          <a:bodyPr wrap="square" rtlCol="0">
            <a:spAutoFit/>
          </a:bodyPr>
          <a:lstStyle/>
          <a:p>
            <a:r>
              <a:rPr lang="en-US" dirty="0"/>
              <a:t>VGG16</a:t>
            </a:r>
          </a:p>
        </p:txBody>
      </p:sp>
      <p:sp>
        <p:nvSpPr>
          <p:cNvPr id="9" name="TextBox 8">
            <a:extLst>
              <a:ext uri="{FF2B5EF4-FFF2-40B4-BE49-F238E27FC236}">
                <a16:creationId xmlns:a16="http://schemas.microsoft.com/office/drawing/2014/main" id="{F2A49286-DFDC-C383-2A4E-4A607DFA7428}"/>
              </a:ext>
            </a:extLst>
          </p:cNvPr>
          <p:cNvSpPr txBox="1"/>
          <p:nvPr/>
        </p:nvSpPr>
        <p:spPr>
          <a:xfrm>
            <a:off x="6441440" y="1266362"/>
            <a:ext cx="1503680" cy="307777"/>
          </a:xfrm>
          <a:prstGeom prst="rect">
            <a:avLst/>
          </a:prstGeom>
          <a:noFill/>
        </p:spPr>
        <p:txBody>
          <a:bodyPr wrap="square" rtlCol="0">
            <a:spAutoFit/>
          </a:bodyPr>
          <a:lstStyle/>
          <a:p>
            <a:r>
              <a:rPr lang="en-US" dirty="0"/>
              <a:t>VGG19</a:t>
            </a:r>
          </a:p>
        </p:txBody>
      </p:sp>
      <p:sp>
        <p:nvSpPr>
          <p:cNvPr id="10" name="TextBox 9">
            <a:extLst>
              <a:ext uri="{FF2B5EF4-FFF2-40B4-BE49-F238E27FC236}">
                <a16:creationId xmlns:a16="http://schemas.microsoft.com/office/drawing/2014/main" id="{098A3797-C2F2-9733-4B04-B33588D0B224}"/>
              </a:ext>
            </a:extLst>
          </p:cNvPr>
          <p:cNvSpPr txBox="1"/>
          <p:nvPr/>
        </p:nvSpPr>
        <p:spPr>
          <a:xfrm>
            <a:off x="2550160" y="5113556"/>
            <a:ext cx="1503680" cy="338554"/>
          </a:xfrm>
          <a:prstGeom prst="rect">
            <a:avLst/>
          </a:prstGeom>
          <a:noFill/>
        </p:spPr>
        <p:txBody>
          <a:bodyPr wrap="square" rtlCol="0">
            <a:spAutoFit/>
          </a:bodyPr>
          <a:lstStyle/>
          <a:p>
            <a:r>
              <a:rPr lang="en-US" sz="1600" dirty="0"/>
              <a:t>Restnet50</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a:buNone/>
            </a:pPr>
            <a:r>
              <a:rPr lang="en-US" sz="4000"/>
              <a:t>Design-Use Case Diagram</a:t>
            </a:r>
            <a:endParaRPr/>
          </a:p>
        </p:txBody>
      </p:sp>
      <p:pic>
        <p:nvPicPr>
          <p:cNvPr id="5" name="Picture 4">
            <a:extLst>
              <a:ext uri="{FF2B5EF4-FFF2-40B4-BE49-F238E27FC236}">
                <a16:creationId xmlns:a16="http://schemas.microsoft.com/office/drawing/2014/main" id="{75CD8E40-AC80-0E75-72DB-AF9B8A04650F}"/>
              </a:ext>
            </a:extLst>
          </p:cNvPr>
          <p:cNvPicPr>
            <a:picLocks noChangeAspect="1"/>
          </p:cNvPicPr>
          <p:nvPr/>
        </p:nvPicPr>
        <p:blipFill>
          <a:blip r:embed="rId3"/>
          <a:stretch>
            <a:fillRect/>
          </a:stretch>
        </p:blipFill>
        <p:spPr>
          <a:xfrm>
            <a:off x="0" y="914538"/>
            <a:ext cx="9121930" cy="573835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a:buNone/>
            </a:pPr>
            <a:r>
              <a:rPr lang="en-US" sz="4000"/>
              <a:t>Design-Class Diagram</a:t>
            </a:r>
            <a:endParaRPr/>
          </a:p>
        </p:txBody>
      </p:sp>
      <p:pic>
        <p:nvPicPr>
          <p:cNvPr id="3" name="Picture 2">
            <a:extLst>
              <a:ext uri="{FF2B5EF4-FFF2-40B4-BE49-F238E27FC236}">
                <a16:creationId xmlns:a16="http://schemas.microsoft.com/office/drawing/2014/main" id="{31C7AEC4-B64B-0754-C7AB-503CA1975D67}"/>
              </a:ext>
            </a:extLst>
          </p:cNvPr>
          <p:cNvPicPr>
            <a:picLocks noChangeAspect="1"/>
          </p:cNvPicPr>
          <p:nvPr/>
        </p:nvPicPr>
        <p:blipFill>
          <a:blip r:embed="rId3"/>
          <a:stretch>
            <a:fillRect/>
          </a:stretch>
        </p:blipFill>
        <p:spPr>
          <a:xfrm>
            <a:off x="3235960" y="964112"/>
            <a:ext cx="3093720" cy="5524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a:buNone/>
            </a:pPr>
            <a:r>
              <a:rPr lang="en-US" sz="4000" dirty="0"/>
              <a:t>Sequence Diagram</a:t>
            </a:r>
            <a:endParaRPr dirty="0"/>
          </a:p>
        </p:txBody>
      </p:sp>
      <p:pic>
        <p:nvPicPr>
          <p:cNvPr id="3" name="Picture 2">
            <a:extLst>
              <a:ext uri="{FF2B5EF4-FFF2-40B4-BE49-F238E27FC236}">
                <a16:creationId xmlns:a16="http://schemas.microsoft.com/office/drawing/2014/main" id="{B21074A2-CC65-CC47-4A83-1868D9B77FC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0" y="917892"/>
            <a:ext cx="9144000" cy="56654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0"/>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Algorithms used</a:t>
            </a:r>
            <a:endParaRPr/>
          </a:p>
        </p:txBody>
      </p:sp>
      <p:sp>
        <p:nvSpPr>
          <p:cNvPr id="139" name="Google Shape;139;p21"/>
          <p:cNvSpPr txBox="1">
            <a:spLocks/>
          </p:cNvSpPr>
          <p:nvPr/>
        </p:nvSpPr>
        <p:spPr>
          <a:xfrm>
            <a:off x="266700" y="1059180"/>
            <a:ext cx="8610600" cy="473964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15240" indent="0" algn="just">
              <a:lnSpc>
                <a:spcPct val="90000"/>
              </a:lnSpc>
              <a:spcBef>
                <a:spcPts val="1000"/>
              </a:spcBef>
              <a:buSzPct val="168421"/>
              <a:buFont typeface="Arial"/>
              <a:buNone/>
            </a:pPr>
            <a:r>
              <a:rPr lang="en-IN" sz="2800" b="1" dirty="0"/>
              <a:t>Algorithm Used:</a:t>
            </a:r>
          </a:p>
          <a:p>
            <a:pPr marL="15240" indent="0" algn="just">
              <a:lnSpc>
                <a:spcPct val="90000"/>
              </a:lnSpc>
              <a:spcBef>
                <a:spcPts val="1000"/>
              </a:spcBef>
              <a:buSzPct val="168421"/>
              <a:buFont typeface="Arial"/>
              <a:buNone/>
            </a:pPr>
            <a:endParaRPr lang="en-IN" sz="2800" b="1" dirty="0"/>
          </a:p>
          <a:p>
            <a:pPr marL="15240" indent="0" algn="just">
              <a:lnSpc>
                <a:spcPct val="90000"/>
              </a:lnSpc>
              <a:spcBef>
                <a:spcPts val="1000"/>
              </a:spcBef>
              <a:buSzPct val="168421"/>
              <a:buFont typeface="Arial"/>
              <a:buNone/>
            </a:pPr>
            <a:r>
              <a:rPr lang="en-IN" sz="2800" dirty="0"/>
              <a:t>Convolutional Neural Network (CNN):</a:t>
            </a:r>
          </a:p>
          <a:p>
            <a:pPr marL="15240" indent="0" algn="just">
              <a:lnSpc>
                <a:spcPct val="90000"/>
              </a:lnSpc>
              <a:spcBef>
                <a:spcPts val="1000"/>
              </a:spcBef>
              <a:buSzPct val="168421"/>
              <a:buFont typeface="Arial"/>
              <a:buNone/>
            </a:pPr>
            <a:endParaRPr lang="en-IN" sz="100" dirty="0"/>
          </a:p>
          <a:p>
            <a:pPr marL="358140" indent="-342900" algn="just">
              <a:lnSpc>
                <a:spcPct val="90000"/>
              </a:lnSpc>
              <a:spcBef>
                <a:spcPts val="1000"/>
              </a:spcBef>
              <a:buSzPct val="168421"/>
            </a:pPr>
            <a:r>
              <a:rPr lang="en-US" sz="2400" dirty="0"/>
              <a:t>Used for images recognition and classification.</a:t>
            </a:r>
          </a:p>
          <a:p>
            <a:pPr marL="358140" indent="-342900" algn="just">
              <a:lnSpc>
                <a:spcPct val="90000"/>
              </a:lnSpc>
              <a:spcBef>
                <a:spcPts val="1000"/>
              </a:spcBef>
              <a:buSzPct val="168421"/>
            </a:pPr>
            <a:r>
              <a:rPr lang="en-US" sz="2400" dirty="0"/>
              <a:t>Transfer Learning: Pre-trained models like ResNet50, VSS16, and VSS19 used for faster training and higher accuracy.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3"/>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Implementation</a:t>
            </a:r>
            <a:endParaRPr/>
          </a:p>
        </p:txBody>
      </p:sp>
      <p:sp>
        <p:nvSpPr>
          <p:cNvPr id="216" name="Google Shape;216;p33"/>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27660" algn="l" rtl="0">
              <a:spcBef>
                <a:spcPts val="0"/>
              </a:spcBef>
              <a:spcAft>
                <a:spcPts val="0"/>
              </a:spcAft>
              <a:buSzPct val="133333"/>
              <a:buChar char="•"/>
            </a:pPr>
            <a:r>
              <a:rPr lang="en-IN" sz="2800" dirty="0"/>
              <a:t>Technologies Used:</a:t>
            </a:r>
          </a:p>
          <a:p>
            <a:pPr marL="15240" lvl="0" indent="0" algn="l" rtl="0">
              <a:spcBef>
                <a:spcPts val="0"/>
              </a:spcBef>
              <a:spcAft>
                <a:spcPts val="0"/>
              </a:spcAft>
              <a:buSzPct val="133333"/>
              <a:buNone/>
            </a:pPr>
            <a:r>
              <a:rPr lang="en-IN" sz="2800" dirty="0"/>
              <a:t> 	</a:t>
            </a:r>
          </a:p>
          <a:p>
            <a:pPr marL="800100" lvl="1" indent="-327660">
              <a:spcBef>
                <a:spcPts val="0"/>
              </a:spcBef>
              <a:buSzPct val="133333"/>
              <a:buChar char="•"/>
            </a:pPr>
            <a:r>
              <a:rPr lang="en-US" sz="2400" dirty="0"/>
              <a:t>Python: For model development using libraries like TensorFlow, </a:t>
            </a:r>
            <a:r>
              <a:rPr lang="en-US" sz="2400" dirty="0" err="1"/>
              <a:t>Keras</a:t>
            </a:r>
            <a:r>
              <a:rPr lang="en-US" sz="2400" dirty="0"/>
              <a:t>.</a:t>
            </a:r>
          </a:p>
          <a:p>
            <a:pPr marL="800100" lvl="1" indent="-327660">
              <a:spcBef>
                <a:spcPts val="0"/>
              </a:spcBef>
              <a:buSzPct val="133333"/>
              <a:buChar char="•"/>
            </a:pPr>
            <a:r>
              <a:rPr lang="en-US" sz="2400" dirty="0"/>
              <a:t>Flask: For building the web interface.</a:t>
            </a:r>
          </a:p>
          <a:p>
            <a:pPr marL="800100" lvl="1" indent="-327660">
              <a:spcBef>
                <a:spcPts val="0"/>
              </a:spcBef>
              <a:buSzPct val="133333"/>
              <a:buChar char="•"/>
            </a:pPr>
            <a:r>
              <a:rPr lang="en-US" sz="2400" dirty="0"/>
              <a:t>Database: To store user data and prediction history.</a:t>
            </a:r>
          </a:p>
          <a:p>
            <a:pPr marL="471488" lvl="1" indent="-471488">
              <a:spcBef>
                <a:spcPts val="0"/>
              </a:spcBef>
              <a:buSzPct val="133333"/>
              <a:buNone/>
            </a:pPr>
            <a:r>
              <a:rPr lang="en-US" sz="2000" dirty="0"/>
              <a:t> </a:t>
            </a:r>
          </a:p>
          <a:p>
            <a:pPr marL="0" lvl="1" indent="0">
              <a:spcBef>
                <a:spcPts val="0"/>
              </a:spcBef>
              <a:buSzPct val="133333"/>
              <a:buNone/>
            </a:pP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4"/>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Important Code segments</a:t>
            </a:r>
            <a:endParaRPr/>
          </a:p>
        </p:txBody>
      </p:sp>
      <p:sp>
        <p:nvSpPr>
          <p:cNvPr id="222" name="Google Shape;222;p34"/>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2500" lnSpcReduction="10000"/>
          </a:bodyPr>
          <a:lstStyle/>
          <a:p>
            <a:pPr marL="76200" lvl="0" indent="0" algn="just" rtl="0">
              <a:spcBef>
                <a:spcPts val="0"/>
              </a:spcBef>
              <a:spcAft>
                <a:spcPts val="0"/>
              </a:spcAft>
              <a:buSzPct val="133333"/>
              <a:buNone/>
            </a:pPr>
            <a:r>
              <a:rPr lang="en-IN" sz="900" dirty="0"/>
              <a:t># import packages for data cleaning and visualization</a:t>
            </a:r>
          </a:p>
          <a:p>
            <a:pPr marL="76200" lvl="0" indent="0" algn="just" rtl="0">
              <a:spcBef>
                <a:spcPts val="0"/>
              </a:spcBef>
              <a:spcAft>
                <a:spcPts val="0"/>
              </a:spcAft>
              <a:buSzPct val="133333"/>
              <a:buNone/>
            </a:pPr>
            <a:r>
              <a:rPr lang="en-IN" sz="900" dirty="0"/>
              <a:t>import </a:t>
            </a:r>
            <a:r>
              <a:rPr lang="en-IN" sz="900" dirty="0" err="1"/>
              <a:t>numpy</a:t>
            </a:r>
            <a:r>
              <a:rPr lang="en-IN" sz="900" dirty="0"/>
              <a:t> as np</a:t>
            </a:r>
          </a:p>
          <a:p>
            <a:pPr marL="76200" lvl="0" indent="0" algn="just" rtl="0">
              <a:spcBef>
                <a:spcPts val="0"/>
              </a:spcBef>
              <a:spcAft>
                <a:spcPts val="0"/>
              </a:spcAft>
              <a:buSzPct val="133333"/>
              <a:buNone/>
            </a:pPr>
            <a:r>
              <a:rPr lang="en-IN" sz="900" dirty="0"/>
              <a:t>import pandas as pd</a:t>
            </a:r>
          </a:p>
          <a:p>
            <a:pPr marL="76200" lvl="0" indent="0" algn="just" rtl="0">
              <a:spcBef>
                <a:spcPts val="0"/>
              </a:spcBef>
              <a:spcAft>
                <a:spcPts val="0"/>
              </a:spcAft>
              <a:buSzPct val="133333"/>
              <a:buNone/>
            </a:pPr>
            <a:r>
              <a:rPr lang="en-IN" sz="900" dirty="0"/>
              <a:t>import </a:t>
            </a:r>
            <a:r>
              <a:rPr lang="en-IN" sz="900" dirty="0" err="1"/>
              <a:t>matplotlib.pyplot</a:t>
            </a:r>
            <a:r>
              <a:rPr lang="en-IN" sz="900" dirty="0"/>
              <a:t> as </a:t>
            </a:r>
            <a:r>
              <a:rPr lang="en-IN" sz="900" dirty="0" err="1"/>
              <a:t>plt</a:t>
            </a:r>
            <a:endParaRPr lang="en-IN" sz="900" dirty="0"/>
          </a:p>
          <a:p>
            <a:pPr marL="76200" lvl="0" indent="0" algn="just" rtl="0">
              <a:spcBef>
                <a:spcPts val="0"/>
              </a:spcBef>
              <a:spcAft>
                <a:spcPts val="0"/>
              </a:spcAft>
              <a:buSzPct val="133333"/>
              <a:buNone/>
            </a:pPr>
            <a:r>
              <a:rPr lang="en-IN" sz="900" dirty="0"/>
              <a:t>%matplotlib inline</a:t>
            </a:r>
          </a:p>
          <a:p>
            <a:pPr marL="76200" lvl="0" indent="0" algn="just" rtl="0">
              <a:spcBef>
                <a:spcPts val="0"/>
              </a:spcBef>
              <a:spcAft>
                <a:spcPts val="0"/>
              </a:spcAft>
              <a:buSzPct val="133333"/>
              <a:buNone/>
            </a:pPr>
            <a:r>
              <a:rPr lang="en-IN" sz="900" dirty="0" err="1"/>
              <a:t>plt.style.use</a:t>
            </a:r>
            <a:r>
              <a:rPr lang="en-IN" sz="900" dirty="0"/>
              <a:t>('seaborn')</a:t>
            </a:r>
          </a:p>
          <a:p>
            <a:pPr marL="76200" lvl="0" indent="0" algn="just" rtl="0">
              <a:spcBef>
                <a:spcPts val="0"/>
              </a:spcBef>
              <a:spcAft>
                <a:spcPts val="0"/>
              </a:spcAft>
              <a:buSzPct val="133333"/>
              <a:buNone/>
            </a:pPr>
            <a:r>
              <a:rPr lang="en-IN" sz="900" dirty="0"/>
              <a:t>import seaborn as </a:t>
            </a:r>
            <a:r>
              <a:rPr lang="en-IN" sz="900" dirty="0" err="1"/>
              <a:t>sns</a:t>
            </a:r>
            <a:endParaRPr lang="en-IN" sz="900" dirty="0"/>
          </a:p>
          <a:p>
            <a:pPr marL="76200" lvl="0" indent="0" algn="just" rtl="0">
              <a:spcBef>
                <a:spcPts val="0"/>
              </a:spcBef>
              <a:spcAft>
                <a:spcPts val="0"/>
              </a:spcAft>
              <a:buSzPct val="133333"/>
              <a:buNone/>
            </a:pPr>
            <a:endParaRPr lang="en-IN" sz="900" dirty="0"/>
          </a:p>
          <a:p>
            <a:pPr marL="76200" lvl="0" indent="0" algn="just" rtl="0">
              <a:spcBef>
                <a:spcPts val="0"/>
              </a:spcBef>
              <a:spcAft>
                <a:spcPts val="0"/>
              </a:spcAft>
              <a:buSzPct val="133333"/>
              <a:buNone/>
            </a:pPr>
            <a:r>
              <a:rPr lang="en-IN" sz="900" dirty="0"/>
              <a:t># import packages for image processing and management</a:t>
            </a:r>
          </a:p>
          <a:p>
            <a:pPr marL="76200" lvl="0" indent="0" algn="just" rtl="0">
              <a:spcBef>
                <a:spcPts val="0"/>
              </a:spcBef>
              <a:spcAft>
                <a:spcPts val="0"/>
              </a:spcAft>
              <a:buSzPct val="133333"/>
              <a:buNone/>
            </a:pPr>
            <a:r>
              <a:rPr lang="en-IN" sz="900" dirty="0"/>
              <a:t>import </a:t>
            </a:r>
            <a:r>
              <a:rPr lang="en-IN" sz="900" dirty="0" err="1"/>
              <a:t>pydicom</a:t>
            </a:r>
            <a:r>
              <a:rPr lang="en-IN" sz="900" dirty="0"/>
              <a:t> as </a:t>
            </a:r>
            <a:r>
              <a:rPr lang="en-IN" sz="900" dirty="0" err="1"/>
              <a:t>dicom</a:t>
            </a:r>
            <a:endParaRPr lang="en-IN" sz="900" dirty="0"/>
          </a:p>
          <a:p>
            <a:pPr marL="76200" lvl="0" indent="0" algn="just" rtl="0">
              <a:spcBef>
                <a:spcPts val="0"/>
              </a:spcBef>
              <a:spcAft>
                <a:spcPts val="0"/>
              </a:spcAft>
              <a:buSzPct val="133333"/>
              <a:buNone/>
            </a:pPr>
            <a:r>
              <a:rPr lang="en-IN" sz="900" dirty="0"/>
              <a:t>from random import </a:t>
            </a:r>
            <a:r>
              <a:rPr lang="en-IN" sz="900" dirty="0" err="1"/>
              <a:t>randint</a:t>
            </a:r>
            <a:endParaRPr lang="en-IN" sz="900" dirty="0"/>
          </a:p>
          <a:p>
            <a:pPr marL="76200" lvl="0" indent="0" algn="just" rtl="0">
              <a:spcBef>
                <a:spcPts val="0"/>
              </a:spcBef>
              <a:spcAft>
                <a:spcPts val="0"/>
              </a:spcAft>
              <a:buSzPct val="133333"/>
              <a:buNone/>
            </a:pPr>
            <a:r>
              <a:rPr lang="en-IN" sz="900" dirty="0"/>
              <a:t>import </a:t>
            </a:r>
            <a:r>
              <a:rPr lang="en-IN" sz="900" dirty="0" err="1"/>
              <a:t>os</a:t>
            </a:r>
            <a:r>
              <a:rPr lang="en-IN" sz="900" dirty="0"/>
              <a:t>, sys, time, </a:t>
            </a:r>
            <a:r>
              <a:rPr lang="en-IN" sz="900" dirty="0" err="1"/>
              <a:t>shutil</a:t>
            </a:r>
            <a:r>
              <a:rPr lang="en-IN" sz="900" dirty="0"/>
              <a:t>, </a:t>
            </a:r>
            <a:r>
              <a:rPr lang="en-IN" sz="900" dirty="0" err="1"/>
              <a:t>scipy</a:t>
            </a:r>
            <a:r>
              <a:rPr lang="en-IN" sz="900" dirty="0"/>
              <a:t>, cv2, </a:t>
            </a:r>
            <a:r>
              <a:rPr lang="en-IN" sz="900" dirty="0" err="1"/>
              <a:t>json</a:t>
            </a:r>
            <a:r>
              <a:rPr lang="en-IN" sz="900" dirty="0"/>
              <a:t>, datetime, </a:t>
            </a:r>
            <a:r>
              <a:rPr lang="en-IN" sz="900" dirty="0" err="1"/>
              <a:t>pydicom</a:t>
            </a:r>
            <a:endParaRPr lang="en-IN" sz="900" dirty="0"/>
          </a:p>
          <a:p>
            <a:pPr marL="76200" lvl="0" indent="0" algn="just" rtl="0">
              <a:spcBef>
                <a:spcPts val="0"/>
              </a:spcBef>
              <a:spcAft>
                <a:spcPts val="0"/>
              </a:spcAft>
              <a:buSzPct val="133333"/>
              <a:buNone/>
            </a:pPr>
            <a:r>
              <a:rPr lang="en-IN" sz="900" dirty="0"/>
              <a:t>from </a:t>
            </a:r>
            <a:r>
              <a:rPr lang="en-IN" sz="900" dirty="0" err="1"/>
              <a:t>tqdm.notebook</a:t>
            </a:r>
            <a:r>
              <a:rPr lang="en-IN" sz="900" dirty="0"/>
              <a:t> import </a:t>
            </a:r>
            <a:r>
              <a:rPr lang="en-IN" sz="900" dirty="0" err="1"/>
              <a:t>tqdm</a:t>
            </a:r>
            <a:endParaRPr lang="en-IN" sz="900" dirty="0"/>
          </a:p>
          <a:p>
            <a:pPr marL="76200" lvl="0" indent="0" algn="just" rtl="0">
              <a:spcBef>
                <a:spcPts val="0"/>
              </a:spcBef>
              <a:spcAft>
                <a:spcPts val="0"/>
              </a:spcAft>
              <a:buSzPct val="133333"/>
              <a:buNone/>
            </a:pPr>
            <a:r>
              <a:rPr lang="en-IN" sz="900" dirty="0"/>
              <a:t>from </a:t>
            </a:r>
            <a:r>
              <a:rPr lang="en-IN" sz="900" dirty="0" err="1"/>
              <a:t>skimage</a:t>
            </a:r>
            <a:r>
              <a:rPr lang="en-IN" sz="900" dirty="0"/>
              <a:t> import io</a:t>
            </a:r>
          </a:p>
          <a:p>
            <a:pPr marL="76200" lvl="0" indent="0" algn="just" rtl="0">
              <a:spcBef>
                <a:spcPts val="0"/>
              </a:spcBef>
              <a:spcAft>
                <a:spcPts val="0"/>
              </a:spcAft>
              <a:buSzPct val="133333"/>
              <a:buNone/>
            </a:pPr>
            <a:r>
              <a:rPr lang="en-IN" sz="900" dirty="0"/>
              <a:t>from glob import glob</a:t>
            </a:r>
          </a:p>
          <a:p>
            <a:pPr marL="76200" lvl="0" indent="0" algn="just" rtl="0">
              <a:spcBef>
                <a:spcPts val="0"/>
              </a:spcBef>
              <a:spcAft>
                <a:spcPts val="0"/>
              </a:spcAft>
              <a:buSzPct val="133333"/>
              <a:buNone/>
            </a:pPr>
            <a:r>
              <a:rPr lang="en-IN" sz="900" dirty="0"/>
              <a:t>import </a:t>
            </a:r>
            <a:r>
              <a:rPr lang="en-IN" sz="900" dirty="0" err="1"/>
              <a:t>albumentations</a:t>
            </a:r>
            <a:r>
              <a:rPr lang="en-IN" sz="900" dirty="0"/>
              <a:t> as A</a:t>
            </a:r>
          </a:p>
          <a:p>
            <a:pPr marL="76200" lvl="0" indent="0" algn="just" rtl="0">
              <a:spcBef>
                <a:spcPts val="0"/>
              </a:spcBef>
              <a:spcAft>
                <a:spcPts val="0"/>
              </a:spcAft>
              <a:buSzPct val="133333"/>
              <a:buNone/>
            </a:pPr>
            <a:r>
              <a:rPr lang="en-IN" sz="900" dirty="0"/>
              <a:t>from PIL import Image</a:t>
            </a:r>
          </a:p>
          <a:p>
            <a:pPr marL="76200" lvl="0" indent="0" algn="just" rtl="0">
              <a:spcBef>
                <a:spcPts val="0"/>
              </a:spcBef>
              <a:spcAft>
                <a:spcPts val="0"/>
              </a:spcAft>
              <a:buSzPct val="133333"/>
              <a:buNone/>
            </a:pPr>
            <a:r>
              <a:rPr lang="en-IN" sz="900" dirty="0"/>
              <a:t>from </a:t>
            </a:r>
            <a:r>
              <a:rPr lang="en-IN" sz="900" dirty="0" err="1"/>
              <a:t>skimage.color</a:t>
            </a:r>
            <a:r>
              <a:rPr lang="en-IN" sz="900" dirty="0"/>
              <a:t> import label2rgb</a:t>
            </a:r>
          </a:p>
          <a:p>
            <a:pPr marL="76200" lvl="0" indent="0" algn="just" rtl="0">
              <a:spcBef>
                <a:spcPts val="0"/>
              </a:spcBef>
              <a:spcAft>
                <a:spcPts val="0"/>
              </a:spcAft>
              <a:buSzPct val="133333"/>
              <a:buNone/>
            </a:pPr>
            <a:r>
              <a:rPr lang="en-IN" sz="900" dirty="0"/>
              <a:t>import random</a:t>
            </a:r>
          </a:p>
          <a:p>
            <a:pPr marL="76200" lvl="0" indent="0" algn="just" rtl="0">
              <a:spcBef>
                <a:spcPts val="0"/>
              </a:spcBef>
              <a:spcAft>
                <a:spcPts val="0"/>
              </a:spcAft>
              <a:buSzPct val="133333"/>
              <a:buNone/>
            </a:pPr>
            <a:endParaRPr lang="en-IN" sz="900" dirty="0"/>
          </a:p>
          <a:p>
            <a:pPr marL="76200" lvl="0" indent="0" algn="just" rtl="0">
              <a:spcBef>
                <a:spcPts val="0"/>
              </a:spcBef>
              <a:spcAft>
                <a:spcPts val="0"/>
              </a:spcAft>
              <a:buSzPct val="133333"/>
              <a:buNone/>
            </a:pPr>
            <a:r>
              <a:rPr lang="en-IN" sz="900" dirty="0"/>
              <a:t>import warnings</a:t>
            </a:r>
          </a:p>
          <a:p>
            <a:pPr marL="76200" lvl="0" indent="0" algn="just" rtl="0">
              <a:spcBef>
                <a:spcPts val="0"/>
              </a:spcBef>
              <a:spcAft>
                <a:spcPts val="0"/>
              </a:spcAft>
              <a:buSzPct val="133333"/>
              <a:buNone/>
            </a:pPr>
            <a:r>
              <a:rPr lang="en-IN" sz="900" dirty="0" err="1"/>
              <a:t>warnings.simplefilter</a:t>
            </a:r>
            <a:r>
              <a:rPr lang="en-IN" sz="900" dirty="0"/>
              <a:t>("ignore")</a:t>
            </a:r>
          </a:p>
          <a:p>
            <a:pPr marL="76200" lvl="0" indent="0" algn="just" rtl="0">
              <a:spcBef>
                <a:spcPts val="0"/>
              </a:spcBef>
              <a:spcAft>
                <a:spcPts val="0"/>
              </a:spcAft>
              <a:buSzPct val="133333"/>
              <a:buNone/>
            </a:pPr>
            <a:endParaRPr lang="en-IN" sz="900" dirty="0"/>
          </a:p>
          <a:p>
            <a:pPr marL="76200" lvl="0" indent="0" algn="just" rtl="0">
              <a:spcBef>
                <a:spcPts val="0"/>
              </a:spcBef>
              <a:spcAft>
                <a:spcPts val="0"/>
              </a:spcAft>
              <a:buSzPct val="133333"/>
              <a:buNone/>
            </a:pPr>
            <a:r>
              <a:rPr lang="en-IN" sz="900" dirty="0"/>
              <a:t># import packages for </a:t>
            </a:r>
            <a:r>
              <a:rPr lang="en-IN" sz="900" dirty="0" err="1"/>
              <a:t>modeling</a:t>
            </a:r>
            <a:endParaRPr lang="en-IN" sz="900" dirty="0"/>
          </a:p>
          <a:p>
            <a:pPr marL="76200" lvl="0" indent="0" algn="just" rtl="0">
              <a:spcBef>
                <a:spcPts val="0"/>
              </a:spcBef>
              <a:spcAft>
                <a:spcPts val="0"/>
              </a:spcAft>
              <a:buSzPct val="133333"/>
              <a:buNone/>
            </a:pPr>
            <a:r>
              <a:rPr lang="en-IN" sz="900" dirty="0"/>
              <a:t>import </a:t>
            </a:r>
            <a:r>
              <a:rPr lang="en-IN" sz="900" dirty="0" err="1"/>
              <a:t>tensorflow</a:t>
            </a:r>
            <a:r>
              <a:rPr lang="en-IN" sz="900" dirty="0"/>
              <a:t> as </a:t>
            </a:r>
            <a:r>
              <a:rPr lang="en-IN" sz="900" dirty="0" err="1"/>
              <a:t>tf</a:t>
            </a:r>
            <a:endParaRPr lang="en-IN" sz="900" dirty="0"/>
          </a:p>
          <a:p>
            <a:pPr marL="76200" lvl="0" indent="0" algn="just" rtl="0">
              <a:spcBef>
                <a:spcPts val="0"/>
              </a:spcBef>
              <a:spcAft>
                <a:spcPts val="0"/>
              </a:spcAft>
              <a:buSzPct val="133333"/>
              <a:buNone/>
            </a:pPr>
            <a:r>
              <a:rPr lang="en-IN" sz="900" dirty="0"/>
              <a:t>from </a:t>
            </a:r>
            <a:r>
              <a:rPr lang="en-IN" sz="900" dirty="0" err="1"/>
              <a:t>tensorflow.keras</a:t>
            </a:r>
            <a:r>
              <a:rPr lang="en-IN" sz="900" dirty="0"/>
              <a:t> import models, layers, </a:t>
            </a:r>
            <a:r>
              <a:rPr lang="en-IN" sz="900" dirty="0" err="1"/>
              <a:t>regularizers</a:t>
            </a:r>
            <a:r>
              <a:rPr lang="en-IN" sz="900" dirty="0"/>
              <a:t>, optimizers, Sequential, Model</a:t>
            </a:r>
          </a:p>
          <a:p>
            <a:pPr marL="76200" lvl="0" indent="0" algn="just" rtl="0">
              <a:spcBef>
                <a:spcPts val="0"/>
              </a:spcBef>
              <a:spcAft>
                <a:spcPts val="0"/>
              </a:spcAft>
              <a:buSzPct val="133333"/>
              <a:buNone/>
            </a:pPr>
            <a:r>
              <a:rPr lang="en-IN" sz="900" dirty="0"/>
              <a:t>from </a:t>
            </a:r>
            <a:r>
              <a:rPr lang="en-IN" sz="900" dirty="0" err="1"/>
              <a:t>tensorflow.keras.models</a:t>
            </a:r>
            <a:r>
              <a:rPr lang="en-IN" sz="900" dirty="0"/>
              <a:t> import </a:t>
            </a:r>
            <a:r>
              <a:rPr lang="en-IN" sz="900" dirty="0" err="1"/>
              <a:t>load_model</a:t>
            </a:r>
            <a:endParaRPr lang="en-IN" sz="900" dirty="0"/>
          </a:p>
          <a:p>
            <a:pPr marL="76200" lvl="0" indent="0" algn="just" rtl="0">
              <a:spcBef>
                <a:spcPts val="0"/>
              </a:spcBef>
              <a:spcAft>
                <a:spcPts val="0"/>
              </a:spcAft>
              <a:buSzPct val="133333"/>
              <a:buNone/>
            </a:pPr>
            <a:r>
              <a:rPr lang="en-IN" sz="900" dirty="0"/>
              <a:t>from </a:t>
            </a:r>
            <a:r>
              <a:rPr lang="en-IN" sz="900" dirty="0" err="1"/>
              <a:t>tensorflow.keras.layers</a:t>
            </a:r>
            <a:r>
              <a:rPr lang="en-IN" sz="900" dirty="0"/>
              <a:t> import Dense, Activation, Flatten, Dropout, </a:t>
            </a:r>
            <a:r>
              <a:rPr lang="en-IN" sz="900" dirty="0" err="1"/>
              <a:t>BatchNormalization</a:t>
            </a:r>
            <a:r>
              <a:rPr lang="en-IN" sz="900" dirty="0"/>
              <a:t>, Conv2D, MaxPooling2D</a:t>
            </a:r>
          </a:p>
          <a:p>
            <a:pPr marL="76200" lvl="0" indent="0" algn="just" rtl="0">
              <a:spcBef>
                <a:spcPts val="0"/>
              </a:spcBef>
              <a:spcAft>
                <a:spcPts val="0"/>
              </a:spcAft>
              <a:buSzPct val="133333"/>
              <a:buNone/>
            </a:pPr>
            <a:r>
              <a:rPr lang="en-IN" sz="900" dirty="0"/>
              <a:t>from </a:t>
            </a:r>
            <a:r>
              <a:rPr lang="en-IN" sz="900" dirty="0" err="1"/>
              <a:t>tensorflow.keras.preprocessing.image</a:t>
            </a:r>
            <a:r>
              <a:rPr lang="en-IN" sz="900" dirty="0"/>
              <a:t> import </a:t>
            </a:r>
            <a:r>
              <a:rPr lang="en-IN" sz="900" dirty="0" err="1"/>
              <a:t>ImageDataGenerator</a:t>
            </a:r>
            <a:endParaRPr lang="en-IN" sz="900" dirty="0"/>
          </a:p>
          <a:p>
            <a:pPr marL="76200" lvl="0" indent="0" algn="just" rtl="0">
              <a:spcBef>
                <a:spcPts val="0"/>
              </a:spcBef>
              <a:spcAft>
                <a:spcPts val="0"/>
              </a:spcAft>
              <a:buSzPct val="133333"/>
              <a:buNone/>
            </a:pPr>
            <a:r>
              <a:rPr lang="en-IN" sz="900" dirty="0"/>
              <a:t>from </a:t>
            </a:r>
            <a:r>
              <a:rPr lang="en-IN" sz="900" dirty="0" err="1"/>
              <a:t>tensorflow.keras.optimizers</a:t>
            </a:r>
            <a:r>
              <a:rPr lang="en-IN" sz="900" dirty="0"/>
              <a:t> import Adam</a:t>
            </a:r>
          </a:p>
          <a:p>
            <a:pPr marL="76200" lvl="0" indent="0" algn="just" rtl="0">
              <a:spcBef>
                <a:spcPts val="0"/>
              </a:spcBef>
              <a:spcAft>
                <a:spcPts val="0"/>
              </a:spcAft>
              <a:buSzPct val="133333"/>
              <a:buNone/>
            </a:pPr>
            <a:r>
              <a:rPr lang="en-IN" sz="900" dirty="0"/>
              <a:t>from </a:t>
            </a:r>
            <a:r>
              <a:rPr lang="en-IN" sz="900" dirty="0" err="1"/>
              <a:t>tensorflow.keras.callbacks</a:t>
            </a:r>
            <a:r>
              <a:rPr lang="en-IN" sz="900" dirty="0"/>
              <a:t> import </a:t>
            </a:r>
            <a:r>
              <a:rPr lang="en-IN" sz="900" dirty="0" err="1"/>
              <a:t>ModelCheckpoint</a:t>
            </a:r>
            <a:r>
              <a:rPr lang="en-IN" sz="900" dirty="0"/>
              <a:t>, </a:t>
            </a:r>
            <a:r>
              <a:rPr lang="en-IN" sz="900" dirty="0" err="1"/>
              <a:t>EarlyStopping</a:t>
            </a:r>
            <a:r>
              <a:rPr lang="en-IN" sz="900" dirty="0"/>
              <a:t>, </a:t>
            </a:r>
            <a:r>
              <a:rPr lang="en-IN" sz="900" dirty="0" err="1"/>
              <a:t>ReduceLROnPlateau</a:t>
            </a:r>
            <a:endParaRPr lang="en-IN" sz="900" dirty="0"/>
          </a:p>
          <a:p>
            <a:pPr marL="76200" lvl="0" indent="0" algn="just" rtl="0">
              <a:spcBef>
                <a:spcPts val="0"/>
              </a:spcBef>
              <a:spcAft>
                <a:spcPts val="0"/>
              </a:spcAft>
              <a:buSzPct val="133333"/>
              <a:buNone/>
            </a:pPr>
            <a:r>
              <a:rPr lang="en-IN" sz="900" dirty="0"/>
              <a:t>from tensorflow.keras.applications.vgg16 import VGG16</a:t>
            </a:r>
          </a:p>
          <a:p>
            <a:pPr marL="76200" lvl="0" indent="0" algn="just" rtl="0">
              <a:spcBef>
                <a:spcPts val="0"/>
              </a:spcBef>
              <a:spcAft>
                <a:spcPts val="0"/>
              </a:spcAft>
              <a:buSzPct val="133333"/>
              <a:buNone/>
            </a:pPr>
            <a:endParaRPr lang="en-IN" sz="900" dirty="0"/>
          </a:p>
          <a:p>
            <a:pPr marL="76200" lvl="0" indent="0" algn="just" rtl="0">
              <a:spcBef>
                <a:spcPts val="0"/>
              </a:spcBef>
              <a:spcAft>
                <a:spcPts val="0"/>
              </a:spcAft>
              <a:buSzPct val="133333"/>
              <a:buNone/>
            </a:pPr>
            <a:r>
              <a:rPr lang="en-IN" sz="900" dirty="0"/>
              <a:t>from </a:t>
            </a:r>
            <a:r>
              <a:rPr lang="en-IN" sz="900" dirty="0" err="1"/>
              <a:t>sklearn.model_selection</a:t>
            </a:r>
            <a:r>
              <a:rPr lang="en-IN" sz="900" dirty="0"/>
              <a:t> import </a:t>
            </a:r>
            <a:r>
              <a:rPr lang="en-IN" sz="900" dirty="0" err="1"/>
              <a:t>train_test_split</a:t>
            </a:r>
            <a:endParaRPr lang="en-IN" sz="900" dirty="0"/>
          </a:p>
          <a:p>
            <a:pPr marL="76200" lvl="0" indent="0" algn="just" rtl="0">
              <a:spcBef>
                <a:spcPts val="0"/>
              </a:spcBef>
              <a:spcAft>
                <a:spcPts val="0"/>
              </a:spcAft>
              <a:buSzPct val="133333"/>
              <a:buNone/>
            </a:pPr>
            <a:br>
              <a:rPr lang="en-IN" sz="900" dirty="0"/>
            </a:br>
            <a:br>
              <a:rPr lang="en-IN" sz="900" dirty="0"/>
            </a:br>
            <a:br>
              <a:rPr lang="en-IN" sz="900" dirty="0"/>
            </a:br>
            <a:br>
              <a:rPr lang="en-IN" sz="900" dirty="0"/>
            </a:br>
            <a:endParaRPr lang="en-US" sz="900" dirty="0"/>
          </a:p>
          <a:p>
            <a:pPr marL="76200" lvl="0" indent="0" algn="just" rtl="0">
              <a:spcBef>
                <a:spcPts val="0"/>
              </a:spcBef>
              <a:spcAft>
                <a:spcPts val="0"/>
              </a:spcAft>
              <a:buSzPct val="133333"/>
              <a:buNone/>
            </a:pPr>
            <a:r>
              <a:rPr lang="en-US" sz="900" dirty="0"/>
              <a:t># import functions from utils.py</a:t>
            </a:r>
          </a:p>
          <a:p>
            <a:pPr marL="76200" lvl="0" indent="0" algn="just" rtl="0">
              <a:spcBef>
                <a:spcPts val="0"/>
              </a:spcBef>
              <a:spcAft>
                <a:spcPts val="0"/>
              </a:spcAft>
              <a:buSzPct val="133333"/>
              <a:buNone/>
            </a:pPr>
            <a:r>
              <a:rPr lang="en-US" sz="900" dirty="0"/>
              <a:t>%</a:t>
            </a:r>
            <a:r>
              <a:rPr lang="en-US" sz="900" dirty="0" err="1"/>
              <a:t>reload_ext</a:t>
            </a:r>
            <a:r>
              <a:rPr lang="en-US" sz="900" dirty="0"/>
              <a:t> </a:t>
            </a:r>
            <a:r>
              <a:rPr lang="en-US" sz="900" dirty="0" err="1"/>
              <a:t>autoreload</a:t>
            </a:r>
            <a:endParaRPr lang="en-US" sz="900" dirty="0"/>
          </a:p>
          <a:p>
            <a:pPr marL="76200" lvl="0" indent="0" algn="just" rtl="0">
              <a:spcBef>
                <a:spcPts val="0"/>
              </a:spcBef>
              <a:spcAft>
                <a:spcPts val="0"/>
              </a:spcAft>
              <a:buSzPct val="133333"/>
              <a:buNone/>
            </a:pPr>
            <a:r>
              <a:rPr lang="en-US" sz="900" dirty="0"/>
              <a:t>%</a:t>
            </a:r>
            <a:r>
              <a:rPr lang="en-US" sz="900" dirty="0" err="1"/>
              <a:t>autoreload</a:t>
            </a:r>
            <a:r>
              <a:rPr lang="en-US" sz="900" dirty="0"/>
              <a:t> 2</a:t>
            </a:r>
          </a:p>
          <a:p>
            <a:pPr marL="76200" lvl="0" indent="0" algn="just" rtl="0">
              <a:spcBef>
                <a:spcPts val="0"/>
              </a:spcBef>
              <a:spcAft>
                <a:spcPts val="0"/>
              </a:spcAft>
              <a:buSzPct val="133333"/>
              <a:buNone/>
            </a:pPr>
            <a:r>
              <a:rPr lang="en-US" sz="900" dirty="0"/>
              <a:t>from utils import *</a:t>
            </a:r>
            <a:endParaRPr lang="en-IN"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Important Code segments</a:t>
            </a:r>
            <a:endParaRPr/>
          </a:p>
        </p:txBody>
      </p:sp>
      <p:sp>
        <p:nvSpPr>
          <p:cNvPr id="228" name="Google Shape;228;p35"/>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create visualization for target variable distribution</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def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barplot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df</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title):</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plt.figure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figsize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(7,5))</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sns.countplot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(x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data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df</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plt.title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(title,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total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len</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df.target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for p in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ax.patches</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percentage = '{:.1f}%'.format(100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p.get_height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()/total)</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x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p.get_x</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p.get_width</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2 - 0.05</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y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p.get_y</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p.get_height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ax.annotate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(percentage, (x, y), size = 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plt.show</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endParaRPr lang="en-IN" sz="105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00"/>
              </a:spcBef>
              <a:spcAft>
                <a:spcPts val="0"/>
              </a:spcAft>
              <a:buNone/>
            </a:pP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barplot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(train20, 'target', 'count', 'Distribution of Target Variable’)</a:t>
            </a:r>
          </a:p>
          <a:p>
            <a:pPr marL="342900" lvl="0" indent="-342900" algn="just" rtl="0">
              <a:spcBef>
                <a:spcPts val="300"/>
              </a:spcBef>
              <a:spcAft>
                <a:spcPts val="0"/>
              </a:spcAft>
              <a:buNone/>
            </a:pPr>
            <a:endParaRPr lang="en-IN" sz="105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00"/>
              </a:spcBef>
              <a:spcAft>
                <a:spcPts val="0"/>
              </a:spcAft>
              <a:buNone/>
            </a:pPr>
            <a:endParaRPr lang="en-IN" sz="105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display difference in gender distribution of melanoma vs. non-melanoma patients</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def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twoplot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(data1, data2,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title1, title2):</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plt.style.use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ggplot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f, (ax1, ax2)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plt.subplots</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(1, 2,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figsize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=(12, 4))</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sns.countplot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(x=</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data=data1,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=ax1)</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b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sns.countplot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(x=</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data=data2,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=ax2)</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ax1.set_title(title1,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ax2.set_title(title2,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ax1.set_xlabel(</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size=16)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ax1.set_ylabel(</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size=16)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ax2.set_xlabel(</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size=16)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ax2.set_ylabel(</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size=16)</a:t>
            </a:r>
          </a:p>
          <a:p>
            <a:pPr marL="342900" lvl="0" indent="-342900" algn="just" rtl="0">
              <a:spcBef>
                <a:spcPts val="300"/>
              </a:spcBef>
              <a:spcAft>
                <a:spcPts val="0"/>
              </a:spcAft>
              <a:buNone/>
            </a:pPr>
            <a:endParaRPr lang="en-IN" sz="105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00"/>
              </a:spcBef>
              <a:spcAft>
                <a:spcPts val="0"/>
              </a:spcAft>
              <a:buNone/>
            </a:pP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twoplot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(train[</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train.target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0], train[</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train.target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1], 'gender', 'count', "Gender Distribution of Non-Melanoma Patients", "Gender Distribution of Melanoma Patients")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Important Code segments</a:t>
            </a:r>
            <a:endParaRPr/>
          </a:p>
        </p:txBody>
      </p:sp>
      <p:sp>
        <p:nvSpPr>
          <p:cNvPr id="234" name="Google Shape;234;p36"/>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display distribution of age for non-melanoma vs. melanoma patients</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f, (ax1, ax2) =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plt.subplots</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(1, 2,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figsize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=(12, 4))</a:t>
            </a:r>
          </a:p>
          <a:p>
            <a:pPr marL="342900" lvl="0" indent="-342900" algn="just" rtl="0">
              <a:spcBef>
                <a:spcPts val="320"/>
              </a:spcBef>
              <a:spcAft>
                <a:spcPts val="0"/>
              </a:spcAft>
              <a:buNone/>
            </a:pP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sns.histplot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(x='age', data=train[</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train.target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 0],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kde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=True,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color</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dodgerblue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a:t>
            </a:r>
          </a:p>
          <a:p>
            <a:pPr marL="342900" lvl="0" indent="-342900" algn="just" rtl="0">
              <a:spcBef>
                <a:spcPts val="320"/>
              </a:spcBef>
              <a:spcAft>
                <a:spcPts val="0"/>
              </a:spcAft>
              <a:buNone/>
            </a:pP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sns.histplot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(x='age', data=train[</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train.target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 1],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kde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=True,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color</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='tomato',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ax1.set_title("Age Distribution of Non-Melanoma Patients",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ax2.set_title("Age Distribution of Melanoma Patients",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ax1.set_xlabel('Age', size=16)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ax1.set_ylabel('Count', size=16)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ax2.set_xlabel('Age', size=16)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ax2.set_ylabel('Count', size=16)</a:t>
            </a:r>
          </a:p>
          <a:p>
            <a:pPr marL="342900" lvl="0" indent="-342900" algn="just" rtl="0">
              <a:spcBef>
                <a:spcPts val="320"/>
              </a:spcBef>
              <a:spcAft>
                <a:spcPts val="0"/>
              </a:spcAft>
              <a:buNone/>
            </a:pPr>
            <a:endParaRPr lang="en-IN" sz="120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20"/>
              </a:spcBef>
              <a:spcAft>
                <a:spcPts val="0"/>
              </a:spcAft>
              <a:buNone/>
            </a:pPr>
            <a:endParaRPr lang="en-IN" sz="120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display distribution of age between training and testing datasets</a:t>
            </a:r>
          </a:p>
          <a:p>
            <a:pPr marL="342900" lvl="0" indent="-342900" algn="just" rtl="0">
              <a:spcBef>
                <a:spcPts val="320"/>
              </a:spcBef>
              <a:spcAft>
                <a:spcPts val="0"/>
              </a:spcAft>
              <a:buNone/>
            </a:pP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test.age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 test[~</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test.age.isna</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age.astype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(int)</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f, (ax1, ax2) =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plt.subplots</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(1, 2,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figsize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=(12, 4))</a:t>
            </a:r>
          </a:p>
          <a:p>
            <a:pPr marL="342900" lvl="0" indent="-342900" algn="just" rtl="0">
              <a:spcBef>
                <a:spcPts val="320"/>
              </a:spcBef>
              <a:spcAft>
                <a:spcPts val="0"/>
              </a:spcAft>
              <a:buNone/>
            </a:pP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sns.histplot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(x='age', data=train,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kde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=True,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color</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dodgerblue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a:t>
            </a:r>
          </a:p>
          <a:p>
            <a:pPr marL="342900" lvl="0" indent="-342900" algn="just" rtl="0">
              <a:spcBef>
                <a:spcPts val="320"/>
              </a:spcBef>
              <a:spcAft>
                <a:spcPts val="0"/>
              </a:spcAft>
              <a:buNone/>
            </a:pP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sns.histplot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(x='age', data=test[~</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test.age.isna</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kde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=True,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color</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='tomato',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ax1.set_title("Age Distribution of Training Set",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ax2.set_title("Age Distribution of Testing Set",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Output</a:t>
            </a:r>
            <a:endParaRPr/>
          </a:p>
        </p:txBody>
      </p:sp>
      <p:sp>
        <p:nvSpPr>
          <p:cNvPr id="247" name="Google Shape;247;p38"/>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3200"/>
              <a:buChar char="•"/>
            </a:pPr>
            <a:r>
              <a:rPr lang="en-US" sz="2200" b="1" dirty="0">
                <a:latin typeface="Times New Roman"/>
                <a:ea typeface="Times New Roman"/>
                <a:cs typeface="Times New Roman"/>
                <a:sym typeface="Times New Roman"/>
              </a:rPr>
              <a:t>OUTPUT</a:t>
            </a:r>
            <a:r>
              <a:rPr lang="en-US" sz="22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342900" lvl="0" indent="-342900" algn="just" rtl="0">
              <a:spcBef>
                <a:spcPts val="0"/>
              </a:spcBef>
              <a:spcAft>
                <a:spcPts val="0"/>
              </a:spcAft>
              <a:buSzPts val="3200"/>
              <a:buChar char="•"/>
            </a:pPr>
            <a:r>
              <a:rPr lang="en-US" sz="2200" dirty="0">
                <a:latin typeface="Times New Roman"/>
                <a:ea typeface="Times New Roman"/>
                <a:cs typeface="Times New Roman"/>
                <a:sym typeface="Times New Roman"/>
              </a:rPr>
              <a:t>After localhost number in browser the home page looks like :</a:t>
            </a:r>
          </a:p>
          <a:p>
            <a:pPr marL="0" lvl="0" indent="0" algn="just" rtl="0">
              <a:spcBef>
                <a:spcPts val="0"/>
              </a:spcBef>
              <a:spcAft>
                <a:spcPts val="0"/>
              </a:spcAft>
              <a:buSzPts val="3200"/>
              <a:buNone/>
            </a:pPr>
            <a:endParaRPr sz="2400" dirty="0">
              <a:latin typeface="Times New Roman"/>
              <a:ea typeface="Times New Roman"/>
              <a:cs typeface="Times New Roman"/>
              <a:sym typeface="Times New Roman"/>
            </a:endParaRPr>
          </a:p>
          <a:p>
            <a:pPr marL="342900" lvl="0" indent="-266700" algn="just" rtl="0">
              <a:spcBef>
                <a:spcPts val="407"/>
              </a:spcBef>
              <a:spcAft>
                <a:spcPts val="0"/>
              </a:spcAft>
              <a:buSzPts val="2000"/>
              <a:buFont typeface="Times New Roman"/>
              <a:buChar char="•"/>
            </a:pPr>
            <a:endParaRPr sz="2000" dirty="0">
              <a:latin typeface="Times New Roman"/>
              <a:ea typeface="Times New Roman"/>
              <a:cs typeface="Times New Roman"/>
              <a:sym typeface="Times New Roman"/>
            </a:endParaRPr>
          </a:p>
          <a:p>
            <a:pPr marL="342900" lvl="0" indent="-279400" algn="just" rtl="0">
              <a:spcBef>
                <a:spcPts val="407"/>
              </a:spcBef>
              <a:spcAft>
                <a:spcPts val="0"/>
              </a:spcAft>
              <a:buSzPts val="2200"/>
              <a:buFont typeface="Times New Roman"/>
              <a:buChar char="•"/>
            </a:pPr>
            <a:endParaRPr sz="2200"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2953A9A-C92E-FDD0-F8DC-C94C637241F6}"/>
              </a:ext>
            </a:extLst>
          </p:cNvPr>
          <p:cNvPicPr>
            <a:picLocks noChangeAspect="1"/>
          </p:cNvPicPr>
          <p:nvPr/>
        </p:nvPicPr>
        <p:blipFill>
          <a:blip r:embed="rId3"/>
          <a:stretch>
            <a:fillRect/>
          </a:stretch>
        </p:blipFill>
        <p:spPr>
          <a:xfrm>
            <a:off x="540742" y="2032591"/>
            <a:ext cx="7986315" cy="421580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7"/>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Output</a:t>
            </a:r>
            <a:endParaRPr/>
          </a:p>
        </p:txBody>
      </p:sp>
      <p:sp>
        <p:nvSpPr>
          <p:cNvPr id="240" name="Google Shape;240;p37"/>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3200"/>
              <a:buChar char="•"/>
            </a:pPr>
            <a:r>
              <a:rPr lang="en-US" sz="2200" b="1" dirty="0">
                <a:latin typeface="Times New Roman"/>
                <a:ea typeface="Times New Roman"/>
                <a:cs typeface="Times New Roman"/>
                <a:sym typeface="Times New Roman"/>
              </a:rPr>
              <a:t>OUTPUT</a:t>
            </a:r>
            <a:r>
              <a:rPr lang="en-US" sz="22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342900" lvl="0" indent="-342900" algn="just" rtl="0">
              <a:spcBef>
                <a:spcPts val="407"/>
              </a:spcBef>
              <a:spcAft>
                <a:spcPts val="0"/>
              </a:spcAft>
              <a:buSzPts val="3200"/>
              <a:buChar char="•"/>
            </a:pPr>
            <a:r>
              <a:rPr lang="en-US" sz="2200" dirty="0">
                <a:latin typeface="Times New Roman"/>
                <a:ea typeface="Times New Roman"/>
                <a:cs typeface="Times New Roman"/>
                <a:sym typeface="Times New Roman"/>
              </a:rPr>
              <a:t>After browsing for our website, the following page will be shown first. The user needs to upload the image of the skin which is affected by disease.</a:t>
            </a:r>
          </a:p>
          <a:p>
            <a:pPr marL="342900" lvl="0" indent="-342900" algn="just" rtl="0">
              <a:spcBef>
                <a:spcPts val="407"/>
              </a:spcBef>
              <a:spcAft>
                <a:spcPts val="0"/>
              </a:spcAft>
              <a:buSzPts val="3200"/>
              <a:buChar char="•"/>
            </a:pPr>
            <a:endParaRPr lang="en-US" sz="2200" dirty="0">
              <a:latin typeface="Times New Roman"/>
              <a:ea typeface="Times New Roman"/>
              <a:cs typeface="Times New Roman"/>
              <a:sym typeface="Times New Roman"/>
            </a:endParaRPr>
          </a:p>
          <a:p>
            <a:pPr marL="342900" lvl="0" indent="-342900" algn="just" rtl="0">
              <a:spcBef>
                <a:spcPts val="407"/>
              </a:spcBef>
              <a:spcAft>
                <a:spcPts val="0"/>
              </a:spcAft>
              <a:buSzPts val="3200"/>
              <a:buChar char="•"/>
            </a:pPr>
            <a:endParaRPr lang="en-US" sz="2200" dirty="0">
              <a:latin typeface="Times New Roman"/>
              <a:ea typeface="Times New Roman"/>
              <a:cs typeface="Times New Roman"/>
              <a:sym typeface="Times New Roman"/>
            </a:endParaRPr>
          </a:p>
          <a:p>
            <a:pPr marL="342900" lvl="0" indent="-342900" algn="just" rtl="0">
              <a:spcBef>
                <a:spcPts val="407"/>
              </a:spcBef>
              <a:spcAft>
                <a:spcPts val="0"/>
              </a:spcAft>
              <a:buSzPts val="3200"/>
              <a:buChar char="•"/>
            </a:pPr>
            <a:endParaRPr sz="2200" dirty="0">
              <a:latin typeface="Times New Roman"/>
              <a:ea typeface="Times New Roman"/>
              <a:cs typeface="Times New Roman"/>
              <a:sym typeface="Times New Roman"/>
            </a:endParaRPr>
          </a:p>
          <a:p>
            <a:pPr marL="342900" lvl="0" indent="-279400" algn="just" rtl="0">
              <a:spcBef>
                <a:spcPts val="407"/>
              </a:spcBef>
              <a:spcAft>
                <a:spcPts val="0"/>
              </a:spcAft>
              <a:buSzPts val="2200"/>
              <a:buFont typeface="Times New Roman"/>
              <a:buChar char="•"/>
            </a:pPr>
            <a:endParaRPr sz="2200"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BB1C6-4EE0-8899-05C8-01403BE1C20E}"/>
              </a:ext>
            </a:extLst>
          </p:cNvPr>
          <p:cNvPicPr>
            <a:picLocks noChangeAspect="1"/>
          </p:cNvPicPr>
          <p:nvPr/>
        </p:nvPicPr>
        <p:blipFill>
          <a:blip r:embed="rId3"/>
          <a:stretch>
            <a:fillRect/>
          </a:stretch>
        </p:blipFill>
        <p:spPr>
          <a:xfrm>
            <a:off x="711120" y="2479040"/>
            <a:ext cx="7721760" cy="410432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1"/>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Test Cases</a:t>
            </a:r>
            <a:endParaRPr/>
          </a:p>
        </p:txBody>
      </p:sp>
      <p:sp>
        <p:nvSpPr>
          <p:cNvPr id="271" name="Google Shape;271;p41"/>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3200"/>
              <a:buChar char="•"/>
            </a:pPr>
            <a:r>
              <a:rPr lang="en-US" sz="2200" b="1">
                <a:latin typeface="Times New Roman"/>
                <a:ea typeface="Times New Roman"/>
                <a:cs typeface="Times New Roman"/>
                <a:sym typeface="Times New Roman"/>
              </a:rPr>
              <a:t>Test Cases</a:t>
            </a:r>
            <a:endParaRPr sz="2200">
              <a:latin typeface="Times New Roman"/>
              <a:ea typeface="Times New Roman"/>
              <a:cs typeface="Times New Roman"/>
              <a:sym typeface="Times New Roman"/>
            </a:endParaRPr>
          </a:p>
        </p:txBody>
      </p:sp>
      <p:graphicFrame>
        <p:nvGraphicFramePr>
          <p:cNvPr id="272" name="Google Shape;272;p41"/>
          <p:cNvGraphicFramePr/>
          <p:nvPr>
            <p:extLst>
              <p:ext uri="{D42A27DB-BD31-4B8C-83A1-F6EECF244321}">
                <p14:modId xmlns:p14="http://schemas.microsoft.com/office/powerpoint/2010/main" val="2905551287"/>
              </p:ext>
            </p:extLst>
          </p:nvPr>
        </p:nvGraphicFramePr>
        <p:xfrm>
          <a:off x="304800" y="1435847"/>
          <a:ext cx="8610599" cy="5147515"/>
        </p:xfrm>
        <a:graphic>
          <a:graphicData uri="http://schemas.openxmlformats.org/drawingml/2006/table">
            <a:tbl>
              <a:tblPr>
                <a:noFill/>
                <a:tableStyleId>{98376BE2-5878-43F6-A2E4-6D553025AAE3}</a:tableStyleId>
              </a:tblPr>
              <a:tblGrid>
                <a:gridCol w="767565">
                  <a:extLst>
                    <a:ext uri="{9D8B030D-6E8A-4147-A177-3AD203B41FA5}">
                      <a16:colId xmlns:a16="http://schemas.microsoft.com/office/drawing/2014/main" val="20000"/>
                    </a:ext>
                  </a:extLst>
                </a:gridCol>
                <a:gridCol w="2232891">
                  <a:extLst>
                    <a:ext uri="{9D8B030D-6E8A-4147-A177-3AD203B41FA5}">
                      <a16:colId xmlns:a16="http://schemas.microsoft.com/office/drawing/2014/main" val="20001"/>
                    </a:ext>
                  </a:extLst>
                </a:gridCol>
                <a:gridCol w="1730486">
                  <a:extLst>
                    <a:ext uri="{9D8B030D-6E8A-4147-A177-3AD203B41FA5}">
                      <a16:colId xmlns:a16="http://schemas.microsoft.com/office/drawing/2014/main" val="20002"/>
                    </a:ext>
                  </a:extLst>
                </a:gridCol>
                <a:gridCol w="1246312">
                  <a:extLst>
                    <a:ext uri="{9D8B030D-6E8A-4147-A177-3AD203B41FA5}">
                      <a16:colId xmlns:a16="http://schemas.microsoft.com/office/drawing/2014/main" val="20003"/>
                    </a:ext>
                  </a:extLst>
                </a:gridCol>
                <a:gridCol w="1209879">
                  <a:extLst>
                    <a:ext uri="{9D8B030D-6E8A-4147-A177-3AD203B41FA5}">
                      <a16:colId xmlns:a16="http://schemas.microsoft.com/office/drawing/2014/main" val="20004"/>
                    </a:ext>
                  </a:extLst>
                </a:gridCol>
                <a:gridCol w="1423466">
                  <a:extLst>
                    <a:ext uri="{9D8B030D-6E8A-4147-A177-3AD203B41FA5}">
                      <a16:colId xmlns:a16="http://schemas.microsoft.com/office/drawing/2014/main" val="20005"/>
                    </a:ext>
                  </a:extLst>
                </a:gridCol>
              </a:tblGrid>
              <a:tr h="420910">
                <a:tc>
                  <a:txBody>
                    <a:bodyPr/>
                    <a:lstStyle/>
                    <a:p>
                      <a:pPr marL="0" marR="0" lvl="0" indent="0" algn="l" rtl="0">
                        <a:spcBef>
                          <a:spcPts val="0"/>
                        </a:spcBef>
                        <a:spcAft>
                          <a:spcPts val="0"/>
                        </a:spcAft>
                        <a:buNone/>
                      </a:pPr>
                      <a:r>
                        <a:rPr lang="en-US" sz="900" u="none" strike="noStrike" cap="none"/>
                        <a:t>S.NO</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spcBef>
                          <a:spcPts val="0"/>
                        </a:spcBef>
                        <a:spcAft>
                          <a:spcPts val="0"/>
                        </a:spcAft>
                        <a:buNone/>
                      </a:pPr>
                      <a:r>
                        <a:rPr lang="en-US" sz="900" u="none" strike="noStrike" cap="none"/>
                        <a:t>Action</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900" u="none" strike="noStrike" cap="none"/>
                        <a:t>Input</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900" u="none" strike="noStrike" cap="none"/>
                        <a:t>Expected output</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900" u="none" strike="noStrike" cap="none"/>
                        <a:t>Actual output</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900" u="none" strike="noStrike" cap="none"/>
                        <a:t>Test Result</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226809">
                <a:tc>
                  <a:txBody>
                    <a:bodyPr/>
                    <a:lstStyle/>
                    <a:p>
                      <a:pPr marL="0" marR="0" lvl="0" indent="0" algn="l" rtl="0">
                        <a:spcBef>
                          <a:spcPts val="0"/>
                        </a:spcBef>
                        <a:spcAft>
                          <a:spcPts val="0"/>
                        </a:spcAft>
                        <a:buNone/>
                      </a:pPr>
                      <a:r>
                        <a:rPr lang="en-US" sz="900"/>
                        <a:t>1</a:t>
                      </a:r>
                      <a:endParaRPr sz="900"/>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Test Case 1: Enter the localhost number in the browser</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Input: Home page is displayed in the browser</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Home page loaded successfully</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Displaying the home page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Result: Pass</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53510">
                <a:tc>
                  <a:txBody>
                    <a:bodyPr/>
                    <a:lstStyle/>
                    <a:p>
                      <a:pPr marL="0" marR="0" lvl="0" indent="0" algn="l" rtl="0">
                        <a:spcBef>
                          <a:spcPts val="0"/>
                        </a:spcBef>
                        <a:spcAft>
                          <a:spcPts val="0"/>
                        </a:spcAft>
                        <a:buNone/>
                      </a:pPr>
                      <a:r>
                        <a:rPr lang="en-US" sz="900"/>
                        <a:t>2</a:t>
                      </a:r>
                      <a:endParaRPr sz="900"/>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Test Case 2: Upload image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Input: Image of the skin (the part of the disease)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Expected Output: Successfully uploaded the image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Actual Output: Image Uploaded</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Result: Pass</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30187">
                <a:tc>
                  <a:txBody>
                    <a:bodyPr/>
                    <a:lstStyle/>
                    <a:p>
                      <a:pPr marL="0" marR="0" lvl="0" indent="0" algn="l" rtl="0">
                        <a:spcBef>
                          <a:spcPts val="0"/>
                        </a:spcBef>
                        <a:spcAft>
                          <a:spcPts val="0"/>
                        </a:spcAft>
                        <a:buNone/>
                      </a:pPr>
                      <a:r>
                        <a:rPr lang="en-US" sz="900"/>
                        <a:t>3</a:t>
                      </a:r>
                      <a:endParaRPr sz="900"/>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15000"/>
                        </a:lnSpc>
                        <a:spcBef>
                          <a:spcPts val="1200"/>
                        </a:spcBef>
                        <a:spcAft>
                          <a:spcPts val="0"/>
                        </a:spcAft>
                        <a:buNone/>
                      </a:pPr>
                      <a:r>
                        <a:rPr lang="en-US" sz="900" dirty="0"/>
                        <a:t>Test Case 3: Submit</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Input: model.d5</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Expected Output: Image is uploaded successfully, and process the image to identify the disease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Actual Output: Process the image form the trained dataset</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Result: Pass</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316099">
                <a:tc>
                  <a:txBody>
                    <a:bodyPr/>
                    <a:lstStyle/>
                    <a:p>
                      <a:pPr marL="0" marR="0" lvl="0" indent="0" algn="l" rtl="0">
                        <a:spcBef>
                          <a:spcPts val="0"/>
                        </a:spcBef>
                        <a:spcAft>
                          <a:spcPts val="0"/>
                        </a:spcAft>
                        <a:buNone/>
                      </a:pPr>
                      <a:r>
                        <a:rPr lang="en-US" sz="900"/>
                        <a:t>4</a:t>
                      </a:r>
                      <a:endParaRPr sz="900"/>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Test Case 4: Prediction Result Display</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Input: Uploaded skin image.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Expected Output: Model processes the image, and the prediction result is displayed on the user’s dashboard.</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Actual Output: Result is displayed after prediction.</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Result: Pass</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3"/>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Results</a:t>
            </a:r>
            <a:endParaRPr/>
          </a:p>
        </p:txBody>
      </p:sp>
      <p:sp>
        <p:nvSpPr>
          <p:cNvPr id="285" name="Google Shape;285;p43"/>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58140" algn="l" rtl="0">
              <a:spcBef>
                <a:spcPts val="0"/>
              </a:spcBef>
              <a:spcAft>
                <a:spcPts val="0"/>
              </a:spcAft>
              <a:buClr>
                <a:schemeClr val="dk1"/>
              </a:buClr>
              <a:buSzPts val="3200"/>
              <a:buChar char="•"/>
            </a:pPr>
            <a:r>
              <a:rPr lang="en-US" dirty="0"/>
              <a:t>Machine learning</a:t>
            </a:r>
            <a:endParaRPr dirty="0"/>
          </a:p>
          <a:p>
            <a:pPr marL="443865" lvl="1" indent="0" algn="l" rtl="0">
              <a:spcBef>
                <a:spcPts val="518"/>
              </a:spcBef>
              <a:spcAft>
                <a:spcPts val="0"/>
              </a:spcAft>
              <a:buSzPts val="2800"/>
              <a:buNone/>
            </a:pPr>
            <a:endParaRPr dirty="0"/>
          </a:p>
        </p:txBody>
      </p:sp>
      <p:pic>
        <p:nvPicPr>
          <p:cNvPr id="3" name="Picture 2">
            <a:extLst>
              <a:ext uri="{FF2B5EF4-FFF2-40B4-BE49-F238E27FC236}">
                <a16:creationId xmlns:a16="http://schemas.microsoft.com/office/drawing/2014/main" id="{BEA28C48-9323-55DD-0CB4-55FA1BC75C82}"/>
              </a:ext>
            </a:extLst>
          </p:cNvPr>
          <p:cNvPicPr>
            <a:picLocks noChangeAspect="1"/>
          </p:cNvPicPr>
          <p:nvPr/>
        </p:nvPicPr>
        <p:blipFill>
          <a:blip r:embed="rId3"/>
          <a:stretch>
            <a:fillRect/>
          </a:stretch>
        </p:blipFill>
        <p:spPr>
          <a:xfrm>
            <a:off x="0" y="1585569"/>
            <a:ext cx="9105900" cy="517215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3D0977-9971-1B3A-C153-984ECB518EA8}"/>
              </a:ext>
            </a:extLst>
          </p:cNvPr>
          <p:cNvSpPr txBox="1"/>
          <p:nvPr/>
        </p:nvSpPr>
        <p:spPr>
          <a:xfrm>
            <a:off x="2592593" y="329582"/>
            <a:ext cx="3958814" cy="523220"/>
          </a:xfrm>
          <a:prstGeom prst="rect">
            <a:avLst/>
          </a:prstGeom>
          <a:noFill/>
        </p:spPr>
        <p:txBody>
          <a:bodyPr wrap="square" rtlCol="0">
            <a:spAutoFit/>
          </a:bodyPr>
          <a:lstStyle/>
          <a:p>
            <a:r>
              <a:rPr lang="en-US" sz="2800" b="1" dirty="0"/>
              <a:t>SDG Goal Mapping</a:t>
            </a:r>
          </a:p>
        </p:txBody>
      </p:sp>
      <p:sp>
        <p:nvSpPr>
          <p:cNvPr id="3" name="TextBox 2">
            <a:extLst>
              <a:ext uri="{FF2B5EF4-FFF2-40B4-BE49-F238E27FC236}">
                <a16:creationId xmlns:a16="http://schemas.microsoft.com/office/drawing/2014/main" id="{1B202E3E-948A-88B9-0013-2A27E6DF442C}"/>
              </a:ext>
            </a:extLst>
          </p:cNvPr>
          <p:cNvSpPr txBox="1"/>
          <p:nvPr/>
        </p:nvSpPr>
        <p:spPr>
          <a:xfrm>
            <a:off x="473336" y="1204856"/>
            <a:ext cx="8122024" cy="2308324"/>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Our project focuses on leveraging machine learning and Flask to detect melanoma, a severe skin cancer. This initiative aligns with key Sustainable Development Goals (SDGs) to promote good health, innovation, and sustainable development.</a:t>
            </a: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8" name="Rectangle 4">
            <a:extLst>
              <a:ext uri="{FF2B5EF4-FFF2-40B4-BE49-F238E27FC236}">
                <a16:creationId xmlns:a16="http://schemas.microsoft.com/office/drawing/2014/main" id="{84A7B6FA-E421-8669-8B99-B0CD89CB2F01}"/>
              </a:ext>
            </a:extLst>
          </p:cNvPr>
          <p:cNvSpPr>
            <a:spLocks noChangeArrowheads="1"/>
          </p:cNvSpPr>
          <p:nvPr/>
        </p:nvSpPr>
        <p:spPr bwMode="auto">
          <a:xfrm rot="10800000" flipV="1">
            <a:off x="473335" y="2913977"/>
            <a:ext cx="819732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Requirement: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Early detection of melanoma to save lives and improve health outcomes.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Scope: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Using AI-powered tools to identify melanoma accurately and promote early diagnosis.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Impact: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Reducing mortality rates and enabling timely interventions in skin cancer cases. </a:t>
            </a:r>
          </a:p>
        </p:txBody>
      </p:sp>
    </p:spTree>
    <p:extLst>
      <p:ext uri="{BB962C8B-B14F-4D97-AF65-F5344CB8AC3E}">
        <p14:creationId xmlns:p14="http://schemas.microsoft.com/office/powerpoint/2010/main" val="2138929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2"/>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Conclusion</a:t>
            </a:r>
            <a:endParaRPr/>
          </a:p>
        </p:txBody>
      </p:sp>
      <p:sp>
        <p:nvSpPr>
          <p:cNvPr id="206" name="Google Shape;206;p32"/>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17500" algn="l" rtl="0">
              <a:lnSpc>
                <a:spcPct val="100000"/>
              </a:lnSpc>
              <a:spcBef>
                <a:spcPts val="518"/>
              </a:spcBef>
              <a:spcAft>
                <a:spcPts val="0"/>
              </a:spcAft>
              <a:buClr>
                <a:schemeClr val="dk1"/>
              </a:buClr>
              <a:buSzPts val="2800"/>
              <a:buChar char="•"/>
            </a:pPr>
            <a:r>
              <a:rPr lang="en-US" sz="2600" dirty="0"/>
              <a:t>Melanoma detection using machine learning, especially Convolutional Neural Networks (CNNs), shows great promise for improving diagnostic accuracy and efficiency. By incorporating transfer learning and data augmentation, the project can address challenges like data imbalance and small datasets. Ensemble learning further boosts performance by combining multiple algorithms. The development of a real-time detection app will make early melanoma screening more accessible and efficient. This project has the potential to enhance patient outcomes, reduce healthcare costs, and provide a scalable solution for early skin cancer detection.</a:t>
            </a:r>
            <a:endParaRPr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5"/>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Future Work</a:t>
            </a:r>
            <a:endParaRPr/>
          </a:p>
        </p:txBody>
      </p:sp>
      <p:sp>
        <p:nvSpPr>
          <p:cNvPr id="298" name="Google Shape;298;p45"/>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266700" algn="just" rtl="0">
              <a:spcBef>
                <a:spcPts val="400"/>
              </a:spcBef>
              <a:spcAft>
                <a:spcPts val="0"/>
              </a:spcAft>
              <a:buSzPts val="2000"/>
              <a:buFont typeface="Noto Sans Symbols"/>
              <a:buChar char="•"/>
            </a:pPr>
            <a:r>
              <a:rPr lang="en-US" sz="2800" dirty="0"/>
              <a:t>Incorporate multi-class classification for detecting various skin diseases.</a:t>
            </a:r>
          </a:p>
          <a:p>
            <a:pPr marL="342900" lvl="0" indent="-266700" algn="just" rtl="0">
              <a:spcBef>
                <a:spcPts val="400"/>
              </a:spcBef>
              <a:spcAft>
                <a:spcPts val="0"/>
              </a:spcAft>
              <a:buSzPts val="2000"/>
              <a:buFont typeface="Noto Sans Symbols"/>
              <a:buChar char="•"/>
            </a:pPr>
            <a:r>
              <a:rPr lang="en-US" sz="2800" dirty="0"/>
              <a:t>Develop a mobile application to reach more users.</a:t>
            </a:r>
            <a:endParaRPr sz="2800" dirty="0"/>
          </a:p>
          <a:p>
            <a:pPr marL="342900" lvl="0" indent="-279400" algn="just" rtl="0">
              <a:spcBef>
                <a:spcPts val="0"/>
              </a:spcBef>
              <a:spcAft>
                <a:spcPts val="0"/>
              </a:spcAft>
              <a:buSzPts val="2200"/>
              <a:buChar char="•"/>
            </a:pPr>
            <a:r>
              <a:rPr lang="en-US" sz="2800" dirty="0"/>
              <a:t>Collaborate with healthcare providers for real-world testing.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3"/>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References</a:t>
            </a:r>
            <a:endParaRPr/>
          </a:p>
        </p:txBody>
      </p:sp>
      <p:sp>
        <p:nvSpPr>
          <p:cNvPr id="212" name="Google Shape;212;p33"/>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12420" algn="l" rtl="0">
              <a:lnSpc>
                <a:spcPct val="100000"/>
              </a:lnSpc>
              <a:spcBef>
                <a:spcPts val="0"/>
              </a:spcBef>
              <a:spcAft>
                <a:spcPts val="0"/>
              </a:spcAft>
              <a:buClr>
                <a:schemeClr val="dk1"/>
              </a:buClr>
              <a:buSzPct val="100000"/>
              <a:buChar char="•"/>
            </a:pPr>
            <a:r>
              <a:rPr lang="en-US" sz="2800" u="sng" dirty="0">
                <a:solidFill>
                  <a:schemeClr val="hlink"/>
                </a:solidFill>
                <a:hlinkClick r:id="rId3"/>
              </a:rPr>
              <a:t>https://en.wikipedia.org/wiki/Melanoma</a:t>
            </a:r>
            <a:endParaRPr lang="en-US" sz="2800" u="sng" dirty="0">
              <a:solidFill>
                <a:schemeClr val="hlink"/>
              </a:solidFill>
            </a:endParaRPr>
          </a:p>
          <a:p>
            <a:pPr marL="342900" lvl="0" indent="-312420" algn="l" rtl="0">
              <a:lnSpc>
                <a:spcPct val="100000"/>
              </a:lnSpc>
              <a:spcBef>
                <a:spcPts val="0"/>
              </a:spcBef>
              <a:spcAft>
                <a:spcPts val="0"/>
              </a:spcAft>
              <a:buClr>
                <a:schemeClr val="dk1"/>
              </a:buClr>
              <a:buSzPct val="100000"/>
              <a:buChar char="•"/>
            </a:pPr>
            <a:r>
              <a:rPr lang="en-US" sz="2800" u="sng" dirty="0">
                <a:solidFill>
                  <a:schemeClr val="hlink"/>
                </a:solidFill>
              </a:rPr>
              <a:t>https://iopscience.iop.org/article/10.1088/1757-899X/1065/1/012039</a:t>
            </a:r>
          </a:p>
          <a:p>
            <a:pPr marL="342900" lvl="0" indent="-312420" algn="l" rtl="0">
              <a:lnSpc>
                <a:spcPct val="100000"/>
              </a:lnSpc>
              <a:spcBef>
                <a:spcPts val="0"/>
              </a:spcBef>
              <a:spcAft>
                <a:spcPts val="0"/>
              </a:spcAft>
              <a:buClr>
                <a:schemeClr val="dk1"/>
              </a:buClr>
              <a:buSzPct val="100000"/>
              <a:buChar char="•"/>
            </a:pPr>
            <a:r>
              <a:rPr lang="en-US" sz="2800" u="sng" dirty="0">
                <a:solidFill>
                  <a:schemeClr val="hlink"/>
                </a:solidFill>
              </a:rPr>
              <a:t>https://www.ncbi.nlm.nih.gov/pmc/articles/PMC9777935/</a:t>
            </a:r>
          </a:p>
          <a:p>
            <a:pPr marL="30480" lvl="0" indent="0" algn="l" rtl="0">
              <a:lnSpc>
                <a:spcPct val="100000"/>
              </a:lnSpc>
              <a:spcBef>
                <a:spcPts val="0"/>
              </a:spcBef>
              <a:spcAft>
                <a:spcPts val="0"/>
              </a:spcAft>
              <a:buClr>
                <a:schemeClr val="dk1"/>
              </a:buClr>
              <a:buSzPct val="100000"/>
              <a:buNone/>
            </a:pPr>
            <a:endParaRPr lang="en-US" b="1" u="sng" dirty="0">
              <a:solidFill>
                <a:schemeClr val="hlink"/>
              </a:solidFill>
            </a:endParaRPr>
          </a:p>
          <a:p>
            <a:pPr marL="30480" lvl="0" indent="0" algn="l" rtl="0">
              <a:lnSpc>
                <a:spcPct val="100000"/>
              </a:lnSpc>
              <a:spcBef>
                <a:spcPts val="0"/>
              </a:spcBef>
              <a:spcAft>
                <a:spcPts val="0"/>
              </a:spcAft>
              <a:buClr>
                <a:schemeClr val="dk1"/>
              </a:buClr>
              <a:buSzPct val="100000"/>
              <a:buNone/>
            </a:pPr>
            <a:r>
              <a:rPr lang="en-US" b="1" u="sng" dirty="0"/>
              <a:t>Book Reference: </a:t>
            </a:r>
            <a:endParaRPr dirty="0"/>
          </a:p>
          <a:p>
            <a:pPr marL="342900" lvl="0" indent="-312420" algn="l" rtl="0">
              <a:lnSpc>
                <a:spcPct val="100000"/>
              </a:lnSpc>
              <a:spcBef>
                <a:spcPts val="640"/>
              </a:spcBef>
              <a:spcAft>
                <a:spcPts val="0"/>
              </a:spcAft>
              <a:buClr>
                <a:schemeClr val="dk1"/>
              </a:buClr>
              <a:buSzPct val="100000"/>
              <a:buChar char="•"/>
            </a:pPr>
            <a:r>
              <a:rPr lang="en-US" sz="2800" dirty="0"/>
              <a:t>"Deep Learning for Medical Image </a:t>
            </a:r>
            <a:r>
              <a:rPr lang="en-US" sz="2800" dirty="0" err="1"/>
              <a:t>Analysis"Authors</a:t>
            </a:r>
            <a:r>
              <a:rPr lang="en-US" sz="2800" dirty="0"/>
              <a:t>: Geert </a:t>
            </a:r>
            <a:r>
              <a:rPr lang="en-US" sz="2800" dirty="0" err="1"/>
              <a:t>Litjens</a:t>
            </a:r>
            <a:r>
              <a:rPr lang="en-US" sz="2800" dirty="0"/>
              <a:t>, Thijs </a:t>
            </a:r>
            <a:r>
              <a:rPr lang="en-US" sz="2800" dirty="0" err="1"/>
              <a:t>Kooi</a:t>
            </a:r>
            <a:r>
              <a:rPr lang="en-US" sz="2800" dirty="0"/>
              <a:t>, Babak </a:t>
            </a:r>
            <a:r>
              <a:rPr lang="en-US" sz="2800" dirty="0" err="1"/>
              <a:t>Bejnordi</a:t>
            </a:r>
            <a:r>
              <a:rPr lang="en-US" sz="2800" dirty="0"/>
              <a:t>, et al. </a:t>
            </a:r>
          </a:p>
          <a:p>
            <a:pPr marL="342900" lvl="0" indent="-312420" algn="l" rtl="0">
              <a:lnSpc>
                <a:spcPct val="100000"/>
              </a:lnSpc>
              <a:spcBef>
                <a:spcPts val="640"/>
              </a:spcBef>
              <a:spcAft>
                <a:spcPts val="0"/>
              </a:spcAft>
              <a:buClr>
                <a:schemeClr val="dk1"/>
              </a:buClr>
              <a:buSzPct val="100000"/>
              <a:buChar char="•"/>
            </a:pPr>
            <a:r>
              <a:rPr lang="en-US" sz="2800" dirty="0"/>
              <a:t>"Skin Cancer: Recognition and </a:t>
            </a:r>
            <a:r>
              <a:rPr lang="en-US" sz="2800" dirty="0" err="1"/>
              <a:t>Management"Authors</a:t>
            </a:r>
            <a:r>
              <a:rPr lang="en-US" sz="2800" dirty="0"/>
              <a:t>: Steven Q. Wang</a:t>
            </a:r>
            <a:endParaRPr sz="2800" b="1" u="sng"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7"/>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Questions</a:t>
            </a:r>
            <a:endParaRPr/>
          </a:p>
        </p:txBody>
      </p:sp>
      <p:pic>
        <p:nvPicPr>
          <p:cNvPr id="310" name="Google Shape;310;p47"/>
          <p:cNvPicPr preferRelativeResize="0"/>
          <p:nvPr/>
        </p:nvPicPr>
        <p:blipFill>
          <a:blip r:embed="rId3">
            <a:alphaModFix/>
          </a:blip>
          <a:stretch>
            <a:fillRect/>
          </a:stretch>
        </p:blipFill>
        <p:spPr>
          <a:xfrm>
            <a:off x="2532925" y="2292525"/>
            <a:ext cx="3753125" cy="24884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pic>
        <p:nvPicPr>
          <p:cNvPr id="315" name="Google Shape;315;p48"/>
          <p:cNvPicPr preferRelativeResize="0"/>
          <p:nvPr/>
        </p:nvPicPr>
        <p:blipFill rotWithShape="1">
          <a:blip r:embed="rId3">
            <a:alphaModFix/>
          </a:blip>
          <a:srcRect/>
          <a:stretch/>
        </p:blipFill>
        <p:spPr>
          <a:xfrm>
            <a:off x="0" y="0"/>
            <a:ext cx="9144001" cy="6858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TotalTime>
  <Words>2164</Words>
  <Application>Microsoft Office PowerPoint</Application>
  <PresentationFormat>On-screen Show (4:3)</PresentationFormat>
  <Paragraphs>275</Paragraphs>
  <Slides>28</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Noto Sans Symbols</vt:lpstr>
      <vt:lpstr>Times New Roman</vt:lpstr>
      <vt:lpstr>Office Theme</vt:lpstr>
      <vt:lpstr>PowerPoint Presentation</vt:lpstr>
      <vt:lpstr>Agenda</vt:lpstr>
      <vt:lpstr>Introduction</vt:lpstr>
      <vt:lpstr>Statement of the Problem</vt:lpstr>
      <vt:lpstr>Scope of the project</vt:lpstr>
      <vt:lpstr>Scope of the project</vt:lpstr>
      <vt:lpstr>Scope of the project</vt:lpstr>
      <vt:lpstr>Methodology</vt:lpstr>
      <vt:lpstr>Methodology</vt:lpstr>
      <vt:lpstr>Architecture Diagram/Flow</vt:lpstr>
      <vt:lpstr>Design-Use Case Diagram</vt:lpstr>
      <vt:lpstr>Design-Class Diagram</vt:lpstr>
      <vt:lpstr>Sequence Diagram</vt:lpstr>
      <vt:lpstr>Algorithms used</vt:lpstr>
      <vt:lpstr>Implementation</vt:lpstr>
      <vt:lpstr>Important Code segments</vt:lpstr>
      <vt:lpstr>Important Code segments</vt:lpstr>
      <vt:lpstr>Important Code segments</vt:lpstr>
      <vt:lpstr>Output</vt:lpstr>
      <vt:lpstr>Output</vt:lpstr>
      <vt:lpstr>Test Cases</vt:lpstr>
      <vt:lpstr>Results</vt:lpstr>
      <vt:lpstr>PowerPoint Presentation</vt:lpstr>
      <vt:lpstr>Conclusion</vt:lpstr>
      <vt:lpstr>Future Work</vt:lpstr>
      <vt:lpstr>References</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naveen m</cp:lastModifiedBy>
  <cp:revision>33</cp:revision>
  <dcterms:modified xsi:type="dcterms:W3CDTF">2024-12-21T04:41:01Z</dcterms:modified>
</cp:coreProperties>
</file>